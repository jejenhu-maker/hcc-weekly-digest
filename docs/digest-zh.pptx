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doi.org/10.1016/j.cell.2026.03.001" TargetMode="External"/><Relationship Id="rId2" Type="http://schemas.openxmlformats.org/officeDocument/2006/relationships/hyperlink" Target="https://doi.org/10.1016/j.cell.2026.03.001"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i.org/10.1158/1078-0432.CCR-25-4779" TargetMode="External"/><Relationship Id="rId2" Type="http://schemas.openxmlformats.org/officeDocument/2006/relationships/hyperlink" Target="https://doi.org/10.1158/1078-0432.CCR-25-4779"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i.org/10.1097/HEP.0000000000001731" TargetMode="External"/><Relationship Id="rId2" Type="http://schemas.openxmlformats.org/officeDocument/2006/relationships/hyperlink" Target="https://doi.org/10.1097/HEP.0000000000001731"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oi.org/10.1158/0008-5472.CAN-25-0346" TargetMode="External"/><Relationship Id="rId2" Type="http://schemas.openxmlformats.org/officeDocument/2006/relationships/hyperlink" Target="https://doi.org/10.1158/0008-5472.CAN-25-0346"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oi.org/10.1002/advs.202521418" TargetMode="External"/><Relationship Id="rId2" Type="http://schemas.openxmlformats.org/officeDocument/2006/relationships/hyperlink" Target="https://doi.org/10.1002/advs.202521418"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073/pnas.2427192123" TargetMode="External"/><Relationship Id="rId2" Type="http://schemas.openxmlformats.org/officeDocument/2006/relationships/hyperlink" Target="https://doi.org/10.1073/pnas.2427192123"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pmc.ncbi.nlm.nih.gov/articles/PMC12939993/" TargetMode="External"/><Relationship Id="rId2" Type="http://schemas.openxmlformats.org/officeDocument/2006/relationships/hyperlink" Target="https://pmc.ncbi.nlm.nih.gov/articles/PMC12939993/"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nature.com/articles/s41392-025-02498-z" TargetMode="External"/><Relationship Id="rId2" Type="http://schemas.openxmlformats.org/officeDocument/2006/relationships/hyperlink" Target="https://www.nature.com/articles/s41392-025-02498-z"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2169/internalmedicine.6021-25" TargetMode="External"/><Relationship Id="rId2" Type="http://schemas.openxmlformats.org/officeDocument/2006/relationships/hyperlink" Target="https://doi.org/10.2169/internalmedicine.6021-25"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ascopubs.org/doi/abs/10.1200/JCO.2026.44.2_suppl.547" TargetMode="External"/><Relationship Id="rId2" Type="http://schemas.openxmlformats.org/officeDocument/2006/relationships/hyperlink" Target="https://ascopubs.org/doi/abs/10.1200/JCO.2026.44.2_suppl.547"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30000"/>
              </a:lnSpc>
              <a:buNone/>
            </a:pPr>
            <a:r>
              <a:rPr lang="en-US" sz="4400" b="1" dirty="0">
                <a:solidFill>
                  <a:srgbClr val="FFFFFF"/>
                </a:solidFill>
                <a:latin typeface="Arial" pitchFamily="34" charset="0"/>
                <a:ea typeface="Arial" pitchFamily="34" charset="-122"/>
                <a:cs typeface="Arial" pitchFamily="34" charset="-120"/>
              </a:rPr>
              <a:t>HCC Weekly Digest</a:t>
            </a:r>
            <a:endParaRPr lang="en-US" sz="4400" dirty="0"/>
          </a:p>
          <a:p>
            <a:pPr indent="0" marL="0">
              <a:lnSpc>
                <a:spcPct val="130000"/>
              </a:lnSpc>
              <a:buNone/>
            </a:pPr>
            <a:r>
              <a:rPr lang="en-US" sz="1800" dirty="0">
                <a:solidFill>
                  <a:srgbClr val="FCA5A5"/>
                </a:solidFill>
                <a:latin typeface="Microsoft JhengHei" pitchFamily="34" charset="0"/>
                <a:ea typeface="Microsoft JhengHei" pitchFamily="34" charset="-122"/>
                <a:cs typeface="Microsoft JhengHei" pitchFamily="34" charset="-120"/>
              </a:rPr>
              <a:t>肝膽腸胃內科 — 肝癌免疫治療與局部消融</a:t>
            </a:r>
            <a:endParaRPr lang="en-US" sz="4400" dirty="0"/>
          </a:p>
          <a:p>
            <a:pPr indent="0" marL="0">
              <a:lnSpc>
                <a:spcPct val="130000"/>
              </a:lnSpc>
              <a:buNone/>
            </a:pPr>
            <a:r>
              <a:rPr lang="en-US" sz="2000" dirty="0">
                <a:solidFill>
                  <a:srgbClr val="FFFFFF"/>
                </a:solidFill>
                <a:latin typeface="Microsoft JhengHei" pitchFamily="34" charset="0"/>
                <a:ea typeface="Microsoft JhengHei" pitchFamily="34" charset="-122"/>
                <a:cs typeface="Microsoft JhengHei" pitchFamily="34" charset="-120"/>
              </a:rPr>
              <a:t>呂大教授 敬啟</a:t>
            </a:r>
            <a:endParaRPr lang="en-US" sz="44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2026-04-12 — 2026-04-19</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DC2626"/>
                </a:solidFill>
              </a:rPr>
              <a:t>10 篇精選論文</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目錄</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Hallmarks of liver cancer: Therapeutic implications.</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Neoadjuvant stereotactic body radiation therapy plus immune therapy favorably re…</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Erratum: Hepatectomy alters adjuvant anti-PD-1 action in a mouse model of HCC bu…</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Intratumoral Lactobacillus johnsonii Enhances Sensitivity to PD-1 Blockade by In…</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Cancer-Associated Fibroblasts Promote Tumor Immunosuppression in Hepatocellular …</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Selective depletion of virus-specific CD8 T cells from the liver after PD-1 ther…</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Immunotherapy in Hepatocellular Carcinoma with Portal Vein Tumour Thrombosis: Fr…</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 plus transarterial chemoembolization and PD-1 inhibitors as conversion therapi…</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The Efficacy and Safety of Atezolizumab Plus Bevacizumab after Durvalumab Plus T…</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Radiotherapy versus local ablation therapy for the treatment of hepatocellular c…</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Hallmarks of liver cancer: Therapeutic implications.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Cell  ·  IF 45.5  ·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癌症特徵指導肝癌理解。</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HCC展現獨特免疫逃逸特徵。</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免疫治療改善晚期HCC預後。</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iCCA具有獨特基因變異。</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精準醫療惠及iCCA患者。</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Llovet Josep M, Pinyol Roser, Affo Silvia et al.. Cell. 2026-04-17 DOI: 10.1016/j.cell.2026.03.001</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Neoadjuvant stereotactic body radiation therapy plus immune therapy favorably remodels the hepatocellular carcinoma tumor microenvironment.</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Clinical cancer research : an official journal of the American Association for Cancer Research  ·  IF 11.5  ·  Prospective Study</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測試新輔助SBRT加免疫療法</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進行8名患者的初步研究</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安全性端點：低級別3-4不良事件</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所有切除患者無復發</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觀察到增強抗癌免疫浸潤</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Cosner Zoe, Guo Zhoubo, Nawrocki Cole et al.. Clinical cancer research : an official journal of the American Association for Cancer Research. 2026-04-15 DOI: 10.1158/1078-0432.CCR-25-4779</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Erratum: Hepatectomy alters adjuvant anti-PD-1 action in a mouse model of HCC but does not compromise neoadjuvant efficacy.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Hepatology (Baltimore, Md.)  ·  IF 12.9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肝切除影響抗PD-1療法</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使用小鼠模型進行研究</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新輔助療效保持不變</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Bouguerra Roqiya, El Hajji Sofia, Wassmer Charles-Henri et al.. Hepatology (Baltimore, Md.). 2026-04-16 DOI: 10.1097/HEP.0000000000001731</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Intratumoral Lactobacillus johnsonii Enhances Sensitivity to PD-1 Blockade by Inducing CD8+ T-cell Expansion in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research  ·  IF 12.7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Lactobacillus johnsonii 增強 CD8+ T 細胞擴增。</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高 Lactobacillus 與無復發生存相關。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Nicotinic acid 促進 T 細胞 NF-κB 活化。</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聯合療法有效減少腫瘤復發。</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CD8+ T 細胞對抗腫瘤療效至關重要。</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Liu Qianshi, Liu Yiqiang, Zhou Yue et al.. Cancer research. 2026-04-15 DOI: 10.1158/0008-5472.CAN-25-0346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Cancer-Associated Fibroblasts Promote Tumor Immunosuppression in Hepatocellular Carcinoma via the NNMT-ANGPTL4 Axis.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Advanced science (Weinheim, Baden-Wurttemberg, Germany)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CAFs 驅動 HCC 免疫抑制。</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NNMT 調控 ANGPTL4 分泌。</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ANGPTL4 增強 PD-L1 免疫逃逸。</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靶向 NNMT-ANGPTL4 恢復 T 細胞活性。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HCC 免疫治療的新策略。</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Lu Shounan, Ke Shanjia, Yu Hongjun et al.. Advanced science (Weinheim, Baden-Wurttemberg, Germany). 2026-04-14 DOI: 10.1002/advs.202521418</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Selective depletion of virus-specific CD8 T cells from the liver after PD-1 therapy with Fc-intact antibody during chronic infection.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Proceedings of the National Academy of Sciences of the United States of America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Fc區域影響PD-1療法效果。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觀察到PD-1+ CD8 T細胞耗竭。</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FcγR III介導T細胞耗竭。</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吞噬細胞是主要效應細胞。</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研究影響肝癌治療策略。</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Hashimoto Masao, Nasti Tahseen H, Jin Hyun-Tak et al.. Proceedings of the National Academy of Sciences of the United States of America. 2026-04-08 DOI: 10.1073/pnas.2427192123</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Immunotherapy in Hepatocellular Carcinoma with Portal Vein Tumour Thrombosis: From Poor Prognosis to Curative-Intent Strategies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針對PVTT的HCC II期研究</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HAIC聯合lenvatinib和PD-1</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療效優於標準治療</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專注於治癒性策略</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治療模式可能改變</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 Marzi, R Sacco, L Siciliani.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 plus transarterial chemoembolization and PD-1 inhibitors as conversion therapies for unresectable intermediate-advanced hepatocellular carcinoma: a phase 2 trial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 and Targeted Therapy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針對不可切除的HCC的組合療法</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經動脈化療栓塞與PD-1抑制劑</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第二期試驗結果顯示療效</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 Zhang, H Cai, W Peng. … and Targeted Therapy.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Efficacy and Safety of Atezolizumab Plus Bevacizumab after Durvalumab Plus Tremelimumab for the Treatment of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Internal medicine (Tokyo, Japan)  ·  Retrospective Study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Atez+Bev 在 Dur+Tre 後有效</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客觀反應率為 25.0%</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不良事件在兩組不同</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Uchikawa Shinsuke, Kawaoka Tomokazu, Tanaka Aiko et al.. Internal medicine (Tokyo, Japan). 2026-04-16 DOI: 10.2169/internalmedicine.6021-25</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Radiotherapy versus local ablation therapy for the treatment of hepatocellular carcinoma: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Clinical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放射治療與局部消融比較</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針對肝細胞癌治療</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分析局部無進展生存期</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包含射頻與微波消融</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進行系統性回顧與統合分析</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SH Bae, SH Choi, SM Yoon. Journal of Clinical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**免疫治療的潛力**  </a:t>
            </a:r>
            <a:endParaRPr lang="en-US" sz="1200" dirty="0"/>
          </a:p>
          <a:p>
            <a:pPr indent="0" marL="0">
              <a:lnSpc>
                <a:spcPct val="150000"/>
              </a:lnSpc>
              <a:buNone/>
            </a:pPr>
            <a:r>
              <a:rPr lang="en-US" sz="1200" dirty="0">
                <a:solidFill>
                  <a:srgbClr val="FFFFFF"/>
                </a:solidFill>
              </a:rPr>
              <a:t>   The integration of immune therapy with traditional treatments, such as surgical resection and local ablation, shows promise in enhancing patient outcomes in hepatocellular carcinoma (HCC).  </a:t>
            </a:r>
            <a:endParaRPr lang="en-US" sz="1200" dirty="0"/>
          </a:p>
          <a:p>
            <a:pPr indent="0" marL="0">
              <a:lnSpc>
                <a:spcPct val="150000"/>
              </a:lnSpc>
              <a:buNone/>
            </a:pPr>
            <a:r>
              <a:rPr lang="en-US" sz="1200" dirty="0">
                <a:solidFill>
                  <a:srgbClr val="FFFFFF"/>
                </a:solidFill>
              </a:rPr>
              <a:t>   免疫治療與傳統療法（如手術切除和局部消融）的結合顯示出改善肝細胞癌（HCC）患者預後的潛力。</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**腫瘤微環境的重塑**  </a:t>
            </a:r>
            <a:endParaRPr lang="en-US" sz="1200" dirty="0"/>
          </a:p>
          <a:p>
            <a:pPr indent="0" marL="0">
              <a:lnSpc>
                <a:spcPct val="150000"/>
              </a:lnSpc>
              <a:buNone/>
            </a:pPr>
            <a:r>
              <a:rPr lang="en-US" sz="1200" dirty="0">
                <a:solidFill>
                  <a:srgbClr val="FFFFFF"/>
                </a:solidFill>
              </a:rPr>
              <a:t>   Neoadjuvant therapies that remodel the tumor microenvironment can significantly improve the efficacy of subsequent immune treatments, suggesting a need for early intervention strategies.  </a:t>
            </a:r>
            <a:endParaRPr lang="en-US" sz="1200" dirty="0"/>
          </a:p>
          <a:p>
            <a:pPr indent="0" marL="0">
              <a:lnSpc>
                <a:spcPct val="150000"/>
              </a:lnSpc>
              <a:buNone/>
            </a:pPr>
            <a:r>
              <a:rPr lang="en-US" sz="1200" dirty="0">
                <a:solidFill>
                  <a:srgbClr val="FFFFFF"/>
                </a:solidFill>
              </a:rPr>
              <a:t>   重塑腫瘤微環境的術前療法可以顯著提高隨後免疫治療的療效，這表明需要早期介入策略。</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**癌症相關成纖維細胞的角色**  </a:t>
            </a:r>
            <a:endParaRPr lang="en-US" sz="1200" dirty="0"/>
          </a:p>
          <a:p>
            <a:pPr indent="0" marL="0">
              <a:lnSpc>
                <a:spcPct val="150000"/>
              </a:lnSpc>
              <a:buNone/>
            </a:pPr>
            <a:r>
              <a:rPr lang="en-US" sz="1200" dirty="0">
                <a:solidFill>
                  <a:srgbClr val="FFFFFF"/>
                </a:solidFill>
              </a:rPr>
              <a:t>   Cancer-associated fibroblasts (CAFs) play a crucial role in promoting immunosuppression in HCC, highlighting the importance of targeting these cells to enhance immune responses.  </a:t>
            </a:r>
            <a:endParaRPr lang="en-US" sz="1200" dirty="0"/>
          </a:p>
          <a:p>
            <a:pPr indent="0" marL="0">
              <a:lnSpc>
                <a:spcPct val="150000"/>
              </a:lnSpc>
              <a:buNone/>
            </a:pPr>
            <a:r>
              <a:rPr lang="en-US" sz="1200" dirty="0">
                <a:solidFill>
                  <a:srgbClr val="FFFFFF"/>
                </a:solidFill>
              </a:rPr>
              <a:t>   癌症相關成纖維細胞（CAFs）在促進HCC中的免疫抑制方面扮演著關鍵角色，強調了針對這些細胞以增強免疫反應的重要性。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**病毒特異性T細胞的耗竭**  </a:t>
            </a:r>
            <a:endParaRPr lang="en-US" sz="1200" dirty="0"/>
          </a:p>
          <a:p>
            <a:pPr indent="0" marL="0">
              <a:lnSpc>
                <a:spcPct val="150000"/>
              </a:lnSpc>
              <a:buNone/>
            </a:pPr>
            <a:r>
              <a:rPr lang="en-US" sz="1200" dirty="0">
                <a:solidFill>
                  <a:srgbClr val="FFFFFF"/>
                </a:solidFill>
              </a:rPr>
              <a:t>   The selective depletion of virus-specific CD8 T cells during PD-1 therapy underscores the complexity of immune responses in chronic infections and their implications for HCC treatment.  </a:t>
            </a:r>
            <a:endParaRPr lang="en-US" sz="1200" dirty="0"/>
          </a:p>
          <a:p>
            <a:pPr indent="0" marL="0">
              <a:lnSpc>
                <a:spcPct val="150000"/>
              </a:lnSpc>
              <a:buNone/>
            </a:pPr>
            <a:r>
              <a:rPr lang="en-US" sz="1200" dirty="0">
                <a:solidFill>
                  <a:srgbClr val="FFFFFF"/>
                </a:solidFill>
              </a:rPr>
              <a:t>   在PD-1治療過程中病毒特異性CD8 T細胞的選擇性耗竭突顯了慢性感染中免疫反應的複雜性及其對HCC治療的影響。</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**多模式療法的必要性**  </a:t>
            </a:r>
            <a:endParaRPr lang="en-US" sz="1200" dirty="0"/>
          </a:p>
          <a:p>
            <a:pPr indent="0" marL="0">
              <a:lnSpc>
                <a:spcPct val="150000"/>
              </a:lnSpc>
              <a:buNone/>
            </a:pPr>
            <a:r>
              <a:rPr lang="en-US" sz="1200" dirty="0">
                <a:solidFill>
                  <a:srgbClr val="FFFFFF"/>
                </a:solidFill>
              </a:rPr>
              <a:t>   The combination of various treatment modalities, such as transarterial chemoembolization (TACE) with immune inhibitors, indicates a shift towards more comprehensive treatment approaches for unresectable HCC.</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將各種治療模式結合使用（如將經動脈化療栓塞（TACE）與免疫抑制劑結合）表明了對無法切除的HCC採取更全面治療方法的趨勢。</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**早期免疫治療的優化**  </a:t>
            </a:r>
            <a:endParaRPr lang="en-US" sz="1200" dirty="0"/>
          </a:p>
          <a:p>
            <a:pPr indent="0" marL="0">
              <a:lnSpc>
                <a:spcPct val="150000"/>
              </a:lnSpc>
              <a:buNone/>
            </a:pPr>
            <a:r>
              <a:rPr lang="en-US" sz="1200" dirty="0">
                <a:solidFill>
                  <a:srgbClr val="FFFFFF"/>
                </a:solidFill>
              </a:rPr>
              <a:t>   Future studies should focus on optimizing the timing and combination of immune therapies in early-stage HCC to maximize treatment efficacy.  </a:t>
            </a:r>
            <a:endParaRPr lang="en-US" sz="1200" dirty="0"/>
          </a:p>
          <a:p>
            <a:pPr indent="0" marL="0">
              <a:lnSpc>
                <a:spcPct val="150000"/>
              </a:lnSpc>
              <a:buNone/>
            </a:pPr>
            <a:r>
              <a:rPr lang="en-US" sz="1200" dirty="0">
                <a:solidFill>
                  <a:srgbClr val="FFFFFF"/>
                </a:solidFill>
              </a:rPr>
              <a:t>   未來的研究應集中於優化早期HCC中免疫治療的時機和組合，以最大化治療效果。</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**癌症相關成纖維細胞的靶向治療**  </a:t>
            </a:r>
            <a:endParaRPr lang="en-US" sz="1200" dirty="0"/>
          </a:p>
          <a:p>
            <a:pPr indent="0" marL="0">
              <a:lnSpc>
                <a:spcPct val="150000"/>
              </a:lnSpc>
              <a:buNone/>
            </a:pPr>
            <a:r>
              <a:rPr lang="en-US" sz="1200" dirty="0">
                <a:solidFill>
                  <a:srgbClr val="FFFFFF"/>
                </a:solidFill>
              </a:rPr>
              <a:t>   Investigating targeted therapies against CAFs and their metabolic pathways may provide new avenues for enhancing anti-tumor immunity in HCC.  </a:t>
            </a:r>
            <a:endParaRPr lang="en-US" sz="1200" dirty="0"/>
          </a:p>
          <a:p>
            <a:pPr indent="0" marL="0">
              <a:lnSpc>
                <a:spcPct val="150000"/>
              </a:lnSpc>
              <a:buNone/>
            </a:pPr>
            <a:r>
              <a:rPr lang="en-US" sz="1200" dirty="0">
                <a:solidFill>
                  <a:srgbClr val="FFFFFF"/>
                </a:solidFill>
              </a:rPr>
              <a:t>   研究針對CAFs及其代謝途徑的靶向療法可能為增強HCC中的抗腫瘤免疫提供新的途徑。</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**多模式療法的臨床試驗**  </a:t>
            </a:r>
            <a:endParaRPr lang="en-US" sz="1200" dirty="0"/>
          </a:p>
          <a:p>
            <a:pPr indent="0" marL="0">
              <a:lnSpc>
                <a:spcPct val="150000"/>
              </a:lnSpc>
              <a:buNone/>
            </a:pPr>
            <a:r>
              <a:rPr lang="en-US" sz="1200" dirty="0">
                <a:solidFill>
                  <a:srgbClr val="FFFFFF"/>
                </a:solidFill>
              </a:rPr>
              <a:t>   Conducting clinical trials that evaluate the efficacy of combined therapies, including immune checkpoint inhibitors and local ablation techniques, is essential for establishing best practices.  </a:t>
            </a:r>
            <a:endParaRPr lang="en-US" sz="1200" dirty="0"/>
          </a:p>
          <a:p>
            <a:pPr indent="0" marL="0">
              <a:lnSpc>
                <a:spcPct val="150000"/>
              </a:lnSpc>
              <a:buNone/>
            </a:pPr>
            <a:r>
              <a:rPr lang="en-US" sz="1200" dirty="0">
                <a:solidFill>
                  <a:srgbClr val="FFFFFF"/>
                </a:solidFill>
              </a:rPr>
              <a:t>   開展評估包括免疫檢查點抑制劑和局部消融技術的聯合療法有效性的臨床試驗對於建立最佳實踐至關重要。</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**腫瘤微環境的深入研究**  </a:t>
            </a:r>
            <a:endParaRPr lang="en-US" sz="1200" dirty="0"/>
          </a:p>
          <a:p>
            <a:pPr indent="0" marL="0">
              <a:lnSpc>
                <a:spcPct val="150000"/>
              </a:lnSpc>
              <a:buNone/>
            </a:pPr>
            <a:r>
              <a:rPr lang="en-US" sz="1200" dirty="0">
                <a:solidFill>
                  <a:srgbClr val="FFFFFF"/>
                </a:solidFill>
              </a:rPr>
              <a:t>   Further research into the tumor microenvironment and its interactions with immune cells can unveil new therapeutic targets and strategies for HCC treatment.  </a:t>
            </a:r>
            <a:endParaRPr lang="en-US" sz="1200" dirty="0"/>
          </a:p>
          <a:p>
            <a:pPr indent="0" marL="0">
              <a:lnSpc>
                <a:spcPct val="150000"/>
              </a:lnSpc>
              <a:buNone/>
            </a:pPr>
            <a:r>
              <a:rPr lang="en-US" sz="1200" dirty="0">
                <a:solidFill>
                  <a:srgbClr val="FFFFFF"/>
                </a:solidFill>
              </a:rPr>
              <a:t>   對腫瘤微環境及其與免疫細胞的相互作用的深入研究可以揭示HCC治療的新療法靶點和策略。</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**長期療效與耐藥性研究**  </a:t>
            </a:r>
            <a:endParaRPr lang="en-US" sz="1200" dirty="0"/>
          </a:p>
          <a:p>
            <a:pPr indent="0" marL="0">
              <a:lnSpc>
                <a:spcPct val="150000"/>
              </a:lnSpc>
              <a:buNone/>
            </a:pPr>
            <a:r>
              <a:rPr lang="en-US" sz="1200" dirty="0">
                <a:solidFill>
                  <a:srgbClr val="FFFFFF"/>
                </a:solidFill>
              </a:rPr>
              <a:t>   Investigating the long-term effects and potential resistance mechanisms associated with current immunotherapies will be crucial for improving patient outcomes in HCC.  </a:t>
            </a:r>
            <a:endParaRPr lang="en-US" sz="1200" dirty="0"/>
          </a:p>
          <a:p>
            <a:pPr indent="0" marL="0">
              <a:lnSpc>
                <a:spcPct val="150000"/>
              </a:lnSpc>
              <a:buNone/>
            </a:pPr>
            <a:r>
              <a:rPr lang="en-US" sz="1200" dirty="0">
                <a:solidFill>
                  <a:srgbClr val="FFFFFF"/>
                </a:solidFill>
              </a:rPr>
              <a:t>   研究目前免疫療法的長期效果及潛在的耐藥機制對於改善HCC患者的預後至關重要。</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749040"/>
            <a:ext cx="10058400" cy="0"/>
          </a:xfrm>
          <a:prstGeom prst="rect">
            <a:avLst/>
          </a:prstGeom>
          <a:noFill/>
          <a:ln/>
        </p:spPr>
        <p:txBody>
          <a:bodyPr wrap="square" lIns="0" tIns="0" rIns="0" bIns="0" rtlCol="0" anchor="ctr"/>
          <a:lstStyle/>
          <a:p>
            <a:pPr indent="0" marL="0">
              <a:buNone/>
            </a:pPr>
            <a:r>
              <a:rPr lang="en-US" sz="2400" dirty="0">
                <a:solidFill>
                  <a:srgbClr val="888888"/>
                </a:solidFill>
                <a:latin typeface="Microsoft JhengHei" pitchFamily="34" charset="0"/>
                <a:ea typeface="Microsoft JhengHei" pitchFamily="34" charset="-122"/>
                <a:cs typeface="Microsoft JhengHei" pitchFamily="34" charset="-120"/>
              </a:rPr>
              <a:t>謝謝</a:t>
            </a:r>
            <a:endParaRPr lang="en-US" sz="2400" dirty="0"/>
          </a:p>
        </p:txBody>
      </p:sp>
      <p:sp>
        <p:nvSpPr>
          <p:cNvPr id="4" name="Text 2"/>
          <p:cNvSpPr/>
          <p:nvPr/>
        </p:nvSpPr>
        <p:spPr>
          <a:xfrm>
            <a:off x="731520" y="4572000"/>
            <a:ext cx="10058400" cy="0"/>
          </a:xfrm>
          <a:prstGeom prst="rect">
            <a:avLst/>
          </a:prstGeom>
          <a:noFill/>
          <a:ln/>
        </p:spPr>
        <p:txBody>
          <a:bodyPr wrap="square" lIns="0" tIns="0" rIns="0" bIns="0" rtlCol="0" anchor="ctr"/>
          <a:lstStyle/>
          <a:p>
            <a:pPr indent="0" marL="0">
              <a:buNone/>
            </a:pPr>
            <a:r>
              <a:rPr lang="en-US" sz="1100" dirty="0">
                <a:solidFill>
                  <a:srgbClr val="888888"/>
                </a:solidFill>
              </a:rPr>
              <a:t>HCC Weekly Digest · 呂大教授 敬啟</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肝癌免疫治療與局部消融文獻週報</dc:title>
  <dc:subject>PptxGenJS Presentation</dc:subject>
  <dc:creator>HCC Weekly Digest</dc:creator>
  <cp:lastModifiedBy>HCC Weekly Digest</cp:lastModifiedBy>
  <cp:revision>1</cp:revision>
  <dcterms:created xsi:type="dcterms:W3CDTF">2026-04-19T10:24:06Z</dcterms:created>
  <dcterms:modified xsi:type="dcterms:W3CDTF">2026-04-19T10:24:06Z</dcterms:modified>
</cp:coreProperties>
</file>