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158/1078-0432.CCR-25-3528" TargetMode="External"/><Relationship Id="rId2" Type="http://schemas.openxmlformats.org/officeDocument/2006/relationships/hyperlink" Target="https://doi.org/10.1158/1078-0432.CCR-25-352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36/gutjnl-2025-336719" TargetMode="External"/><Relationship Id="rId2" Type="http://schemas.openxmlformats.org/officeDocument/2006/relationships/hyperlink" Target="https://doi.org/10.1136/gutjnl-2025-33671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38/s41467-026-72814-w" TargetMode="External"/><Relationship Id="rId2" Type="http://schemas.openxmlformats.org/officeDocument/2006/relationships/hyperlink" Target="https://doi.org/10.1038/s41467-026-72814-w"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111/hepr.70193" TargetMode="External"/><Relationship Id="rId2" Type="http://schemas.openxmlformats.org/officeDocument/2006/relationships/hyperlink" Target="https://doi.org/10.1111/hepr.7019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38/s41392-026-02718-0" TargetMode="External"/><Relationship Id="rId2" Type="http://schemas.openxmlformats.org/officeDocument/2006/relationships/hyperlink" Target="https://doi.org/10.1038/s41392-026-02718-0"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mc.ncbi.nlm.nih.gov/articles/PMC12939993/" TargetMode="External"/><Relationship Id="rId2" Type="http://schemas.openxmlformats.org/officeDocument/2006/relationships/hyperlink" Target="https://pmc.ncbi.nlm.nih.gov/articles/PMC12939993/"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jhepr.2026.101893" TargetMode="External"/><Relationship Id="rId2" Type="http://schemas.openxmlformats.org/officeDocument/2006/relationships/hyperlink" Target="https://doi.org/10.1016/j.jhepr.2026.101893"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136/bmjopen-2026-116199" TargetMode="External"/><Relationship Id="rId2" Type="http://schemas.openxmlformats.org/officeDocument/2006/relationships/hyperlink" Target="https://doi.org/10.1136/bmjopen-2026-116199"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07/s12672-026-05055-4" TargetMode="External"/><Relationship Id="rId2" Type="http://schemas.openxmlformats.org/officeDocument/2006/relationships/hyperlink" Target="https://doi.org/10.1007/s12672-026-05055-4"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2026-05-11 — 2026-05-18</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Pembrolizumab Monotherapy in Sorafenib-Treated and Treatment-Na&amp;#xef;ve Advanced…</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Immune-related adverse events are a potent predictor of post-transplant rejectio…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BCAT1 inhibits crotonate-related epigenetic modulation of metabolic genes in tum…</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Ablation-Based Salvage Strategy at Disease Progression After Initial Disease Con…</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HILL: the efficacy and safety of hepatic arterial infusion chemotherapy with the…</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Immunotherapy in Hepatocellular Carcinoma with Portal Vein Tumour Thrombosis: Fr…</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Second-Line TKI after First-Line Immunotherapy-based Treatment in Advanced HCC: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Electronic symptom monitoring of patient-reported outcomes among patients with h…</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Plasma interleukin-8 as a predictive biomarker for tyrosine kinase inhibitor res…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Pembrolizumab Monotherapy in Sorafenib-Treated and Treatment-Na&amp;#xef;ve Advanced Hepatocellular Carcinoma: Long-Term Follow-up of the Open-Label, Phase II KEYNOTE-224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cancer research : an official journal of the American Association for Cancer Research  ·  IF 11.5  ·  RCT Phase 2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Pembrolizumab顯示持久抗腫瘤活性。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第一組中位OS：13.2個月。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第一組中位PFS：4.9個月。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隨訪時間長達約7年。</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安全性可控，副作用可接受。</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Finn Richard S, Kudo Masatoshi, Borbath Ivan et al.. Clinical cancer research : an official journal of the American Association for Cancer Research. 2026-05-15 DOI: 10.1158/1078-0432.CCR-25-3528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Immune-related adverse events are a potent predictor of post-transplant rejection in HCC: a multicentre retrospective cohort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Retrospective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ICIs 增加移植後排斥風險。</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irAEs 強烈預測移植後排斥。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預測模型 AUC 達 0.788。</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Fang Jun, Zhong Siyi, Wang Tielong et al.. Gut. 2026-05-12 DOI: 10.1136/gutjnl-2025-336719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BCAT1 inhibits crotonate-related epigenetic modulation of metabolic genes in tumor-associated macrophages to counter immunosuppression.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Nature communications  ·  IF 14.7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BCAT1在TAM中作為代謝檢查點。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BCAT1缺失增加crotonate和免疫抑制。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BCAT1+巨噬細胞增強抗腫瘤免疫。</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髓系BCAT1過表達改善抗-PD1療法。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針對BCAT1可增強免疫療法反應。</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Zhang Weizhi, Liang Shuhang, Han Sitao et al.. Nature communications. 2026-05-11 DOI: 10.1038/s41467-026-72814-w</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Ablation-Based Salvage Strategy at Disease Progression After Initial Disease Control With Atezolizumab/Bevacizumab in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Hepatology research : the official journal of the Japan Society of Hepatology  ·  Prospective Study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Atez/Bev 可達疾病控制。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進展後考慮進行消融。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消融組PPS顯著延長。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OS顯示消融有趨勢優勢。</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需進一步驗證結果。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Kariyama Kazuya, Nouso Kazuhiro, Hiraoka Atsushi et al.. Hepatology research : the official journal of the Japan Society of Hepatology. 2026-05-11 DOI: 10.1111/hepr.70193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HILL: the efficacy and safety of hepatic arterial infusion chemotherapy with the FOLFOX regimen combined with lenvatinib and the PD-L1 inhibitor durvalumab in unresectable hepatocellular carcinoma: a prospective, single-arm, phase 2 clinical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Signal transduction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針對uHCC治療效果研究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三重組合療法：FOLFOX-HAIC、lenvatinib、durvalumab</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中位無進展生存期15.8個月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客觀反應率達75.0%</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安全性以1-2級不良事件為主</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Li Shao-Hua, Zuo Zhi-Jun, Lu Liang-He et al.. Signal transduction and targeted therapy. 2026-05-14 DOI: 10.1038/s41392-026-02718-0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Immunotherapy in Hepatocellular Carcinoma with Portal Vein Tumour Thrombosis: From Poor Prognosis to Curative-Intent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針對PVTT的HCC二期研究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HAIC聯合lenvatinib與PD-1</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優於單一療法的結果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專注於治癒性策略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改善預後的潛力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 Marzi, R Sacco, L Siciliani.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經動脈化療栓塞加PD-1抑制劑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第二期試驗顯示前景良好</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Second-Line TKI after First-Line Immunotherapy-based Treatment in Advanced HCC: Reconstructed IPD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reports : innovation in hepatology  ·  IF 7.8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分析免疫治療後的第二線TKI。</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Lenvatinib和regorafenib顯示更好OS。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所有患者中位OS為9.8個月。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觀察到生存結果異質性。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強調需要前瞻性研究。</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Akkus Erman, Hobeika Christian, Edeline Julien et al.. JHEP reports : innovation in hepatology. 2026-05-13 DOI: 10.1016/j.jhepr.2026.101893</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Electronic symptom monitoring of patient-reported outcomes among patients with hepatocellular carcinoma during immunotherapy (PRIME-HCC): protocol for a randomised controlled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BMJ open  ·  RCT</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ePROs提升癌症患者的HRQoL。</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研究評估HCC免疫治療中的ePROs。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隨機試驗招募238名HCC患者。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介入組使用WeChat監測症狀。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結果包括HRQoL、生存率和可行性。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Xia Yiqi, Wei Xiaoping, Wang Yanshang et al.. BMJ open. 2026-05-11 DOI: 10.1136/bmjopen-2026-116199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Plasma interleukin-8 as a predictive biomarker for tyrosine kinase inhibitor response in advanced hepatocellular carcinoma.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Discover oncology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HCC是主要癌症死亡原因。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TKI是首選治療方案。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IL-8水平預測TKI反應。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IL-8升高與生存率低相關。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研究分析60例晚期HCC患者。</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Kim Sujin, Ahn Hye Ri, Kim Hui Gyeong et al.. Discover oncology. 2026-05-11 DOI: 10.1007/s12672-026-05055-4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**持久的抗腫瘤活性**  </a:t>
            </a:r>
            <a:endParaRPr lang="en-US" sz="1200" dirty="0"/>
          </a:p>
          <a:p>
            <a:pPr indent="0" marL="0">
              <a:lnSpc>
                <a:spcPct val="150000"/>
              </a:lnSpc>
              <a:buNone/>
            </a:pPr>
            <a:r>
              <a:rPr lang="en-US" sz="1200" dirty="0">
                <a:solidFill>
                  <a:srgbClr val="FFFFFF"/>
                </a:solidFill>
              </a:rPr>
              <a:t>   Pembrolizumab在治療經索拉非尼治療的晚期肝細胞癌患者中展現了持久的抗腫瘤活性，顯示其在長期療效方面的潛力。  </a:t>
            </a:r>
            <a:endParaRPr lang="en-US" sz="1200" dirty="0"/>
          </a:p>
          <a:p>
            <a:pPr indent="0" marL="0">
              <a:lnSpc>
                <a:spcPct val="150000"/>
              </a:lnSpc>
              <a:buNone/>
            </a:pPr>
            <a:r>
              <a:rPr lang="en-US" sz="1200" dirty="0">
                <a:solidFill>
                  <a:srgbClr val="FFFFFF"/>
                </a:solidFill>
              </a:rPr>
              <a:t>   *Pembrolizumab demonstrated durable antitumor activity in advanced hepatocellular carcinoma (HCC) patients previously treated with sorafenib, highlighting its potential for long-term efficacy.*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**免疫相關不良事件的預測能力**  </a:t>
            </a:r>
            <a:endParaRPr lang="en-US" sz="1200" dirty="0"/>
          </a:p>
          <a:p>
            <a:pPr indent="0" marL="0">
              <a:lnSpc>
                <a:spcPct val="150000"/>
              </a:lnSpc>
              <a:buNone/>
            </a:pPr>
            <a:r>
              <a:rPr lang="en-US" sz="1200" dirty="0">
                <a:solidFill>
                  <a:srgbClr val="FFFFFF"/>
                </a:solidFill>
              </a:rPr>
              <a:t>   免疫檢查點抑制劑引發的免疫相關不良事件（irAEs）可能是肝移植後排斥反應的強烈預測因子，提示需謹慎監測這些事件。  </a:t>
            </a:r>
            <a:endParaRPr lang="en-US" sz="1200" dirty="0"/>
          </a:p>
          <a:p>
            <a:pPr indent="0" marL="0">
              <a:lnSpc>
                <a:spcPct val="150000"/>
              </a:lnSpc>
              <a:buNone/>
            </a:pPr>
            <a:r>
              <a:rPr lang="en-US" sz="1200" dirty="0">
                <a:solidFill>
                  <a:srgbClr val="FFFFFF"/>
                </a:solidFill>
              </a:rPr>
              <a:t>   *Immune-related adverse events (irAEs) from immune checkpoint inhibitors may serve as potent predictors of post-transplant rejection in HCC, suggesting the need for careful monitoring of these events.*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**腫瘤微環境的挑戰**  </a:t>
            </a:r>
            <a:endParaRPr lang="en-US" sz="1200" dirty="0"/>
          </a:p>
          <a:p>
            <a:pPr indent="0" marL="0">
              <a:lnSpc>
                <a:spcPct val="150000"/>
              </a:lnSpc>
              <a:buNone/>
            </a:pPr>
            <a:r>
              <a:rPr lang="en-US" sz="1200" dirty="0">
                <a:solidFill>
                  <a:srgbClr val="FFFFFF"/>
                </a:solidFill>
              </a:rPr>
              <a:t>   肝細胞癌的異質性和免疫抑制的腫瘤微環境對免疫治療反應產生負面影響，強調了針對腫瘤相關巨噬細胞的代謝調控的重要性。  </a:t>
            </a:r>
            <a:endParaRPr lang="en-US" sz="1200" dirty="0"/>
          </a:p>
          <a:p>
            <a:pPr indent="0" marL="0">
              <a:lnSpc>
                <a:spcPct val="150000"/>
              </a:lnSpc>
              <a:buNone/>
            </a:pPr>
            <a:r>
              <a:rPr lang="en-US" sz="1200" dirty="0">
                <a:solidFill>
                  <a:srgbClr val="FFFFFF"/>
                </a:solidFill>
              </a:rPr>
              <a:t>   *The heterogeneous and immunosuppressive tumor microenvironment in HCC negatively impacts immunotherapy responses, emphasizing the importance of metabolic regulation targeting tumor-associated macrophages.*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**局部消融的潛在角色**  </a:t>
            </a:r>
            <a:endParaRPr lang="en-US" sz="1200" dirty="0"/>
          </a:p>
          <a:p>
            <a:pPr indent="0" marL="0">
              <a:lnSpc>
                <a:spcPct val="150000"/>
              </a:lnSpc>
              <a:buNone/>
            </a:pPr>
            <a:r>
              <a:rPr lang="en-US" sz="1200" dirty="0">
                <a:solidFill>
                  <a:srgbClr val="FFFFFF"/>
                </a:solidFill>
              </a:rPr>
              <a:t>   在初始疾病控制後，局部消融療法在無法切除的肝細胞癌患者中可能是一個有效的救援策略，值得進一步研究。  </a:t>
            </a:r>
            <a:endParaRPr lang="en-US" sz="1200" dirty="0"/>
          </a:p>
          <a:p>
            <a:pPr indent="0" marL="0">
              <a:lnSpc>
                <a:spcPct val="150000"/>
              </a:lnSpc>
              <a:buNone/>
            </a:pPr>
            <a:r>
              <a:rPr lang="en-US" sz="1200" dirty="0">
                <a:solidFill>
                  <a:srgbClr val="FFFFFF"/>
                </a:solidFill>
              </a:rPr>
              <a:t>   *Ablation therapy may serve as an effective salvage strategy in patients with unresectable HCC after initial disease control, warranting further investigation.*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**新療法的組合策略**  </a:t>
            </a:r>
            <a:endParaRPr lang="en-US" sz="1200" dirty="0"/>
          </a:p>
          <a:p>
            <a:pPr indent="0" marL="0">
              <a:lnSpc>
                <a:spcPct val="150000"/>
              </a:lnSpc>
              <a:buNone/>
            </a:pPr>
            <a:r>
              <a:rPr lang="en-US" sz="1200" dirty="0">
                <a:solidFill>
                  <a:srgbClr val="FFFFFF"/>
                </a:solidFill>
              </a:rPr>
              <a:t>   結合肝動脈灌注化療、lenvatinib和PD-L1抑制劑的策略顯示出在無法切除的肝細胞癌中的潛在療效，提示需探索多種治療組合的可能性。  </a:t>
            </a:r>
            <a:endParaRPr lang="en-US" sz="1200" dirty="0"/>
          </a:p>
          <a:p>
            <a:pPr indent="0" marL="0">
              <a:lnSpc>
                <a:spcPct val="150000"/>
              </a:lnSpc>
              <a:buNone/>
            </a:pPr>
            <a:r>
              <a:rPr lang="en-US" sz="1200" dirty="0">
                <a:solidFill>
                  <a:srgbClr val="FFFFFF"/>
                </a:solidFill>
              </a:rPr>
              <a:t>   *Combination strategies of hepatic arterial infusion chemotherapy with lenvatinib and PD-L1 inhibitors show potential efficacy in unresectable HCC, indicating the need to explore various treatment combinations.*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**長期療效的評估**  </a:t>
            </a:r>
            <a:endParaRPr lang="en-US" sz="1200" dirty="0"/>
          </a:p>
          <a:p>
            <a:pPr indent="0" marL="0">
              <a:lnSpc>
                <a:spcPct val="150000"/>
              </a:lnSpc>
              <a:buNone/>
            </a:pPr>
            <a:r>
              <a:rPr lang="en-US" sz="1200" dirty="0">
                <a:solidFill>
                  <a:srgbClr val="FFFFFF"/>
                </a:solidFill>
              </a:rPr>
              <a:t>   需要進一步的長期隨訪研究，以評估免疫治療在不同階段肝細胞癌患者中的持久療效和安全性。  </a:t>
            </a:r>
            <a:endParaRPr lang="en-US" sz="1200" dirty="0"/>
          </a:p>
          <a:p>
            <a:pPr indent="0" marL="0">
              <a:lnSpc>
                <a:spcPct val="150000"/>
              </a:lnSpc>
              <a:buNone/>
            </a:pPr>
            <a:r>
              <a:rPr lang="en-US" sz="1200" dirty="0">
                <a:solidFill>
                  <a:srgbClr val="FFFFFF"/>
                </a:solidFill>
              </a:rPr>
              <a:t>   *Further long-term follow-up studies are needed to assess the durability and safety of immunotherapy in patients with hepatocellular carcinoma at various stages.*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**免疫相關不良事件的機制研究**  </a:t>
            </a:r>
            <a:endParaRPr lang="en-US" sz="1200" dirty="0"/>
          </a:p>
          <a:p>
            <a:pPr indent="0" marL="0">
              <a:lnSpc>
                <a:spcPct val="150000"/>
              </a:lnSpc>
              <a:buNone/>
            </a:pPr>
            <a:r>
              <a:rPr lang="en-US" sz="1200" dirty="0">
                <a:solidFill>
                  <a:srgbClr val="FFFFFF"/>
                </a:solidFill>
              </a:rPr>
              <a:t>   探索免疫相關不良事件的生物學機制，以改善治療策略並降低排斥反應的風險。  </a:t>
            </a:r>
            <a:endParaRPr lang="en-US" sz="1200" dirty="0"/>
          </a:p>
          <a:p>
            <a:pPr indent="0" marL="0">
              <a:lnSpc>
                <a:spcPct val="150000"/>
              </a:lnSpc>
              <a:buNone/>
            </a:pPr>
            <a:r>
              <a:rPr lang="en-US" sz="1200" dirty="0">
                <a:solidFill>
                  <a:srgbClr val="FFFFFF"/>
                </a:solidFill>
              </a:rPr>
              <a:t>   *Investigating the biological mechanisms of immune-related adverse events could improve treatment strategies and reduce the risk of rejection.*</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**腫瘤微環境的調控**  </a:t>
            </a:r>
            <a:endParaRPr lang="en-US" sz="1200" dirty="0"/>
          </a:p>
          <a:p>
            <a:pPr indent="0" marL="0">
              <a:lnSpc>
                <a:spcPct val="150000"/>
              </a:lnSpc>
              <a:buNone/>
            </a:pPr>
            <a:r>
              <a:rPr lang="en-US" sz="1200" dirty="0">
                <a:solidFill>
                  <a:srgbClr val="FFFFFF"/>
                </a:solidFill>
              </a:rPr>
              <a:t>   研究針對腫瘤微環境的干預措施，以克服免疫抑制並提高免疫治療的療效。  </a:t>
            </a:r>
            <a:endParaRPr lang="en-US" sz="1200" dirty="0"/>
          </a:p>
          <a:p>
            <a:pPr indent="0" marL="0">
              <a:lnSpc>
                <a:spcPct val="150000"/>
              </a:lnSpc>
              <a:buNone/>
            </a:pPr>
            <a:r>
              <a:rPr lang="en-US" sz="1200" dirty="0">
                <a:solidFill>
                  <a:srgbClr val="FFFFFF"/>
                </a:solidFill>
              </a:rPr>
              <a:t>   *Researching interventions targeting the tumor microenvironment could overcome immunosuppression and enhance the efficacy of immunotherapy.*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**局部消融與系統治療的整合**  </a:t>
            </a:r>
            <a:endParaRPr lang="en-US" sz="1200" dirty="0"/>
          </a:p>
          <a:p>
            <a:pPr indent="0" marL="0">
              <a:lnSpc>
                <a:spcPct val="150000"/>
              </a:lnSpc>
              <a:buNone/>
            </a:pPr>
            <a:r>
              <a:rPr lang="en-US" sz="1200" dirty="0">
                <a:solidFill>
                  <a:srgbClr val="FFFFFF"/>
                </a:solidFill>
              </a:rPr>
              <a:t>   評估局部消融療法與系統性治療的整合策略，以改善無法切除肝細胞癌患者的預後。  </a:t>
            </a:r>
            <a:endParaRPr lang="en-US" sz="1200" dirty="0"/>
          </a:p>
          <a:p>
            <a:pPr indent="0" marL="0">
              <a:lnSpc>
                <a:spcPct val="150000"/>
              </a:lnSpc>
              <a:buNone/>
            </a:pPr>
            <a:r>
              <a:rPr lang="en-US" sz="1200" dirty="0">
                <a:solidFill>
                  <a:srgbClr val="FFFFFF"/>
                </a:solidFill>
              </a:rPr>
              <a:t>   *Evaluating integrated strategies of ablation therapy with systemic treatments could improve outcomes for patients with unresectable HCC.*</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**新型生物標記的發現**  </a:t>
            </a:r>
            <a:endParaRPr lang="en-US" sz="1200" dirty="0"/>
          </a:p>
          <a:p>
            <a:pPr indent="0" marL="0">
              <a:lnSpc>
                <a:spcPct val="150000"/>
              </a:lnSpc>
              <a:buNone/>
            </a:pPr>
            <a:r>
              <a:rPr lang="en-US" sz="1200" dirty="0">
                <a:solidFill>
                  <a:srgbClr val="FFFFFF"/>
                </a:solidFill>
              </a:rPr>
              <a:t>   開發新的生物標記以預測免疫治療和靶向治療的反應，從而個性化治療方案。  </a:t>
            </a:r>
            <a:endParaRPr lang="en-US" sz="1200" dirty="0"/>
          </a:p>
          <a:p>
            <a:pPr indent="0" marL="0">
              <a:lnSpc>
                <a:spcPct val="150000"/>
              </a:lnSpc>
              <a:buNone/>
            </a:pPr>
            <a:r>
              <a:rPr lang="en-US" sz="1200" dirty="0">
                <a:solidFill>
                  <a:srgbClr val="FFFFFF"/>
                </a:solidFill>
              </a:rPr>
              <a:t>   *Developing new biomarkers to predict responses to immunotherapy and targeted therapies could facilitate personalized treatment approaches.*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2026-05-18T05:05:04Z</dcterms:created>
  <dcterms:modified xsi:type="dcterms:W3CDTF">2026-05-18T05:05:04Z</dcterms:modified>
</cp:coreProperties>
</file>