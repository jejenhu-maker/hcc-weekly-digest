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j.jhep.2026.02.019" TargetMode="External"/><Relationship Id="rId2" Type="http://schemas.openxmlformats.org/officeDocument/2006/relationships/hyperlink" Target="https://doi.org/10.1016/j.jhep.2026.02.019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111/jgh.70422" TargetMode="External"/><Relationship Id="rId2" Type="http://schemas.openxmlformats.org/officeDocument/2006/relationships/hyperlink" Target="https://doi.org/10.1111/jgh.70422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158/1078-0432.CCR-26-1352" TargetMode="External"/><Relationship Id="rId2" Type="http://schemas.openxmlformats.org/officeDocument/2006/relationships/hyperlink" Target="https://doi.org/10.1158/1078-0432.CCR-26-1352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38/s41698-026-01571-2" TargetMode="External"/><Relationship Id="rId2" Type="http://schemas.openxmlformats.org/officeDocument/2006/relationships/hyperlink" Target="https://doi.org/10.1038/s41698-026-01571-2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sciencedirect.com/science/article/pii/S2589555925003404" TargetMode="External"/><Relationship Id="rId2" Type="http://schemas.openxmlformats.org/officeDocument/2006/relationships/hyperlink" Target="https://www.sciencedirect.com/science/article/pii/S2589555925003404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j.dld.2026.04.013" TargetMode="External"/><Relationship Id="rId2" Type="http://schemas.openxmlformats.org/officeDocument/2006/relationships/hyperlink" Target="https://doi.org/10.1016/j.dld.2026.04.013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136/jitc-2026-015777" TargetMode="External"/><Relationship Id="rId2" Type="http://schemas.openxmlformats.org/officeDocument/2006/relationships/hyperlink" Target="https://doi.org/10.1136/jitc-2026-015777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21873/anticanres.18251" TargetMode="External"/><Relationship Id="rId2" Type="http://schemas.openxmlformats.org/officeDocument/2006/relationships/hyperlink" Target="https://doi.org/10.21873/anticanres.1825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97/HEP.0000000000001426" TargetMode="External"/><Relationship Id="rId2" Type="http://schemas.openxmlformats.org/officeDocument/2006/relationships/hyperlink" Target="https://doi.org/10.1097/HEP.0000000000001426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02/advs.202521418" TargetMode="External"/><Relationship Id="rId2" Type="http://schemas.openxmlformats.org/officeDocument/2006/relationships/hyperlink" Target="https://doi.org/10.1002/advs.202521418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888888"/>
                </a:solidFill>
              </a:rPr>
              <a:t>WEEKLY DIGEST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1005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HCC Weekly Digest</a:t>
            </a:r>
            <a:endParaRPr lang="en-US" sz="4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FCA5A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肝膽腸胃內科 — 肝癌免疫治療與局部消融</a:t>
            </a:r>
            <a:endParaRPr lang="en-US" sz="4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呂大教授 敬啟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50292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</a:rPr>
              <a:t>2026-06-29 — 2026-07-06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54864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C2626"/>
                </a:solidFill>
              </a:rPr>
              <a:t>10 篇精選論文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888888"/>
                </a:solidFill>
              </a:rPr>
              <a:t>目錄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10058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Efficacy of liver transplantation after response to atezolizumab-bevacizumab dow…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Outcomes of Patients With Hepatocellular Carcinoma Treated With Durvalumab Plus 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Camrelizumab, a patinib and radiotherapy in locally advanced, unresectable hepat…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Neoadjuvant Danburstotug (IMC-001) therapy in gastric, esophageal, and hepatocel…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Pembrolizumab and stereotactic body radiotherapy combined in advanced hepatocell…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Complementary evaluation of phase III immunotherapy trials in advanced HCC using…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Systemic immune profiling in hepatocellular carcinoma: navigating etiological he…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Balloon-occluded Alternative Infusion of Fragmented Gelatin Particles of TACE fo…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Anti-angiogenic therapy combined with immune checkpoint blockade mediates CCR7 +…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Cancer-Associated Fibroblasts Promote Tumor Immunosuppression in Hepatocellular …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01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01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Efficacy of liver transplantation after response to atezolizumab-bevacizumab downstaging of intermediate and advanced hepatocellular carcinoma (ImmunoXXL).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Journal of hepatology  ·  IF 25.7  ·  RCT Phase 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肝移植可治癒HCC。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Atezolizumab-bevacizumab降低晚期HCC。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26%患者達到移植資格。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兩年生存率表現良好。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免疫監測關聯腫瘤反應與排斥。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Bhoori Sherrie, Rivoltini Licia, Pinato David J et al.. Journal of hepatology. 2026-06-15 DOI: 10.1016/j.jhep.2026.02.019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02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02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Outcomes of Patients With Hepatocellular Carcinoma Treated With Durvalumab Plus Tremelimumab in Real-World Clinical Practice Who Met or Did Not Meet the Inclusion Criteria for the Phase 3 HIMALAYA Trial.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Journal of gastroenterology and hepatology  ·  RCT Phase 3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研究HCC患者接受Dur/Tre治療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412名患者來自30家機構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HIMALAYA組PFS和OS較佳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獨立預測因子包括BMI和門靜脈侵犯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內分泌功能障礙在HIMALAYA組較常見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Matono Tomomitsu, Tada Toshifumi, Hiraoka Atsushi et al.. Journal of gastroenterology and hepatology. 2026-07-02 DOI: 10.1111/jgh.70422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03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03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Camrelizumab, a patinib and radiotherapy in locally advanced, unresectable hepatocellular carcinoma: a phase 2 study.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Clinical cancer research : an official journal of the American Association for Cancer Research  ·  IF 11.5  ·  RCT Phase 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研究評估camrelizumab、apatinib及IMRT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客觀反應率達84.1%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中位PFS為13.8個月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81.8%患者出現3-4級不良事件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TP53突變與不良預後相關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Wang Hongzhi, Wang Kun, Zheng Xuan et al.. Clinical cancer research : an official journal of the American Association for Cancer Research. 2026-06-30 DOI: 10.1158/1078-0432.CCR-26-1352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04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04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Neoadjuvant Danburstotug (IMC-001) therapy in gastric, esophageal, and hepatocellular carcinoma: the NeoChance phase II study.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NPJ precision oncology  ·  RCT Phase 2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評估neoadjuvant治療danburstotug (IMC-001)。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主要終點未達成；MPR 4.2%患者。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病理回歸在22.9%患者中觀察到。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治療耐受性良好，副作用少。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免疫剖析顯示癌症特異性重塑。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Bang Yeong Hak, Kang Dawon, Lee Seungwon et al.. NPJ precision oncology. 2026-07-03 DOI: 10.1038/s41698-026-01571-2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05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05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Pembrolizumab and stereotactic body radiotherapy combined in advanced hepatocellular carcinoma post sorafenib–A phase II trial (PEMRAD)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JHEP Reports  ·  IF 7.8  ·  RCT Phase 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結合 pembrolizumab 和 SBRT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針對晚期 HCC 的二期試驗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評估索拉非尼後的療效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GM O'Kane, A Mesci, RW Jang. JHEP Reports.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06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06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Complementary evaluation of phase III immunotherapy trials in advanced HCC using the survival-inferred fragility index.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Digestive and liver disease : official journal of the Italian Society of Gastroenterology and the Italian Association for the Study of the Liver  ·  RCT Phase 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HCC治療逐步轉向ICIs和TKIs。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SIFI量化試驗結果穩定性。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六項III期試驗進行SIFI分析。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中位SIFI顯示試驗穩健性低。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亞洲試驗顯示較高穩定性。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Dalbeni A, Vicardi M, Stefanini B et al.. Digestive and liver disease : official journal of the Italian Society of Gastroenterology and the Italian Association for the Study of the Liver. 2026-06-16 DOI: 10.1016/j.dld.2026.04.013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07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07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Systemic immune profiling in hepatocellular carcinoma: navigating etiological heterogeneity and selection bias.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Journal for immunotherapy of cancer  ·  IF 10.9  ·  Prospective Study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對Nishio等研究的評論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識別HCC的循環免疫生物標記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病因異質性可能影響免疫特徵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選擇偏差影響研究設計和結果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需在前瞻性隊列中驗證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Chen Rihui, Yang Xiaochuan. Journal for immunotherapy of cancer. 2026-07-01 DOI: 10.1136/jitc-2026-015777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08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08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Balloon-occluded Alternative Infusion of Fragmented Gelatin Particles of TACE for Hepatocellular Carcinoma Refractory to Atezolizumab-Bevacizumab.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Anticancer research  ·  Prospective Study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研究BOAI-TACE對HCC患者的效果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主要終點：8週的ORR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治療患者ORR達60%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監測不良事件以評估安全性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肝功能無顯著變化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Hasegawa Naoyuki, Hoshiai Sodai, Yamada Takeshi et al.. Anticancer research. 2026-06-29 DOI: 10.21873/anticanres.18251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09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09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Anti-angiogenic therapy combined with immune checkpoint blockade mediates CCR7 + CD8 + T-cell entry into HCC through high endothelial venules.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Hepatology (Baltimore, Md.)  ·  IF 12.9  ·  Basic Research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抗血管生成治療增強T細胞浸潤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高內皮靜脈促進淋巴細胞進入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CCR7 + CD8 + T細胞顯示細胞毒性潛力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VEGFC和NF-κB通路促進HEV形成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高HEV密度與生存率改善相關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Tang Lu, Hou Yingwen, Di Tian et al.. Hepatology (Baltimore, Md.). 2026-06-16 DOI: 10.1097/HEP.0000000000001426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10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10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Cancer-Associated Fibroblasts Promote Tumor Immunosuppression in Hepatocellular Carcinoma via the NNMT-ANGPTL4 Axis.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Advanced science (Weinheim, Baden-Wurttemberg, Germany)  ·  Basic Research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CAFs 驅動 HCC 免疫抑制。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NNMT 調控 ANGPTL4 分泌。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ANGPTL4 增強腫瘤免疫逃逸。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靶向 NNMT-ANGPTL4 恢復 T 細胞活性。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聯合療法提升抗 PD-L1 效果。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Lu Shounan, Ke Shanjia, Yu Hongjun et al.. Advanced science (Weinheim, Baden-Wurttemberg, Germany). 2026-07-03 DOI: 10.1002/advs.202521418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7F1D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88888"/>
                </a:solidFill>
              </a:rPr>
              <a:t>綜合啟示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綜合啟示與未來研究方向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10515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### 綜合啟示（Overall Insights）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1. **免疫治療的潛力**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Immunotherapy, particularly immune checkpoint inhibitors (ICIs), has shown promising results in downstaging intermediate and advanced hepatocellular carcinoma (HCC), potentially expanding eligibility for liver transplantation.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免疫治療，特別是免疫檢查點抑制劑（ICIs），在下調中晚期肝細胞癌（HCC）方面顯示出良好的潛力，可能擴大肝臟移植的適應症。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2. **多重療法的協同效應**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The combination of ICIs with locoregional therapies and other agents, such as tyrosine kinase inhibitors (TKIs) and radiotherapy, may enhance therapeutic efficacy in HCC.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將ICIs與區域性治療及其他藥物（如酪氨酸激酶抑制劑（TKIs）和放射治療）結合，可能提高HCC的治療效果。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3. **患者選擇的關鍵性**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Real-world studies emphasize the importance of patient selection and stratification based on eligibility criteria, which can significantly influence treatment outcomes in HCC.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實際臨床研究強調患者選擇和根據適應症標準進行分層的重要性，這對HCC的治療結果有顯著影響。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4. **腫瘤微環境的挑戰**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The immunosuppressive tumor microenvironment, driven by cancer-associated fibroblasts and other factors, remains a significant barrier to effective immunotherapy in HCC.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由癌症相關成纖維細胞及其他因素驅動的免疫抑制腫瘤微環境，仍然是HCC有效免疫治療的一大障礙。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5. **未來的生物標記研究**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Advances in immune profiling and biomarker identification may facilitate personalized immunotherapy approaches, improving outcomes for HCC patients.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7F1D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88888"/>
                </a:solidFill>
              </a:rPr>
              <a:t>綜合啟示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綜合啟示與未來研究方向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10515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免疫剖析和生物標記識別的進展，可能促進個性化免疫治療方法的發展，改善HCC患者的治療結果。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### 未來研究方向（Future Research Directions）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1. **探索新型免疫療法**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Further studies should investigate novel immunotherapeutic agents and combinations, particularly in the context of advanced HCC and their mechanisms of action.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進一步研究應探討新型免疫治療藥物及其組合，特別是在晚期HCC的背景下及其作用機制。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2. **腫瘤微環境的調節**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Research should focus on strategies to modulate the tumor microenvironment to enhance the efficacy of immunotherapies in HCC.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研究應集中於調節腫瘤微環境的策略，以提高HCC中免疫治療的療效。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3. **生物標記的臨床應用**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The identification and validation of biomarkers that predict response to immunotherapy could lead to more tailored treatment strategies for HCC patients.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識別和驗證預測免疫治療反應的生物標記，可能導致對HCC患者更具針對性的治療策略。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4. **長期療效的評估**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Longitudinal studies are needed to assess the long-term efficacy and safety of combined immunotherapy approaches in HCC.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需要進行縱向研究，以評估HCC中聯合免疫治療方法的長期療效和安全性。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5. **多中心臨床試驗的推進**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Multi-center clinical trials should be conducted to validate findings across diverse populations and settings, enhancing the generalizability of results.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應進行多中心臨床試驗，以驗證不同人群和環境中的研究結果，提高結果的普遍適用性。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731520" y="374904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88888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謝謝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45720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HCC Weekly Digest · 呂大教授 敬啟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肝癌免疫治療與局部消融文獻週報</dc:title>
  <dc:subject>PptxGenJS Presentation</dc:subject>
  <dc:creator>HCC Weekly Digest</dc:creator>
  <cp:lastModifiedBy>HCC Weekly Digest</cp:lastModifiedBy>
  <cp:revision>1</cp:revision>
  <dcterms:created xsi:type="dcterms:W3CDTF">2026-07-06T01:36:38Z</dcterms:created>
  <dcterms:modified xsi:type="dcterms:W3CDTF">2026-07-06T01:36:38Z</dcterms:modified>
</cp:coreProperties>
</file>