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jhep.2026.05.018" TargetMode="External"/><Relationship Id="rId2" Type="http://schemas.openxmlformats.org/officeDocument/2006/relationships/hyperlink" Target="https://doi.org/10.1016/j.jhep.2026.05.01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scib.2026.04.048" TargetMode="External"/><Relationship Id="rId2" Type="http://schemas.openxmlformats.org/officeDocument/2006/relationships/hyperlink" Target="https://doi.org/10.1016/j.scib.2026.04.0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88/1748-605X/ae70e2" TargetMode="External"/><Relationship Id="rId2" Type="http://schemas.openxmlformats.org/officeDocument/2006/relationships/hyperlink" Target="https://doi.org/10.1088/1748-605X/ae70e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3256-026-06037-4" TargetMode="External"/><Relationship Id="rId2" Type="http://schemas.openxmlformats.org/officeDocument/2006/relationships/hyperlink" Target="https://doi.org/10.1186/s13256-026-06037-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2885-026-16329-z" TargetMode="External"/><Relationship Id="rId2" Type="http://schemas.openxmlformats.org/officeDocument/2006/relationships/hyperlink" Target="https://doi.org/10.1186/s12885-026-16329-z"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96/fj.202502777R" TargetMode="External"/><Relationship Id="rId2" Type="http://schemas.openxmlformats.org/officeDocument/2006/relationships/hyperlink" Target="https://doi.org/10.1096/fj.202502777R"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link.springer.com/article/10.1186/s12885-025-15310-6" TargetMode="External"/><Relationship Id="rId2" Type="http://schemas.openxmlformats.org/officeDocument/2006/relationships/hyperlink" Target="https://link.springer.com/article/10.1186/s12885-025-15310-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86/s12967-026-08433-2" TargetMode="External"/><Relationship Id="rId2" Type="http://schemas.openxmlformats.org/officeDocument/2006/relationships/hyperlink" Target="https://doi.org/10.1186/s12967-026-08433-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2026-06-15 — 2026-06-22</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myeloid immunosuppressive phenotype defines primary refractoriness to atezoliz…</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MASLD and MASLD-associated HCC: emerging biomarkers and therapeutic avenues.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Biomimetic catalase-engineered black phosphorus nanosheets enhance photo-/radio-…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Autoimmune encephalitis induced by atezolizumab and bevacizumab therapy for adva…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Bioinformatics mining and clinical validation of CD274 as a prognostic indicator…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WNK4 Enhances Anti-PD-1 Resistance and Promotes Tumor Progression in Hepatocellu…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nutritional index and the survival of patients with hepatocellular ca…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Resveratrol derivative restores macrophage cholesterol homeostasis via stabilizi…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myeloid immunosuppressive phenotype defines primary refractoriness to atezolizumab Plus bevacizumab in hepatocellular caarcinoma.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約40%的HCC患者為初始耐藥。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PRef病例顯示獨特免疫抑制TME。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髓系細胞浸潤與治療失敗相關。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IFN-γ標誌下調為關鍵因素。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針對髓系細胞可提升治療反應。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Lombardi Pasquale, Ramon-Gil Erik, Raja Rabial Q et al.. Journal of hepatology. 2026-06-15 DOI: 10.1016/j.jhep.2026.05.018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MASLD and MASLD-associated HCC: emerging biomarkers and therapeutic avenues.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Science bulletin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MASLD為主要慢性肝病。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新興生物標記診斷預後。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FDA批准resmetirom和semaglutide。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MASLD管理的創新介入。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需要早期檢測與個性化醫療。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 Suki, Zhang Xiang, Li Lanjuan et al.. Science bulletin. 2026-06-12 DOI: 10.1016/j.scib.2026.04.048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Biomimetic catalase-engineered black phosphorus nanosheets enhance photo-/radio-therapy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materials (Bristol, England)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開發生物仿生納米平台，使用黑磷。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以催化酶功能化，增強氧氣供應。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工程化巨噬細胞膜以調節免疫。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顯著提高腫瘤對光療和放療的敏感性。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改善HCC治療效果的有前景策略。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Qiao Chunzhong, Lei Qiucheng, Lu Liangqi et al.. Biomedical materials (Bristol, England). 2026-06-17 DOI: 10.1088/1748-605X/ae70e2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經動脈化療栓塞加PD-1抑制劑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Autoimmune encephalitis induced by atezolizumab and bevacizumab therapy for advanced hepatocellular carcinoma: a case report.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medical case reports  ·  Case Report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Atezolizumab 和 bevacizumab 用於 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患者出現自體免疫性腦炎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症狀包括發燒和意識障礙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腦脊髓液顯示單核細胞增多</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類固醇治療促進快速康復</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Nomura Yoriko, Wada Yoshiyuki, Sasaki Shin et al.. Journal of medical case reports. 2026-06-19 DOI: 10.1186/s13256-026-06037-4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Bioinformatics mining and clinical validation of CD274 as a prognostic indicator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CD274與HCC預後相關。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使用生物信息學進行表達分析。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高CD274與更好生存率相關。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Hansen, Zhang Peijun, Wei Qiping et al.. BMC cancer. 2026-06-16 DOI: 10.1186/s12885-026-16329-z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WNK4 Enhances Anti-PD-1 Resistance and Promotes Tumor Progression in Hepatocellular Carcinoma by Reprogramming Cysteine Metabolism in Cancer-Associated Fibroblasts.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FASEB journal : official publication of the Federation of American Societies for Experimental Biology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WNK4上調與HCC進展相關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WNK4增強抗PD-1抵抗力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CAFs中的半胱氨酸代謝重編程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WNK4促進HCC細胞遷移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新發現WNK4-HMGB1-p53軸</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 Ge, Cui Yun-Long, Mu Han et al.. FASEB journal : official publication of the Federation of American Societies for Experimental Biology. 2026-06-12 DOI: 10.1096/fj.202502777R</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nutritional index and the survival of patients with hepatocellular carcinoma on immune checkpoint inhibitors: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預後營養指數(PNI)影響生存率。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HCC患者免疫檢查點抑制劑的綜合分析。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營養狀態與免疫反應相關。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Fu, W Peng, J Jiang. BMC cancer.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局部消融療法包括 RFA 和 MWA。</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EBRT 與局部消融結果不同。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Meta分析顯示 RFA 生存益處。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局部無進展生存是關鍵指標。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研究比較兩種治療方式的效果。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Resveratrol derivative restores macrophage cholesterol homeostasis via stabilizing xanthine oxidoreductase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TAMs 影響 HCC 免疫環境。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XOR 表達降低與預後不良相關。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Res616 穩定 XOR，恢復膽固醇平衡。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靶向 XOR 增強 CD8+ T 細胞反應。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與抗 PD-L1 治療聯合抑制腫瘤。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Liang Guojun, Zeng Lin, Huang Xiaohui et al.. Journal of translational medicine. 2026-06-19 DOI: 10.1186/s12967-026-08433-2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**初級抗藥性與免疫抑制表型的關聯**  </a:t>
            </a:r>
            <a:endParaRPr lang="en-US" sz="1200" dirty="0"/>
          </a:p>
          <a:p>
            <a:pPr indent="0" marL="0">
              <a:lnSpc>
                <a:spcPct val="150000"/>
              </a:lnSpc>
              <a:buNone/>
            </a:pPr>
            <a:r>
              <a:rPr lang="en-US" sz="1200" dirty="0">
                <a:solidFill>
                  <a:srgbClr val="FFFFFF"/>
                </a:solidFill>
              </a:rPr>
              <a:t>   **The association between primary refractoriness and myeloid immunosuppressive phenotype**  </a:t>
            </a:r>
            <a:endParaRPr lang="en-US" sz="1200" dirty="0"/>
          </a:p>
          <a:p>
            <a:pPr indent="0" marL="0">
              <a:lnSpc>
                <a:spcPct val="150000"/>
              </a:lnSpc>
              <a:buNone/>
            </a:pPr>
            <a:r>
              <a:rPr lang="en-US" sz="1200" dirty="0">
                <a:solidFill>
                  <a:srgbClr val="FFFFFF"/>
                </a:solidFill>
              </a:rPr>
              <a:t>   研究顯示，肝細胞癌患者對阿特珠單抗與貝伐單抗的初級抗藥性與骨髓來源的免疫抑制表型有關，這為未來的治療策略提供了新的見解。  </a:t>
            </a:r>
            <a:endParaRPr lang="en-US" sz="1200" dirty="0"/>
          </a:p>
          <a:p>
            <a:pPr indent="0" marL="0">
              <a:lnSpc>
                <a:spcPct val="150000"/>
              </a:lnSpc>
              <a:buNone/>
            </a:pPr>
            <a:r>
              <a:rPr lang="en-US" sz="1200" dirty="0">
                <a:solidFill>
                  <a:srgbClr val="FFFFFF"/>
                </a:solidFill>
              </a:rPr>
              <a:t>   The study reveals that primary refractoriness in HCC patients treated with atezolizumab and bevacizumab is linked to a myeloid immunosuppressive phenotype, providing new insights for future therapeutic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**代謝疾病與肝癌的生物標誌物**  </a:t>
            </a:r>
            <a:endParaRPr lang="en-US" sz="1200" dirty="0"/>
          </a:p>
          <a:p>
            <a:pPr indent="0" marL="0">
              <a:lnSpc>
                <a:spcPct val="150000"/>
              </a:lnSpc>
              <a:buNone/>
            </a:pPr>
            <a:r>
              <a:rPr lang="en-US" sz="1200" dirty="0">
                <a:solidFill>
                  <a:srgbClr val="FFFFFF"/>
                </a:solidFill>
              </a:rPr>
              <a:t>   **Emerging biomarkers in metabolic dysfunction-associated steatotic liver disease and HCC**  </a:t>
            </a:r>
            <a:endParaRPr lang="en-US" sz="1200" dirty="0"/>
          </a:p>
          <a:p>
            <a:pPr indent="0" marL="0">
              <a:lnSpc>
                <a:spcPct val="150000"/>
              </a:lnSpc>
              <a:buNone/>
            </a:pPr>
            <a:r>
              <a:rPr lang="en-US" sz="1200" dirty="0">
                <a:solidFill>
                  <a:srgbClr val="FFFFFF"/>
                </a:solidFill>
              </a:rPr>
              <a:t>   隨著對代謝功能障礙相關脂肪肝病（MASLD）的研究進展，新的生物標誌物和治療途徑逐漸浮現，這對於早期診斷和治療肝癌具有重要意義。  </a:t>
            </a:r>
            <a:endParaRPr lang="en-US" sz="1200" dirty="0"/>
          </a:p>
          <a:p>
            <a:pPr indent="0" marL="0">
              <a:lnSpc>
                <a:spcPct val="150000"/>
              </a:lnSpc>
              <a:buNone/>
            </a:pPr>
            <a:r>
              <a:rPr lang="en-US" sz="1200" dirty="0">
                <a:solidFill>
                  <a:srgbClr val="FFFFFF"/>
                </a:solidFill>
              </a:rPr>
              <a:t>   With advancements in research on metabolic dysfunction-associated steatotic liver disease (MASLD), emerging biomarkers and therapeutic avenues are becoming apparent, which are significant for early diagnosis and treatment of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**腫瘤微環境的影響**  </a:t>
            </a:r>
            <a:endParaRPr lang="en-US" sz="1200" dirty="0"/>
          </a:p>
          <a:p>
            <a:pPr indent="0" marL="0">
              <a:lnSpc>
                <a:spcPct val="150000"/>
              </a:lnSpc>
              <a:buNone/>
            </a:pPr>
            <a:r>
              <a:rPr lang="en-US" sz="1200" dirty="0">
                <a:solidFill>
                  <a:srgbClr val="FFFFFF"/>
                </a:solidFill>
              </a:rPr>
              <a:t>   **Impact of the tumor microenvironment on therapeutic efficacy**  </a:t>
            </a:r>
            <a:endParaRPr lang="en-US" sz="1200" dirty="0"/>
          </a:p>
          <a:p>
            <a:pPr indent="0" marL="0">
              <a:lnSpc>
                <a:spcPct val="150000"/>
              </a:lnSpc>
              <a:buNone/>
            </a:pPr>
            <a:r>
              <a:rPr lang="en-US" sz="1200" dirty="0">
                <a:solidFill>
                  <a:srgbClr val="FFFFFF"/>
                </a:solidFill>
              </a:rPr>
              <a:t>   腫瘤缺氧微環境顯著影響光療和放療的療效，改善腫瘤缺氧成為增強這些治療方法的潛在策略。  </a:t>
            </a:r>
            <a:endParaRPr lang="en-US" sz="1200" dirty="0"/>
          </a:p>
          <a:p>
            <a:pPr indent="0" marL="0">
              <a:lnSpc>
                <a:spcPct val="150000"/>
              </a:lnSpc>
              <a:buNone/>
            </a:pPr>
            <a:r>
              <a:rPr lang="en-US" sz="1200" dirty="0">
                <a:solidFill>
                  <a:srgbClr val="FFFFFF"/>
                </a:solidFill>
              </a:rPr>
              <a:t>   The hypoxic tumor microenvironment significantly impairs the efficacy of photo- and radiotherapy, making the amelioration of tumor hypoxia a promising strategy to enhance these treatment modalities.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**自體免疫性腦炎的風險**  </a:t>
            </a:r>
            <a:endParaRPr lang="en-US" sz="1200" dirty="0"/>
          </a:p>
          <a:p>
            <a:pPr indent="0" marL="0">
              <a:lnSpc>
                <a:spcPct val="150000"/>
              </a:lnSpc>
              <a:buNone/>
            </a:pPr>
            <a:r>
              <a:rPr lang="en-US" sz="1200" dirty="0">
                <a:solidFill>
                  <a:srgbClr val="FFFFFF"/>
                </a:solidFill>
              </a:rPr>
              <a:t>   **Risk of autoimmune encephalitis with immune checkpoint inhibitors**  </a:t>
            </a:r>
            <a:endParaRPr lang="en-US" sz="1200" dirty="0"/>
          </a:p>
          <a:p>
            <a:pPr indent="0" marL="0">
              <a:lnSpc>
                <a:spcPct val="150000"/>
              </a:lnSpc>
              <a:buNone/>
            </a:pPr>
            <a:r>
              <a:rPr lang="en-US" sz="1200" dirty="0">
                <a:solidFill>
                  <a:srgbClr val="FFFFFF"/>
                </a:solidFill>
              </a:rPr>
              <a:t>   阿特珠單抗和貝伐單抗的聯合療法可能導致嚴重的免疫相關不良事件，如自體免疫性腦炎，需在臨床使用中加以注意。  </a:t>
            </a:r>
            <a:endParaRPr lang="en-US" sz="1200" dirty="0"/>
          </a:p>
          <a:p>
            <a:pPr indent="0" marL="0">
              <a:lnSpc>
                <a:spcPct val="150000"/>
              </a:lnSpc>
              <a:buNone/>
            </a:pPr>
            <a:r>
              <a:rPr lang="en-US" sz="1200" dirty="0">
                <a:solidFill>
                  <a:srgbClr val="FFFFFF"/>
                </a:solidFill>
              </a:rPr>
              <a:t>   The combination therapy of atezolizumab and bevacizumab may lead to severe immune-related adverse events, such as autoimmune encephalitis, which requires careful attention in clinical use.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**預後營養指數的潛在價值**  </a:t>
            </a:r>
            <a:endParaRPr lang="en-US" sz="1200" dirty="0"/>
          </a:p>
          <a:p>
            <a:pPr indent="0" marL="0">
              <a:lnSpc>
                <a:spcPct val="150000"/>
              </a:lnSpc>
              <a:buNone/>
            </a:pPr>
            <a:r>
              <a:rPr lang="en-US" sz="1200" dirty="0">
                <a:solidFill>
                  <a:srgbClr val="FFFFFF"/>
                </a:solidFill>
              </a:rPr>
              <a:t>   **Potential value of prognostic nutritional index in immunotherapy**  </a:t>
            </a:r>
            <a:endParaRPr lang="en-US" sz="1200" dirty="0"/>
          </a:p>
          <a:p>
            <a:pPr indent="0" marL="0">
              <a:lnSpc>
                <a:spcPct val="150000"/>
              </a:lnSpc>
              <a:buNone/>
            </a:pPr>
            <a:r>
              <a:rPr lang="en-US" sz="1200" dirty="0">
                <a:solidFill>
                  <a:srgbClr val="FFFFFF"/>
                </a:solidFill>
              </a:rPr>
              <a:t>   預後營養指數可能與接受免疫檢查點抑制劑的肝細胞癌患者的生存率相關，提示營養狀態在治療中的重要性。</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The prognostic nutritional index may be associated with survival in HCC patients treated with immune checkpoint inhibitors, highlighting the importance of nutritional status in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**針對免疫抑制表型的治療策略**  </a:t>
            </a:r>
            <a:endParaRPr lang="en-US" sz="1200" dirty="0"/>
          </a:p>
          <a:p>
            <a:pPr indent="0" marL="0">
              <a:lnSpc>
                <a:spcPct val="150000"/>
              </a:lnSpc>
              <a:buNone/>
            </a:pPr>
            <a:r>
              <a:rPr lang="en-US" sz="1200" dirty="0">
                <a:solidFill>
                  <a:srgbClr val="FFFFFF"/>
                </a:solidFill>
              </a:rPr>
              <a:t>   **Therapeutic strategies targeting immunosuppressive phenotypes**  </a:t>
            </a:r>
            <a:endParaRPr lang="en-US" sz="1200" dirty="0"/>
          </a:p>
          <a:p>
            <a:pPr indent="0" marL="0">
              <a:lnSpc>
                <a:spcPct val="150000"/>
              </a:lnSpc>
              <a:buNone/>
            </a:pPr>
            <a:r>
              <a:rPr lang="en-US" sz="1200" dirty="0">
                <a:solidFill>
                  <a:srgbClr val="FFFFFF"/>
                </a:solidFill>
              </a:rPr>
              <a:t>   需要進一步研究針對骨髓來源免疫抑制表型的治療策略，以克服肝細胞癌的初級抗藥性。  </a:t>
            </a:r>
            <a:endParaRPr lang="en-US" sz="1200" dirty="0"/>
          </a:p>
          <a:p>
            <a:pPr indent="0" marL="0">
              <a:lnSpc>
                <a:spcPct val="150000"/>
              </a:lnSpc>
              <a:buNone/>
            </a:pPr>
            <a:r>
              <a:rPr lang="en-US" sz="1200" dirty="0">
                <a:solidFill>
                  <a:srgbClr val="FFFFFF"/>
                </a:solidFill>
              </a:rPr>
              <a:t>   Further studies are needed to develop therapeutic strategies targeting myeloid immunosuppressive phenotypes to overcome primary refractoriness in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**MASLD與HCC的關聯機制**  </a:t>
            </a:r>
            <a:endParaRPr lang="en-US" sz="1200" dirty="0"/>
          </a:p>
          <a:p>
            <a:pPr indent="0" marL="0">
              <a:lnSpc>
                <a:spcPct val="150000"/>
              </a:lnSpc>
              <a:buNone/>
            </a:pPr>
            <a:r>
              <a:rPr lang="en-US" sz="1200" dirty="0">
                <a:solidFill>
                  <a:srgbClr val="FFFFFF"/>
                </a:solidFill>
              </a:rPr>
              <a:t>   **Mechanistic studies on the link between MASLD and HCC**  </a:t>
            </a:r>
            <a:endParaRPr lang="en-US" sz="1200" dirty="0"/>
          </a:p>
          <a:p>
            <a:pPr indent="0" marL="0">
              <a:lnSpc>
                <a:spcPct val="150000"/>
              </a:lnSpc>
              <a:buNone/>
            </a:pPr>
            <a:r>
              <a:rPr lang="en-US" sz="1200" dirty="0">
                <a:solidFill>
                  <a:srgbClr val="FFFFFF"/>
                </a:solidFill>
              </a:rPr>
              <a:t>   探索代謝功能障礙相關脂肪肝病（MASLD）與肝細胞癌之間的關聯機制，以促進早期診斷和干預。  </a:t>
            </a:r>
            <a:endParaRPr lang="en-US" sz="1200" dirty="0"/>
          </a:p>
          <a:p>
            <a:pPr indent="0" marL="0">
              <a:lnSpc>
                <a:spcPct val="150000"/>
              </a:lnSpc>
              <a:buNone/>
            </a:pPr>
            <a:r>
              <a:rPr lang="en-US" sz="1200" dirty="0">
                <a:solidFill>
                  <a:srgbClr val="FFFFFF"/>
                </a:solidFill>
              </a:rPr>
              <a:t>   Investigating the mechanistic links between metabolic dysfunction-associated steatotic liver disease (MASLD) and HCC to facilitate early diagnosis and intervention.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**改善腫瘤微環境的策略**  </a:t>
            </a:r>
            <a:endParaRPr lang="en-US" sz="1200" dirty="0"/>
          </a:p>
          <a:p>
            <a:pPr indent="0" marL="0">
              <a:lnSpc>
                <a:spcPct val="150000"/>
              </a:lnSpc>
              <a:buNone/>
            </a:pPr>
            <a:r>
              <a:rPr lang="en-US" sz="1200" dirty="0">
                <a:solidFill>
                  <a:srgbClr val="FFFFFF"/>
                </a:solidFill>
              </a:rPr>
              <a:t>   **Strategies to improve the tumor microenvironment**  </a:t>
            </a:r>
            <a:endParaRPr lang="en-US" sz="1200" dirty="0"/>
          </a:p>
          <a:p>
            <a:pPr indent="0" marL="0">
              <a:lnSpc>
                <a:spcPct val="150000"/>
              </a:lnSpc>
              <a:buNone/>
            </a:pPr>
            <a:r>
              <a:rPr lang="en-US" sz="1200" dirty="0">
                <a:solidFill>
                  <a:srgbClr val="FFFFFF"/>
                </a:solidFill>
              </a:rPr>
              <a:t>   開發改善腫瘤微環境的策略，以增強光療和放療在肝細胞癌中的療效。  </a:t>
            </a:r>
            <a:endParaRPr lang="en-US" sz="1200" dirty="0"/>
          </a:p>
          <a:p>
            <a:pPr indent="0" marL="0">
              <a:lnSpc>
                <a:spcPct val="150000"/>
              </a:lnSpc>
              <a:buNone/>
            </a:pPr>
            <a:r>
              <a:rPr lang="en-US" sz="1200" dirty="0">
                <a:solidFill>
                  <a:srgbClr val="FFFFFF"/>
                </a:solidFill>
              </a:rPr>
              <a:t>   Developing strategies to improve the tumor microenvironment to enhance the efficacy of photo- and radiotherapy in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**免疫相關不良事件的監測與管理**  </a:t>
            </a:r>
            <a:endParaRPr lang="en-US" sz="1200" dirty="0"/>
          </a:p>
          <a:p>
            <a:pPr indent="0" marL="0">
              <a:lnSpc>
                <a:spcPct val="150000"/>
              </a:lnSpc>
              <a:buNone/>
            </a:pPr>
            <a:r>
              <a:rPr lang="en-US" sz="1200" dirty="0">
                <a:solidFill>
                  <a:srgbClr val="FFFFFF"/>
                </a:solidFill>
              </a:rPr>
              <a:t>   **Monitoring and management of immune-related adverse events**  </a:t>
            </a:r>
            <a:endParaRPr lang="en-US" sz="1200" dirty="0"/>
          </a:p>
          <a:p>
            <a:pPr indent="0" marL="0">
              <a:lnSpc>
                <a:spcPct val="150000"/>
              </a:lnSpc>
              <a:buNone/>
            </a:pPr>
            <a:r>
              <a:rPr lang="en-US" sz="1200" dirty="0">
                <a:solidFill>
                  <a:srgbClr val="FFFFFF"/>
                </a:solidFill>
              </a:rPr>
              <a:t>   研究如何有效監測和管理接受免疫檢查點抑制劑的患者中出現的免疫相關不良事件。  </a:t>
            </a:r>
            <a:endParaRPr lang="en-US" sz="1200" dirty="0"/>
          </a:p>
          <a:p>
            <a:pPr indent="0" marL="0">
              <a:lnSpc>
                <a:spcPct val="150000"/>
              </a:lnSpc>
              <a:buNone/>
            </a:pPr>
            <a:r>
              <a:rPr lang="en-US" sz="1200" dirty="0">
                <a:solidFill>
                  <a:srgbClr val="FFFFFF"/>
                </a:solidFill>
              </a:rPr>
              <a:t>   Researching effective monitoring and management of immune-related adverse events in patients receiving immune checkpoint inhibitors.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**營養狀態與治療反應的關聯性**  </a:t>
            </a:r>
            <a:endParaRPr lang="en-US" sz="1200" dirty="0"/>
          </a:p>
          <a:p>
            <a:pPr indent="0" marL="0">
              <a:lnSpc>
                <a:spcPct val="150000"/>
              </a:lnSpc>
              <a:buNone/>
            </a:pPr>
            <a:r>
              <a:rPr lang="en-US" sz="1200" dirty="0">
                <a:solidFill>
                  <a:srgbClr val="FFFFFF"/>
                </a:solidFill>
              </a:rPr>
              <a:t>   **Correlation between nutritional status and treatment response**  </a:t>
            </a:r>
            <a:endParaRPr lang="en-US" sz="1200" dirty="0"/>
          </a:p>
          <a:p>
            <a:pPr indent="0" marL="0">
              <a:lnSpc>
                <a:spcPct val="150000"/>
              </a:lnSpc>
              <a:buNone/>
            </a:pPr>
            <a:r>
              <a:rPr lang="en-US" sz="1200" dirty="0">
                <a:solidFill>
                  <a:srgbClr val="FFFFFF"/>
                </a:solidFill>
              </a:rPr>
              <a:t>   進一步研究預後營養指數與肝細胞癌患者對免疫治療反應之間的關聯性，以優化治療方案。  </a:t>
            </a:r>
            <a:endParaRPr lang="en-US" sz="1200" dirty="0"/>
          </a:p>
          <a:p>
            <a:pPr indent="0" marL="0">
              <a:lnSpc>
                <a:spcPct val="150000"/>
              </a:lnSpc>
              <a:buNone/>
            </a:pPr>
            <a:r>
              <a:rPr lang="en-US" sz="1200" dirty="0">
                <a:solidFill>
                  <a:srgbClr val="FFFFFF"/>
                </a:solidFill>
              </a:rPr>
              <a:t>   Further investigating the correlation between prognostic nutritional index and treatment response in HCC patients to optimize therapeutic regimens.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2026-06-22T01:52:05Z</dcterms:created>
  <dcterms:modified xsi:type="dcterms:W3CDTF">2026-06-22T01:52:05Z</dcterms:modified>
</cp:coreProperties>
</file>