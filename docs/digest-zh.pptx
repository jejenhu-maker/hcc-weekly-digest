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doi.org/10.1016/S0140-6736(26)01252-3" TargetMode="External"/><Relationship Id="rId2" Type="http://schemas.openxmlformats.org/officeDocument/2006/relationships/hyperlink" Target="https://doi.org/10.1016/S0140-6736(26)01252-3" TargetMode="External"/><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doi.org/10.1093/jncics/pkag084" TargetMode="External"/><Relationship Id="rId2" Type="http://schemas.openxmlformats.org/officeDocument/2006/relationships/hyperlink" Target="https://doi.org/10.1093/jncics/pkag084" TargetMode="External"/><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doi.org/10.1016/j.isci.2026.117084" TargetMode="External"/><Relationship Id="rId2" Type="http://schemas.openxmlformats.org/officeDocument/2006/relationships/hyperlink" Target="https://doi.org/10.1016/j.isci.2026.117084" TargetMode="Externa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doi.org/10.1158/1078-0432.CCR-26-1102" TargetMode="External"/><Relationship Id="rId2" Type="http://schemas.openxmlformats.org/officeDocument/2006/relationships/hyperlink" Target="https://doi.org/10.1158/1078-0432.CCR-26-1102" TargetMode="External"/><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www.nature.com/articles/s41392-025-02498-z" TargetMode="External"/><Relationship Id="rId2" Type="http://schemas.openxmlformats.org/officeDocument/2006/relationships/hyperlink" Target="https://www.nature.com/articles/s41392-025-02498-z" TargetMode="External"/><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www.nature.com/articles/s41392-026-02708-2" TargetMode="External"/><Relationship Id="rId2" Type="http://schemas.openxmlformats.org/officeDocument/2006/relationships/hyperlink" Target="https://www.nature.com/articles/s41392-026-02708-2" TargetMode="External"/><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doi.org/10.2169/internalmedicine.7369-26" TargetMode="External"/><Relationship Id="rId2" Type="http://schemas.openxmlformats.org/officeDocument/2006/relationships/hyperlink" Target="https://doi.org/10.2169/internalmedicine.7369-26" TargetMode="External"/><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www.tandfonline.com/doi/abs/10.1080/02656736.2026.2713200" TargetMode="External"/><Relationship Id="rId2" Type="http://schemas.openxmlformats.org/officeDocument/2006/relationships/hyperlink" Target="https://www.tandfonline.com/doi/abs/10.1080/02656736.2026.2713200" TargetMode="External"/><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hyperlink" Target="https://ascopubs.org/doi/abs/10.1200/JCO.2026.44.2_suppl.547" TargetMode="External"/><Relationship Id="rId2" Type="http://schemas.openxmlformats.org/officeDocument/2006/relationships/hyperlink" Target="https://ascopubs.org/doi/abs/10.1200/JCO.2026.44.2_suppl.547" TargetMode="External"/><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hyperlink" Target="https://doi.org/10.1038/s41416-026-03566-z" TargetMode="External"/><Relationship Id="rId2" Type="http://schemas.openxmlformats.org/officeDocument/2006/relationships/hyperlink" Target="https://doi.org/10.1038/s41416-026-03566-z" TargetMode="External"/><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1A1A"/>
        </a:solidFill>
      </p:bgPr>
    </p:bg>
    <p:spTree>
      <p:nvGrpSpPr>
        <p:cNvPr id="1" name=""/>
        <p:cNvGrpSpPr/>
        <p:nvPr/>
      </p:nvGrpSpPr>
      <p:grpSpPr>
        <a:xfrm>
          <a:off x="0" y="0"/>
          <a:ext cx="0" cy="0"/>
          <a:chOff x="0" y="0"/>
          <a:chExt cx="0" cy="0"/>
        </a:xfrm>
      </p:grpSpPr>
      <p:sp>
        <p:nvSpPr>
          <p:cNvPr id="2" name="Text 0"/>
          <p:cNvSpPr/>
          <p:nvPr/>
        </p:nvSpPr>
        <p:spPr>
          <a:xfrm>
            <a:off x="731520" y="457200"/>
            <a:ext cx="5486400" cy="0"/>
          </a:xfrm>
          <a:prstGeom prst="rect">
            <a:avLst/>
          </a:prstGeom>
          <a:noFill/>
          <a:ln/>
        </p:spPr>
        <p:txBody>
          <a:bodyPr wrap="square" lIns="0" tIns="0" rIns="0" bIns="0" rtlCol="0" anchor="ctr"/>
          <a:lstStyle/>
          <a:p>
            <a:pPr indent="0" marL="0">
              <a:buNone/>
            </a:pPr>
            <a:r>
              <a:rPr lang="en-US" sz="900" b="1" spc="600" kern="0" dirty="0">
                <a:solidFill>
                  <a:srgbClr val="888888"/>
                </a:solidFill>
              </a:rPr>
              <a:t>WEEKLY DIGEST</a:t>
            </a:r>
            <a:endParaRPr lang="en-US" sz="900" dirty="0"/>
          </a:p>
        </p:txBody>
      </p:sp>
      <p:sp>
        <p:nvSpPr>
          <p:cNvPr id="3" name="Text 1"/>
          <p:cNvSpPr/>
          <p:nvPr/>
        </p:nvSpPr>
        <p:spPr>
          <a:xfrm>
            <a:off x="731520" y="1371600"/>
            <a:ext cx="10058400" cy="0"/>
          </a:xfrm>
          <a:prstGeom prst="rect">
            <a:avLst/>
          </a:prstGeom>
          <a:noFill/>
          <a:ln/>
        </p:spPr>
        <p:txBody>
          <a:bodyPr wrap="square" rtlCol="0" anchor="ctr"/>
          <a:lstStyle/>
          <a:p>
            <a:pPr indent="0" marL="0">
              <a:lnSpc>
                <a:spcPct val="130000"/>
              </a:lnSpc>
              <a:buNone/>
            </a:pPr>
            <a:r>
              <a:rPr lang="en-US" sz="4400" b="1" dirty="0">
                <a:solidFill>
                  <a:srgbClr val="FFFFFF"/>
                </a:solidFill>
                <a:latin typeface="Arial" pitchFamily="34" charset="0"/>
                <a:ea typeface="Arial" pitchFamily="34" charset="-122"/>
                <a:cs typeface="Arial" pitchFamily="34" charset="-120"/>
              </a:rPr>
              <a:t>HCC Weekly Digest</a:t>
            </a:r>
            <a:endParaRPr lang="en-US" sz="4400" dirty="0"/>
          </a:p>
          <a:p>
            <a:pPr indent="0" marL="0">
              <a:lnSpc>
                <a:spcPct val="130000"/>
              </a:lnSpc>
              <a:buNone/>
            </a:pPr>
            <a:r>
              <a:rPr lang="en-US" sz="1800" dirty="0">
                <a:solidFill>
                  <a:srgbClr val="FCA5A5"/>
                </a:solidFill>
                <a:latin typeface="Microsoft JhengHei" pitchFamily="34" charset="0"/>
                <a:ea typeface="Microsoft JhengHei" pitchFamily="34" charset="-122"/>
                <a:cs typeface="Microsoft JhengHei" pitchFamily="34" charset="-120"/>
              </a:rPr>
              <a:t>肝膽腸胃內科 — 肝癌免疫治療與局部消融</a:t>
            </a:r>
            <a:endParaRPr lang="en-US" sz="4400" dirty="0"/>
          </a:p>
          <a:p>
            <a:pPr indent="0" marL="0">
              <a:lnSpc>
                <a:spcPct val="130000"/>
              </a:lnSpc>
              <a:buNone/>
            </a:pPr>
            <a:r>
              <a:rPr lang="en-US" sz="2000" dirty="0">
                <a:solidFill>
                  <a:srgbClr val="FFFFFF"/>
                </a:solidFill>
                <a:latin typeface="Microsoft JhengHei" pitchFamily="34" charset="0"/>
                <a:ea typeface="Microsoft JhengHei" pitchFamily="34" charset="-122"/>
                <a:cs typeface="Microsoft JhengHei" pitchFamily="34" charset="-120"/>
              </a:rPr>
              <a:t>呂大教授 敬啟</a:t>
            </a:r>
            <a:endParaRPr lang="en-US" sz="4400" dirty="0"/>
          </a:p>
        </p:txBody>
      </p:sp>
      <p:sp>
        <p:nvSpPr>
          <p:cNvPr id="4" name="Text 2"/>
          <p:cNvSpPr/>
          <p:nvPr/>
        </p:nvSpPr>
        <p:spPr>
          <a:xfrm>
            <a:off x="731520" y="5029200"/>
            <a:ext cx="5486400" cy="0"/>
          </a:xfrm>
          <a:prstGeom prst="rect">
            <a:avLst/>
          </a:prstGeom>
          <a:noFill/>
          <a:ln/>
        </p:spPr>
        <p:txBody>
          <a:bodyPr wrap="square" lIns="0" tIns="0" rIns="0" bIns="0" rtlCol="0" anchor="ctr"/>
          <a:lstStyle/>
          <a:p>
            <a:pPr indent="0" marL="0">
              <a:buNone/>
            </a:pPr>
            <a:r>
              <a:rPr lang="en-US" sz="1400" dirty="0">
                <a:solidFill>
                  <a:srgbClr val="888888"/>
                </a:solidFill>
              </a:rPr>
              <a:t>2026-08-17 — 2026-08-24</a:t>
            </a:r>
            <a:endParaRPr lang="en-US" sz="1400" dirty="0"/>
          </a:p>
        </p:txBody>
      </p:sp>
      <p:sp>
        <p:nvSpPr>
          <p:cNvPr id="5" name="Text 3"/>
          <p:cNvSpPr/>
          <p:nvPr/>
        </p:nvSpPr>
        <p:spPr>
          <a:xfrm>
            <a:off x="731520" y="5486400"/>
            <a:ext cx="5486400" cy="0"/>
          </a:xfrm>
          <a:prstGeom prst="rect">
            <a:avLst/>
          </a:prstGeom>
          <a:noFill/>
          <a:ln/>
        </p:spPr>
        <p:txBody>
          <a:bodyPr wrap="square" lIns="0" tIns="0" rIns="0" bIns="0" rtlCol="0" anchor="ctr"/>
          <a:lstStyle/>
          <a:p>
            <a:pPr indent="0" marL="0">
              <a:buNone/>
            </a:pPr>
            <a:r>
              <a:rPr lang="en-US" sz="1200" b="1" spc="200" kern="0" dirty="0">
                <a:solidFill>
                  <a:srgbClr val="DC2626"/>
                </a:solidFill>
              </a:rPr>
              <a:t>10 篇精選論文</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65760"/>
            <a:ext cx="3657600" cy="0"/>
          </a:xfrm>
          <a:prstGeom prst="rect">
            <a:avLst/>
          </a:prstGeom>
          <a:noFill/>
          <a:ln/>
        </p:spPr>
        <p:txBody>
          <a:bodyPr wrap="square" lIns="0" tIns="0" rIns="0" bIns="0" rtlCol="0" anchor="ctr"/>
          <a:lstStyle/>
          <a:p>
            <a:pPr indent="0" marL="0">
              <a:buNone/>
            </a:pPr>
            <a:r>
              <a:rPr lang="en-US" sz="1000" b="1" spc="400" kern="0" dirty="0">
                <a:solidFill>
                  <a:srgbClr val="888888"/>
                </a:solidFill>
              </a:rPr>
              <a:t>目錄</a:t>
            </a:r>
            <a:endParaRPr lang="en-US" sz="1000" dirty="0"/>
          </a:p>
        </p:txBody>
      </p:sp>
      <p:sp>
        <p:nvSpPr>
          <p:cNvPr id="3" name="Text 1"/>
          <p:cNvSpPr/>
          <p:nvPr/>
        </p:nvSpPr>
        <p:spPr>
          <a:xfrm>
            <a:off x="731520" y="1005840"/>
            <a:ext cx="10058400" cy="0"/>
          </a:xfrm>
          <a:prstGeom prst="rect">
            <a:avLst/>
          </a:prstGeom>
          <a:noFill/>
          <a:ln/>
        </p:spPr>
        <p:txBody>
          <a:bodyPr wrap="square" rtlCol="0" anchor="ctr"/>
          <a:lstStyle/>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01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Liver resection after atezolizumab and bevacizumab versus maintenance therapy fo…</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02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Integrating efficacy and safety profile in advanced HCC: A network meta-analysis…</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03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Adjuvant and neoadjuvant therapies in HCC: Time to go perioperative?</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04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Baseline circulating and tumor &amp;#x3b3;&amp;#x3b4; T cells and early circulating CD8&amp;…</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05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 plus transarterial chemoembolization and PD-1 inhibitors as conversion therapi…</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06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 (PD-1 inhibitor) plus lenvatinib as conversion therapy followed by sequential …</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07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A Case of Unresectable Hepatocellular Carcinoma Responding to Durvalumab Plus Tr…</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08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Cryoablation versus radiofrequency ablation for hepatocellular carcinoma: a syst…</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09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Radiotherapy versus local ablation therapy for the treatment of hepatocellular c…</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10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Kdm2a histone demethylase ablation restores anti-tumor immunogenicity in liver c…</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01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01</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Liver resection after atezolizumab and bevacizumab versus maintenance therapy for locally advanced hepatocellular carcinoma (TALENTOP): a multicentre, open-label, randomised, phase 3 trial.</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Lancet (London, England)  ·  IF 41.6  ·  RCT Phase 3</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手術可延長治療失敗時間。</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共招募489名初治患者。</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手術組不良事件較多。</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Sun Hui-Chuan, Zhu Xiao-Dong, Shen Feng et al.. Lancet (London, England). 2026-08-20 DOI: 10.1016/S0140-6736(26)01252-3</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02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02</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Integrating efficacy and safety profile in advanced HCC: A network meta-analysis of first-line systemic therapies.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JNCI cancer spectrum  ·  RCT Phase 3  ·  🌏 Asia</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第一線療法的網絡Meta分析</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分析17項研究共12,727名患者</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Nivolumab-Ipilimumab顯示最佳整體生存率</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亞組分析突顯治療變異</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強調個性化HCC管理的必要性</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Chua Wei Yu, Zhao Joseph J, Lee Choong-Kun et al.. JNCI cancer spectrum. 2026-08-21 DOI: 10.1093/jncics/pkag084</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03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03</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Adjuvant and neoadjuvant therapies in HCC: Time to go perioperative?</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iScience  ·  RCT Phase 3</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HCC治療後復發率高。</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ICIs在晚期HCC中有潛力。</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新輔助療法增強免疫反應。</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圍手術策略可能改善結果。</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挑戰包括病人選擇和毒性。</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Pantzios Spyridon, Germanidis Georgios, Elefsiniotis Ioannis. iScience. 2026-08-20 DOI: 10.1016/j.isci.2026.117084</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04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04</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Baseline circulating and tumor &amp;#x3b3;&amp;#x3b4; T cells and early circulating CD8&amp;#x207a;PD1&amp;#x207a; expansion predict response to Atezolizumab-bevacizumab in HCC.</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Clinical cancer research : an official journal of the American Association for Cancer Research  ·  IF 11.5  ·  Prospective Study</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高基線γδ T細胞預測更佳結果。</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早期CD8+PD-1+擴增與長期PFS相關。</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增加CD8+TIGIT+細胞顯示治療抗性。</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Galy-Fauroux Isabelle, Asif-Laidin Amna, Evain Manon et al.. Clinical cancer research : an official journal of the American Association for Cancer Research. 2026-08-17 DOI: 10.1158/1078-0432.CCR-26-1102</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05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05</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 plus transarterial chemoembolization and PD-1 inhibitors as conversion therapies for unresectable intermediate-advanced hepatocellular carcinoma: a phase 2 trial …</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 and Targeted Therapy  ·  RCT Phase 2</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針對不可切除HCC的組合療法</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使用肝動脈化療栓塞(TACE)</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PD-1抑制劑提升療效</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第二期試驗顯示良好結果</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轉化為可切除疾病的潛力</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X Zhang, H Cai, W Peng. … and Targeted Therapy.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06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06</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 (PD-1 inhibitor) plus lenvatinib as conversion therapy followed by sequential surgery (SILENSES) for advanced unresectable hepatocellular carcinoma: a phase II …</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 and Targeted Therapy  ·  RCT Phase 2</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研究評估PD-1抑制劑加lenvatinib</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重點在不可切除肝細胞癌</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序列手術改善長期生存率</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II期試驗顯示良好結果</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可能成為晚期HCC新標準</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S Lu, W Zhang, J Li. … and Targeted Therapy.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07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07</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A Case of Unresectable Hepatocellular Carcinoma Responding to Durvalumab Plus Tremelimumab after Lenvatinib Treatment.</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Internal medicine (Tokyo, Japan)  ·  🌏 Asia</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報告一例不可切除HCC</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使用Durvalumab加Tremelimumab</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患者對lenvatinib不耐受</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腫瘤標記先升後降</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影像學顯示腫瘤縮小</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Sueda Saki, Kawaoka Tomokazu, Fujii Yasutoshi et al.. Internal medicine (Tokyo, Japan). 2026-08-19 DOI: 10.2169/internalmedicine.7369-26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08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08</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Cryoablation versus radiofrequency ablation for hepatocellular carcinoma: a systematic review and meta-analysis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International Journal of …  ·  Meta-Analysis</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冷凍消融有效控制腫瘤。</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與射頻消融比較效果。</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重點在早期肝細胞癌。</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治療結果的系統評估。</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主要腫瘤&gt;2公分的研究。</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K Mao, Y Wang, W Yao. International Journal of ….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09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09</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Radiotherapy versus local ablation therapy for the treatment of hepatocellular carcinoma: A systematic review and meta-analysis.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Journal of Clinical …  ·  Meta-Analysis</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放射治療與局部消融比較</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聚焦肝細胞癌治療</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局部無進展生存分析</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包含射頻及微波消融</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進行系統性回顧與統合分析</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SH Bae, SH Choi, SM Yoon. Journal of Clinical ….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10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10</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Kdm2a histone demethylase ablation restores anti-tumor immunogenicity in liver cancer.</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British journal of cancer  ·  IF 6.4  ·  Basic Research</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KDM2A沉默增強免疫通路。</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高KDM2A與腫瘤分化差相關。</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KDM2A缺失增加CD8+ T細胞浸潤。</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Gragnani Laura, Lulli Matteo, Caini Patrizio et al.. British journal of cancer. 2026-08-19 DOI: 10.1038/s41416-026-03566-z</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7F1D1D"/>
        </a:solidFill>
      </p:bgPr>
    </p:bg>
    <p:spTree>
      <p:nvGrpSpPr>
        <p:cNvPr id="1" name=""/>
        <p:cNvGrpSpPr/>
        <p:nvPr/>
      </p:nvGrpSpPr>
      <p:grpSpPr>
        <a:xfrm>
          <a:off x="0" y="0"/>
          <a:ext cx="0" cy="0"/>
          <a:chOff x="0" y="0"/>
          <a:chExt cx="0" cy="0"/>
        </a:xfrm>
      </p:grpSpPr>
      <p:sp>
        <p:nvSpPr>
          <p:cNvPr id="2" name="Text 0"/>
          <p:cNvSpPr/>
          <p:nvPr/>
        </p:nvSpPr>
        <p:spPr>
          <a:xfrm>
            <a:off x="731520" y="365760"/>
            <a:ext cx="5486400" cy="0"/>
          </a:xfrm>
          <a:prstGeom prst="rect">
            <a:avLst/>
          </a:prstGeom>
          <a:noFill/>
          <a:ln/>
        </p:spPr>
        <p:txBody>
          <a:bodyPr wrap="square" lIns="0" tIns="0" rIns="0" bIns="0" rtlCol="0" anchor="ctr"/>
          <a:lstStyle/>
          <a:p>
            <a:pPr indent="0" marL="0">
              <a:buNone/>
            </a:pPr>
            <a:r>
              <a:rPr lang="en-US" sz="900" spc="600" kern="0" dirty="0">
                <a:solidFill>
                  <a:srgbClr val="888888"/>
                </a:solidFill>
              </a:rPr>
              <a:t>綜合啟示</a:t>
            </a:r>
            <a:endParaRPr lang="en-US" sz="900" dirty="0"/>
          </a:p>
        </p:txBody>
      </p:sp>
      <p:sp>
        <p:nvSpPr>
          <p:cNvPr id="3" name="Text 1"/>
          <p:cNvSpPr/>
          <p:nvPr/>
        </p:nvSpPr>
        <p:spPr>
          <a:xfrm>
            <a:off x="731520" y="822960"/>
            <a:ext cx="10058400" cy="0"/>
          </a:xfrm>
          <a:prstGeom prst="rect">
            <a:avLst/>
          </a:prstGeom>
          <a:noFill/>
          <a:ln/>
        </p:spPr>
        <p:txBody>
          <a:bodyPr wrap="square" lIns="0" tIns="0" rIns="0" bIns="0" rtlCol="0" anchor="ctr"/>
          <a:lstStyle/>
          <a:p>
            <a:pPr indent="0" marL="0">
              <a:buNone/>
            </a:pPr>
            <a:r>
              <a:rPr lang="en-US" sz="2400" b="1" dirty="0">
                <a:solidFill>
                  <a:srgbClr val="FFFFFF"/>
                </a:solidFill>
                <a:latin typeface="Microsoft JhengHei" pitchFamily="34" charset="0"/>
                <a:ea typeface="Microsoft JhengHei" pitchFamily="34" charset="-122"/>
                <a:cs typeface="Microsoft JhengHei" pitchFamily="34" charset="-120"/>
              </a:rPr>
              <a:t>綜合啟示與未來研究方向 (1/2)</a:t>
            </a:r>
            <a:endParaRPr lang="en-US" sz="2400" dirty="0"/>
          </a:p>
        </p:txBody>
      </p:sp>
      <p:sp>
        <p:nvSpPr>
          <p:cNvPr id="4" name="Text 2"/>
          <p:cNvSpPr/>
          <p:nvPr/>
        </p:nvSpPr>
        <p:spPr>
          <a:xfrm>
            <a:off x="731520" y="1463040"/>
            <a:ext cx="10515600" cy="0"/>
          </a:xfrm>
          <a:prstGeom prst="rect">
            <a:avLst/>
          </a:prstGeom>
          <a:noFill/>
          <a:ln/>
        </p:spPr>
        <p:txBody>
          <a:bodyPr wrap="square" rtlCol="0" anchor="ctr"/>
          <a:lstStyle/>
          <a:p>
            <a:pPr indent="0" marL="0">
              <a:lnSpc>
                <a:spcPct val="150000"/>
              </a:lnSpc>
              <a:buNone/>
            </a:pPr>
            <a:r>
              <a:rPr lang="en-US" sz="1200" dirty="0">
                <a:solidFill>
                  <a:srgbClr val="FFFFFF"/>
                </a:solidFill>
              </a:rPr>
              <a:t>### 綜合啟示 (Overall Insights)</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1. **免疫治療的潛力**  </a:t>
            </a:r>
            <a:endParaRPr lang="en-US" sz="1200" dirty="0"/>
          </a:p>
          <a:p>
            <a:pPr indent="0" marL="0">
              <a:lnSpc>
                <a:spcPct val="150000"/>
              </a:lnSpc>
              <a:buNone/>
            </a:pPr>
            <a:r>
              <a:rPr lang="en-US" sz="1200" dirty="0">
                <a:solidFill>
                  <a:srgbClr val="FFFFFF"/>
                </a:solidFill>
              </a:rPr>
              <a:t>   Immune checkpoint inhibitors (ICIs) have demonstrated improved outcomes in advanced hepatocellular carcinoma (HCC) and are being explored in earlier stages, indicating their potential in enhancing survival rates.  </a:t>
            </a:r>
            <a:endParaRPr lang="en-US" sz="1200" dirty="0"/>
          </a:p>
          <a:p>
            <a:pPr indent="0" marL="0">
              <a:lnSpc>
                <a:spcPct val="150000"/>
              </a:lnSpc>
              <a:buNone/>
            </a:pPr>
            <a:r>
              <a:rPr lang="en-US" sz="1200" dirty="0">
                <a:solidFill>
                  <a:srgbClr val="FFFFFF"/>
                </a:solidFill>
              </a:rPr>
              <a:t>   免疫檢查點抑制劑（ICIs）在晚期肝細胞癌（HCC）中顯示出改善預後的潛力，並且正在早期階段進行探索，顯示出提升生存率的可能性。</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2. **局部消融與系統治療的結合**  </a:t>
            </a:r>
            <a:endParaRPr lang="en-US" sz="1200" dirty="0"/>
          </a:p>
          <a:p>
            <a:pPr indent="0" marL="0">
              <a:lnSpc>
                <a:spcPct val="150000"/>
              </a:lnSpc>
              <a:buNone/>
            </a:pPr>
            <a:r>
              <a:rPr lang="en-US" sz="1200" dirty="0">
                <a:solidFill>
                  <a:srgbClr val="FFFFFF"/>
                </a:solidFill>
              </a:rPr>
              <a:t>   The combination of local ablation therapies with systemic treatments, such as atezolizumab and bevacizumab, may offer synergistic effects, enhancing treatment efficacy for unresectable HCC.  </a:t>
            </a:r>
            <a:endParaRPr lang="en-US" sz="1200" dirty="0"/>
          </a:p>
          <a:p>
            <a:pPr indent="0" marL="0">
              <a:lnSpc>
                <a:spcPct val="150000"/>
              </a:lnSpc>
              <a:buNone/>
            </a:pPr>
            <a:r>
              <a:rPr lang="en-US" sz="1200" dirty="0">
                <a:solidFill>
                  <a:srgbClr val="FFFFFF"/>
                </a:solidFill>
              </a:rPr>
              <a:t>   將局部消融療法與系統性治療（如阿特珠單抗和貝伐單抗）結合，可能會產生協同效應，提高無法切除的HCC的治療效果。</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3. **生物標記的預測能力**  </a:t>
            </a:r>
            <a:endParaRPr lang="en-US" sz="1200" dirty="0"/>
          </a:p>
          <a:p>
            <a:pPr indent="0" marL="0">
              <a:lnSpc>
                <a:spcPct val="150000"/>
              </a:lnSpc>
              <a:buNone/>
            </a:pPr>
            <a:r>
              <a:rPr lang="en-US" sz="1200" dirty="0">
                <a:solidFill>
                  <a:srgbClr val="FFFFFF"/>
                </a:solidFill>
              </a:rPr>
              <a:t>   Baseline circulating and tumor immune features can predict responses to therapies, highlighting the importance of personalized treatment strategies in HCC management.  </a:t>
            </a:r>
            <a:endParaRPr lang="en-US" sz="1200" dirty="0"/>
          </a:p>
          <a:p>
            <a:pPr indent="0" marL="0">
              <a:lnSpc>
                <a:spcPct val="150000"/>
              </a:lnSpc>
              <a:buNone/>
            </a:pPr>
            <a:r>
              <a:rPr lang="en-US" sz="1200" dirty="0">
                <a:solidFill>
                  <a:srgbClr val="FFFFFF"/>
                </a:solidFill>
              </a:rPr>
              <a:t>   基線循環和腫瘤免疫特徵可以預測對療法的反應，凸顯了個性化治療策略在HCC管理中的重要性。</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4. **手術時機的重新評估**  </a:t>
            </a:r>
            <a:endParaRPr lang="en-US" sz="1200" dirty="0"/>
          </a:p>
          <a:p>
            <a:pPr indent="0" marL="0">
              <a:lnSpc>
                <a:spcPct val="150000"/>
              </a:lnSpc>
              <a:buNone/>
            </a:pPr>
            <a:r>
              <a:rPr lang="en-US" sz="1200" dirty="0">
                <a:solidFill>
                  <a:srgbClr val="FFFFFF"/>
                </a:solidFill>
              </a:rPr>
              <a:t>   Resection after systemic therapy may provide additional survival benefits, suggesting a need to reevaluate surgical timing in the treatment of advanced HCC.  </a:t>
            </a:r>
            <a:endParaRPr lang="en-US" sz="1200" dirty="0"/>
          </a:p>
          <a:p>
            <a:pPr indent="0" marL="0">
              <a:lnSpc>
                <a:spcPct val="150000"/>
              </a:lnSpc>
              <a:buNone/>
            </a:pPr>
            <a:r>
              <a:rPr lang="en-US" sz="1200" dirty="0">
                <a:solidFill>
                  <a:srgbClr val="FFFFFF"/>
                </a:solidFill>
              </a:rPr>
              <a:t>   在系統治療後進行切除可能提供額外的生存益處，這表明需要重新評估在晚期HCC治療中的手術時機。</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5. **多學科治療的必要性**  </a:t>
            </a:r>
            <a:endParaRPr lang="en-US" sz="1200" dirty="0"/>
          </a:p>
          <a:p>
            <a:pPr indent="0" marL="0">
              <a:lnSpc>
                <a:spcPct val="150000"/>
              </a:lnSpc>
              <a:buNone/>
            </a:pPr>
            <a:r>
              <a:rPr lang="en-US" sz="1200" dirty="0">
                <a:solidFill>
                  <a:srgbClr val="FFFFFF"/>
                </a:solidFill>
              </a:rPr>
              <a:t>   A multidisciplinary approach integrating surgery, systemic therapy, and local ablation is essential for optimizing outcomes in patients with advanced HCC.</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7F1D1D"/>
        </a:solidFill>
      </p:bgPr>
    </p:bg>
    <p:spTree>
      <p:nvGrpSpPr>
        <p:cNvPr id="1" name=""/>
        <p:cNvGrpSpPr/>
        <p:nvPr/>
      </p:nvGrpSpPr>
      <p:grpSpPr>
        <a:xfrm>
          <a:off x="0" y="0"/>
          <a:ext cx="0" cy="0"/>
          <a:chOff x="0" y="0"/>
          <a:chExt cx="0" cy="0"/>
        </a:xfrm>
      </p:grpSpPr>
      <p:sp>
        <p:nvSpPr>
          <p:cNvPr id="2" name="Text 0"/>
          <p:cNvSpPr/>
          <p:nvPr/>
        </p:nvSpPr>
        <p:spPr>
          <a:xfrm>
            <a:off x="731520" y="365760"/>
            <a:ext cx="5486400" cy="0"/>
          </a:xfrm>
          <a:prstGeom prst="rect">
            <a:avLst/>
          </a:prstGeom>
          <a:noFill/>
          <a:ln/>
        </p:spPr>
        <p:txBody>
          <a:bodyPr wrap="square" lIns="0" tIns="0" rIns="0" bIns="0" rtlCol="0" anchor="ctr"/>
          <a:lstStyle/>
          <a:p>
            <a:pPr indent="0" marL="0">
              <a:buNone/>
            </a:pPr>
            <a:r>
              <a:rPr lang="en-US" sz="900" spc="600" kern="0" dirty="0">
                <a:solidFill>
                  <a:srgbClr val="888888"/>
                </a:solidFill>
              </a:rPr>
              <a:t>綜合啟示</a:t>
            </a:r>
            <a:endParaRPr lang="en-US" sz="900" dirty="0"/>
          </a:p>
        </p:txBody>
      </p:sp>
      <p:sp>
        <p:nvSpPr>
          <p:cNvPr id="3" name="Text 1"/>
          <p:cNvSpPr/>
          <p:nvPr/>
        </p:nvSpPr>
        <p:spPr>
          <a:xfrm>
            <a:off x="731520" y="822960"/>
            <a:ext cx="10058400" cy="0"/>
          </a:xfrm>
          <a:prstGeom prst="rect">
            <a:avLst/>
          </a:prstGeom>
          <a:noFill/>
          <a:ln/>
        </p:spPr>
        <p:txBody>
          <a:bodyPr wrap="square" lIns="0" tIns="0" rIns="0" bIns="0" rtlCol="0" anchor="ctr"/>
          <a:lstStyle/>
          <a:p>
            <a:pPr indent="0" marL="0">
              <a:buNone/>
            </a:pPr>
            <a:r>
              <a:rPr lang="en-US" sz="2400" b="1" dirty="0">
                <a:solidFill>
                  <a:srgbClr val="FFFFFF"/>
                </a:solidFill>
                <a:latin typeface="Microsoft JhengHei" pitchFamily="34" charset="0"/>
                <a:ea typeface="Microsoft JhengHei" pitchFamily="34" charset="-122"/>
                <a:cs typeface="Microsoft JhengHei" pitchFamily="34" charset="-120"/>
              </a:rPr>
              <a:t>綜合啟示與未來研究方向 (2/2)</a:t>
            </a:r>
            <a:endParaRPr lang="en-US" sz="2400" dirty="0"/>
          </a:p>
        </p:txBody>
      </p:sp>
      <p:sp>
        <p:nvSpPr>
          <p:cNvPr id="4" name="Text 2"/>
          <p:cNvSpPr/>
          <p:nvPr/>
        </p:nvSpPr>
        <p:spPr>
          <a:xfrm>
            <a:off x="731520" y="1463040"/>
            <a:ext cx="10515600" cy="0"/>
          </a:xfrm>
          <a:prstGeom prst="rect">
            <a:avLst/>
          </a:prstGeom>
          <a:noFill/>
          <a:ln/>
        </p:spPr>
        <p:txBody>
          <a:bodyPr wrap="square" rtlCol="0" anchor="ctr"/>
          <a:lstStyle/>
          <a:p>
            <a:pPr indent="0" marL="0">
              <a:lnSpc>
                <a:spcPct val="150000"/>
              </a:lnSpc>
              <a:buNone/>
            </a:pPr>
            <a:r>
              <a:rPr lang="en-US" sz="1200" dirty="0">
                <a:solidFill>
                  <a:srgbClr val="FFFFFF"/>
                </a:solidFill>
              </a:rPr>
              <a:t>整合外科手術、系統治療和局部消融的多學科方法對於優化晚期HCC患者的治療結果至關重要。</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 未來研究方向 (Future Research Directions)</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1. **早期階段免疫治療的臨床試驗**  </a:t>
            </a:r>
            <a:endParaRPr lang="en-US" sz="1200" dirty="0"/>
          </a:p>
          <a:p>
            <a:pPr indent="0" marL="0">
              <a:lnSpc>
                <a:spcPct val="150000"/>
              </a:lnSpc>
              <a:buNone/>
            </a:pPr>
            <a:r>
              <a:rPr lang="en-US" sz="1200" dirty="0">
                <a:solidFill>
                  <a:srgbClr val="FFFFFF"/>
                </a:solidFill>
              </a:rPr>
              <a:t>   Further clinical trials are needed to assess the efficacy of ICIs in early-stage HCC, potentially changing the treatment landscape.  </a:t>
            </a:r>
            <a:endParaRPr lang="en-US" sz="1200" dirty="0"/>
          </a:p>
          <a:p>
            <a:pPr indent="0" marL="0">
              <a:lnSpc>
                <a:spcPct val="150000"/>
              </a:lnSpc>
              <a:buNone/>
            </a:pPr>
            <a:r>
              <a:rPr lang="en-US" sz="1200" dirty="0">
                <a:solidFill>
                  <a:srgbClr val="FFFFFF"/>
                </a:solidFill>
              </a:rPr>
              <a:t>   需要進一步的臨床試驗來評估ICIs在早期HCC中的療效，這可能會改變治療格局。</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2. **個性化治療的生物標記研究**  </a:t>
            </a:r>
            <a:endParaRPr lang="en-US" sz="1200" dirty="0"/>
          </a:p>
          <a:p>
            <a:pPr indent="0" marL="0">
              <a:lnSpc>
                <a:spcPct val="150000"/>
              </a:lnSpc>
              <a:buNone/>
            </a:pPr>
            <a:r>
              <a:rPr lang="en-US" sz="1200" dirty="0">
                <a:solidFill>
                  <a:srgbClr val="FFFFFF"/>
                </a:solidFill>
              </a:rPr>
              <a:t>   Investigating biomarkers for predicting treatment responses will be crucial for developing personalized therapeutic strategies in HCC.  </a:t>
            </a:r>
            <a:endParaRPr lang="en-US" sz="1200" dirty="0"/>
          </a:p>
          <a:p>
            <a:pPr indent="0" marL="0">
              <a:lnSpc>
                <a:spcPct val="150000"/>
              </a:lnSpc>
              <a:buNone/>
            </a:pPr>
            <a:r>
              <a:rPr lang="en-US" sz="1200" dirty="0">
                <a:solidFill>
                  <a:srgbClr val="FFFFFF"/>
                </a:solidFill>
              </a:rPr>
              <a:t>   研究預測治療反應的生物標記將對開發HCC的個性化治療策略至關重要。</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3. **局部消融技術的優化**  </a:t>
            </a:r>
            <a:endParaRPr lang="en-US" sz="1200" dirty="0"/>
          </a:p>
          <a:p>
            <a:pPr indent="0" marL="0">
              <a:lnSpc>
                <a:spcPct val="150000"/>
              </a:lnSpc>
              <a:buNone/>
            </a:pPr>
            <a:r>
              <a:rPr lang="en-US" sz="1200" dirty="0">
                <a:solidFill>
                  <a:srgbClr val="FFFFFF"/>
                </a:solidFill>
              </a:rPr>
              <a:t>   Future studies should focus on optimizing local ablation techniques and their combinations with systemic therapies to maximize patient outcomes.  </a:t>
            </a:r>
            <a:endParaRPr lang="en-US" sz="1200" dirty="0"/>
          </a:p>
          <a:p>
            <a:pPr indent="0" marL="0">
              <a:lnSpc>
                <a:spcPct val="150000"/>
              </a:lnSpc>
              <a:buNone/>
            </a:pPr>
            <a:r>
              <a:rPr lang="en-US" sz="1200" dirty="0">
                <a:solidFill>
                  <a:srgbClr val="FFFFFF"/>
                </a:solidFill>
              </a:rPr>
              <a:t>   未來的研究應集中於優化局部消融技術及其與系統性療法的結合，以最大化患者的治療結果。</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4. **多學科治療模式的評估**  </a:t>
            </a:r>
            <a:endParaRPr lang="en-US" sz="1200" dirty="0"/>
          </a:p>
          <a:p>
            <a:pPr indent="0" marL="0">
              <a:lnSpc>
                <a:spcPct val="150000"/>
              </a:lnSpc>
              <a:buNone/>
            </a:pPr>
            <a:r>
              <a:rPr lang="en-US" sz="1200" dirty="0">
                <a:solidFill>
                  <a:srgbClr val="FFFFFF"/>
                </a:solidFill>
              </a:rPr>
              <a:t>   Evaluating the effectiveness of multidisciplinary treatment approaches in HCC management will provide insights into best practices and improve patient care.  </a:t>
            </a:r>
            <a:endParaRPr lang="en-US" sz="1200" dirty="0"/>
          </a:p>
          <a:p>
            <a:pPr indent="0" marL="0">
              <a:lnSpc>
                <a:spcPct val="150000"/>
              </a:lnSpc>
              <a:buNone/>
            </a:pPr>
            <a:r>
              <a:rPr lang="en-US" sz="1200" dirty="0">
                <a:solidFill>
                  <a:srgbClr val="FFFFFF"/>
                </a:solidFill>
              </a:rPr>
              <a:t>   評估多學科治療模式在HCC管理中的有效性將提供最佳實踐的見解並改善患者護理。</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5. **免疫逃逸機制的深入研究**  </a:t>
            </a:r>
            <a:endParaRPr lang="en-US" sz="1200" dirty="0"/>
          </a:p>
          <a:p>
            <a:pPr indent="0" marL="0">
              <a:lnSpc>
                <a:spcPct val="150000"/>
              </a:lnSpc>
              <a:buNone/>
            </a:pPr>
            <a:r>
              <a:rPr lang="en-US" sz="1200" dirty="0">
                <a:solidFill>
                  <a:srgbClr val="FFFFFF"/>
                </a:solidFill>
              </a:rPr>
              <a:t>   Understanding the mechanisms of immune evasion in liver cancer will be essential for developing new therapeutic strategies that enhance the efficacy of existing treatments.  </a:t>
            </a:r>
            <a:endParaRPr lang="en-US" sz="1200" dirty="0"/>
          </a:p>
          <a:p>
            <a:pPr indent="0" marL="0">
              <a:lnSpc>
                <a:spcPct val="150000"/>
              </a:lnSpc>
              <a:buNone/>
            </a:pPr>
            <a:r>
              <a:rPr lang="en-US" sz="1200" dirty="0">
                <a:solidFill>
                  <a:srgbClr val="FFFFFF"/>
                </a:solidFill>
              </a:rPr>
              <a:t>   理解肝癌中的免疫逃逸機制對於開發增強現有治療效果的新療法至關重要。</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A1A1A"/>
        </a:solidFill>
      </p:bgPr>
    </p:bg>
    <p:spTree>
      <p:nvGrpSpPr>
        <p:cNvPr id="1" name=""/>
        <p:cNvGrpSpPr/>
        <p:nvPr/>
      </p:nvGrpSpPr>
      <p:grpSpPr>
        <a:xfrm>
          <a:off x="0" y="0"/>
          <a:ext cx="0" cy="0"/>
          <a:chOff x="0" y="0"/>
          <a:chExt cx="0" cy="0"/>
        </a:xfrm>
      </p:grpSpPr>
      <p:sp>
        <p:nvSpPr>
          <p:cNvPr id="2" name="Text 0"/>
          <p:cNvSpPr/>
          <p:nvPr/>
        </p:nvSpPr>
        <p:spPr>
          <a:xfrm>
            <a:off x="731520" y="2286000"/>
            <a:ext cx="10058400" cy="0"/>
          </a:xfrm>
          <a:prstGeom prst="rect">
            <a:avLst/>
          </a:prstGeom>
          <a:noFill/>
          <a:ln/>
        </p:spPr>
        <p:txBody>
          <a:bodyPr wrap="square" lIns="0" tIns="0" rIns="0" bIns="0" rtlCol="0" anchor="ctr"/>
          <a:lstStyle/>
          <a:p>
            <a:pPr indent="0" marL="0">
              <a:buNone/>
            </a:pPr>
            <a:r>
              <a:rPr lang="en-US" sz="4800" b="1" dirty="0">
                <a:solidFill>
                  <a:srgbClr val="FFFFFF"/>
                </a:solidFill>
                <a:latin typeface="Arial" pitchFamily="34" charset="0"/>
                <a:ea typeface="Arial" pitchFamily="34" charset="-122"/>
                <a:cs typeface="Arial" pitchFamily="34" charset="-120"/>
              </a:rPr>
              <a:t>Thank You</a:t>
            </a:r>
            <a:endParaRPr lang="en-US" sz="4800" dirty="0"/>
          </a:p>
        </p:txBody>
      </p:sp>
      <p:sp>
        <p:nvSpPr>
          <p:cNvPr id="3" name="Text 1"/>
          <p:cNvSpPr/>
          <p:nvPr/>
        </p:nvSpPr>
        <p:spPr>
          <a:xfrm>
            <a:off x="731520" y="3749040"/>
            <a:ext cx="10058400" cy="0"/>
          </a:xfrm>
          <a:prstGeom prst="rect">
            <a:avLst/>
          </a:prstGeom>
          <a:noFill/>
          <a:ln/>
        </p:spPr>
        <p:txBody>
          <a:bodyPr wrap="square" lIns="0" tIns="0" rIns="0" bIns="0" rtlCol="0" anchor="ctr"/>
          <a:lstStyle/>
          <a:p>
            <a:pPr indent="0" marL="0">
              <a:buNone/>
            </a:pPr>
            <a:r>
              <a:rPr lang="en-US" sz="2400" dirty="0">
                <a:solidFill>
                  <a:srgbClr val="888888"/>
                </a:solidFill>
                <a:latin typeface="Microsoft JhengHei" pitchFamily="34" charset="0"/>
                <a:ea typeface="Microsoft JhengHei" pitchFamily="34" charset="-122"/>
                <a:cs typeface="Microsoft JhengHei" pitchFamily="34" charset="-120"/>
              </a:rPr>
              <a:t>謝謝</a:t>
            </a:r>
            <a:endParaRPr lang="en-US" sz="2400" dirty="0"/>
          </a:p>
        </p:txBody>
      </p:sp>
      <p:sp>
        <p:nvSpPr>
          <p:cNvPr id="4" name="Text 2"/>
          <p:cNvSpPr/>
          <p:nvPr/>
        </p:nvSpPr>
        <p:spPr>
          <a:xfrm>
            <a:off x="731520" y="4572000"/>
            <a:ext cx="10058400" cy="0"/>
          </a:xfrm>
          <a:prstGeom prst="rect">
            <a:avLst/>
          </a:prstGeom>
          <a:noFill/>
          <a:ln/>
        </p:spPr>
        <p:txBody>
          <a:bodyPr wrap="square" lIns="0" tIns="0" rIns="0" bIns="0" rtlCol="0" anchor="ctr"/>
          <a:lstStyle/>
          <a:p>
            <a:pPr indent="0" marL="0">
              <a:buNone/>
            </a:pPr>
            <a:r>
              <a:rPr lang="en-US" sz="1100" dirty="0">
                <a:solidFill>
                  <a:srgbClr val="888888"/>
                </a:solidFill>
              </a:rPr>
              <a:t>HCC Weekly Digest · 呂大教授 敬啟</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肝癌免疫治療與局部消融文獻週報</dc:title>
  <dc:subject>PptxGenJS Presentation</dc:subject>
  <dc:creator>HCC Weekly Digest</dc:creator>
  <cp:lastModifiedBy>HCC Weekly Digest</cp:lastModifiedBy>
  <cp:revision>1</cp:revision>
  <dcterms:created xsi:type="dcterms:W3CDTF">2026-08-24T02:20:40Z</dcterms:created>
  <dcterms:modified xsi:type="dcterms:W3CDTF">2026-08-24T02:20:40Z</dcterms:modified>
</cp:coreProperties>
</file>