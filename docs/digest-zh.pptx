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hyperlink" Target="https://doi.org/10.1016/S2468-1253(26)00115-9" TargetMode="External"/><Relationship Id="rId2" Type="http://schemas.openxmlformats.org/officeDocument/2006/relationships/hyperlink" Target="https://doi.org/10.1016/S2468-1253(26)00115-9" TargetMode="External"/><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hyperlink" Target="https://doi.org/10.1136/gutjnl-2026-338449" TargetMode="External"/><Relationship Id="rId2" Type="http://schemas.openxmlformats.org/officeDocument/2006/relationships/hyperlink" Target="https://doi.org/10.1136/gutjnl-2026-338449" TargetMode="External"/><Relationship Id="rId3" Type="http://schemas.openxmlformats.org/officeDocument/2006/relationships/slideLayout" Target="../slideLayouts/slideLayout1.xml"/><Relationship Id="rId4"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hyperlink" Target="https://doi.org/10.1016/j.jhep.2026.06.008" TargetMode="External"/><Relationship Id="rId2" Type="http://schemas.openxmlformats.org/officeDocument/2006/relationships/hyperlink" Target="https://doi.org/10.1016/j.jhep.2026.06.008" TargetMode="External"/><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hyperlink" Target="https://www.sciencedirect.com/science/article/pii/S2589555925003404" TargetMode="External"/><Relationship Id="rId2" Type="http://schemas.openxmlformats.org/officeDocument/2006/relationships/hyperlink" Target="https://www.sciencedirect.com/science/article/pii/S2589555925003404" TargetMode="External"/><Relationship Id="rId3" Type="http://schemas.openxmlformats.org/officeDocument/2006/relationships/slideLayout" Target="../slideLayouts/slideLayout1.xml"/><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hyperlink" Target="https://doi.org/10.1097/COC.0000000000001341" TargetMode="External"/><Relationship Id="rId2" Type="http://schemas.openxmlformats.org/officeDocument/2006/relationships/hyperlink" Target="https://doi.org/10.1097/COC.0000000000001341" TargetMode="External"/><Relationship Id="rId3" Type="http://schemas.openxmlformats.org/officeDocument/2006/relationships/slideLayout" Target="../slideLayouts/slideLayout1.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hyperlink" Target="https://doi.org/10.1007/s10637-026-01622-2" TargetMode="External"/><Relationship Id="rId2" Type="http://schemas.openxmlformats.org/officeDocument/2006/relationships/hyperlink" Target="https://doi.org/10.1007/s10637-026-01622-2" TargetMode="External"/><Relationship Id="rId3" Type="http://schemas.openxmlformats.org/officeDocument/2006/relationships/slideLayout" Target="../slideLayouts/slideLayout1.xm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hyperlink" Target="https://www.nature.com/articles/s41392-025-02498-z" TargetMode="External"/><Relationship Id="rId2" Type="http://schemas.openxmlformats.org/officeDocument/2006/relationships/hyperlink" Target="https://www.nature.com/articles/s41392-025-02498-z" TargetMode="External"/><Relationship Id="rId3" Type="http://schemas.openxmlformats.org/officeDocument/2006/relationships/slideLayout" Target="../slideLayouts/slideLayout1.xml"/><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hyperlink" Target="https://doi.org/10.1007/s10147-026-03114-y" TargetMode="External"/><Relationship Id="rId2" Type="http://schemas.openxmlformats.org/officeDocument/2006/relationships/hyperlink" Target="https://doi.org/10.1007/s10147-026-03114-y" TargetMode="External"/><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hyperlink" Target="https://doi.org/10.1186/s12876-026-05014-x" TargetMode="External"/><Relationship Id="rId2" Type="http://schemas.openxmlformats.org/officeDocument/2006/relationships/hyperlink" Target="https://doi.org/10.1186/s12876-026-05014-x" TargetMode="External"/><Relationship Id="rId3" Type="http://schemas.openxmlformats.org/officeDocument/2006/relationships/slideLayout" Target="../slideLayouts/slideLayout1.xml"/><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hyperlink" Target="https://doi.org/10.1371/journal.pone.0352169" TargetMode="External"/><Relationship Id="rId2" Type="http://schemas.openxmlformats.org/officeDocument/2006/relationships/hyperlink" Target="https://doi.org/10.1371/journal.pone.0352169" TargetMode="External"/><Relationship Id="rId3" Type="http://schemas.openxmlformats.org/officeDocument/2006/relationships/slideLayout" Target="../slideLayouts/slideLayout1.xml"/><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457200"/>
            <a:ext cx="5486400" cy="0"/>
          </a:xfrm>
          <a:prstGeom prst="rect">
            <a:avLst/>
          </a:prstGeom>
          <a:noFill/>
          <a:ln/>
        </p:spPr>
        <p:txBody>
          <a:bodyPr wrap="square" lIns="0" tIns="0" rIns="0" bIns="0" rtlCol="0" anchor="ctr"/>
          <a:lstStyle/>
          <a:p>
            <a:pPr indent="0" marL="0">
              <a:buNone/>
            </a:pPr>
            <a:r>
              <a:rPr lang="en-US" sz="900" b="1" spc="600" kern="0" dirty="0">
                <a:solidFill>
                  <a:srgbClr val="888888"/>
                </a:solidFill>
              </a:rPr>
              <a:t>WEEKLY DIGEST</a:t>
            </a:r>
            <a:endParaRPr lang="en-US" sz="900" dirty="0"/>
          </a:p>
        </p:txBody>
      </p:sp>
      <p:sp>
        <p:nvSpPr>
          <p:cNvPr id="3" name="Text 1"/>
          <p:cNvSpPr/>
          <p:nvPr/>
        </p:nvSpPr>
        <p:spPr>
          <a:xfrm>
            <a:off x="731520" y="1371600"/>
            <a:ext cx="10058400" cy="0"/>
          </a:xfrm>
          <a:prstGeom prst="rect">
            <a:avLst/>
          </a:prstGeom>
          <a:noFill/>
          <a:ln/>
        </p:spPr>
        <p:txBody>
          <a:bodyPr wrap="square" rtlCol="0" anchor="ctr"/>
          <a:lstStyle/>
          <a:p>
            <a:pPr indent="0" marL="0">
              <a:lnSpc>
                <a:spcPct val="130000"/>
              </a:lnSpc>
              <a:buNone/>
            </a:pPr>
            <a:r>
              <a:rPr lang="en-US" sz="4400" b="1" dirty="0">
                <a:solidFill>
                  <a:srgbClr val="FFFFFF"/>
                </a:solidFill>
                <a:latin typeface="Arial" pitchFamily="34" charset="0"/>
                <a:ea typeface="Arial" pitchFamily="34" charset="-122"/>
                <a:cs typeface="Arial" pitchFamily="34" charset="-120"/>
              </a:rPr>
              <a:t>HCC Weekly Digest</a:t>
            </a:r>
            <a:endParaRPr lang="en-US" sz="4400" dirty="0"/>
          </a:p>
          <a:p>
            <a:pPr indent="0" marL="0">
              <a:lnSpc>
                <a:spcPct val="130000"/>
              </a:lnSpc>
              <a:buNone/>
            </a:pPr>
            <a:r>
              <a:rPr lang="en-US" sz="1800" dirty="0">
                <a:solidFill>
                  <a:srgbClr val="FCA5A5"/>
                </a:solidFill>
                <a:latin typeface="Microsoft JhengHei" pitchFamily="34" charset="0"/>
                <a:ea typeface="Microsoft JhengHei" pitchFamily="34" charset="-122"/>
                <a:cs typeface="Microsoft JhengHei" pitchFamily="34" charset="-120"/>
              </a:rPr>
              <a:t>肝膽腸胃內科 — 肝癌免疫治療與局部消融</a:t>
            </a:r>
            <a:endParaRPr lang="en-US" sz="4400" dirty="0"/>
          </a:p>
          <a:p>
            <a:pPr indent="0" marL="0">
              <a:lnSpc>
                <a:spcPct val="130000"/>
              </a:lnSpc>
              <a:buNone/>
            </a:pPr>
            <a:r>
              <a:rPr lang="en-US" sz="2000" dirty="0">
                <a:solidFill>
                  <a:srgbClr val="FFFFFF"/>
                </a:solidFill>
                <a:latin typeface="Microsoft JhengHei" pitchFamily="34" charset="0"/>
                <a:ea typeface="Microsoft JhengHei" pitchFamily="34" charset="-122"/>
                <a:cs typeface="Microsoft JhengHei" pitchFamily="34" charset="-120"/>
              </a:rPr>
              <a:t>呂大教授 敬啟</a:t>
            </a:r>
            <a:endParaRPr lang="en-US" sz="4400" dirty="0"/>
          </a:p>
        </p:txBody>
      </p:sp>
      <p:sp>
        <p:nvSpPr>
          <p:cNvPr id="4" name="Text 2"/>
          <p:cNvSpPr/>
          <p:nvPr/>
        </p:nvSpPr>
        <p:spPr>
          <a:xfrm>
            <a:off x="731520" y="5029200"/>
            <a:ext cx="5486400" cy="0"/>
          </a:xfrm>
          <a:prstGeom prst="rect">
            <a:avLst/>
          </a:prstGeom>
          <a:noFill/>
          <a:ln/>
        </p:spPr>
        <p:txBody>
          <a:bodyPr wrap="square" lIns="0" tIns="0" rIns="0" bIns="0" rtlCol="0" anchor="ctr"/>
          <a:lstStyle/>
          <a:p>
            <a:pPr indent="0" marL="0">
              <a:buNone/>
            </a:pPr>
            <a:r>
              <a:rPr lang="en-US" sz="1400" dirty="0">
                <a:solidFill>
                  <a:srgbClr val="888888"/>
                </a:solidFill>
              </a:rPr>
              <a:t>2026-06-22 — 2026-06-29</a:t>
            </a:r>
            <a:endParaRPr lang="en-US" sz="1400" dirty="0"/>
          </a:p>
        </p:txBody>
      </p:sp>
      <p:sp>
        <p:nvSpPr>
          <p:cNvPr id="5" name="Text 3"/>
          <p:cNvSpPr/>
          <p:nvPr/>
        </p:nvSpPr>
        <p:spPr>
          <a:xfrm>
            <a:off x="731520" y="5486400"/>
            <a:ext cx="5486400" cy="0"/>
          </a:xfrm>
          <a:prstGeom prst="rect">
            <a:avLst/>
          </a:prstGeom>
          <a:noFill/>
          <a:ln/>
        </p:spPr>
        <p:txBody>
          <a:bodyPr wrap="square" lIns="0" tIns="0" rIns="0" bIns="0" rtlCol="0" anchor="ctr"/>
          <a:lstStyle/>
          <a:p>
            <a:pPr indent="0" marL="0">
              <a:buNone/>
            </a:pPr>
            <a:r>
              <a:rPr lang="en-US" sz="1200" b="1" spc="200" kern="0" dirty="0">
                <a:solidFill>
                  <a:srgbClr val="DC2626"/>
                </a:solidFill>
              </a:rPr>
              <a:t>10 篇精選論文</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65760"/>
            <a:ext cx="3657600" cy="0"/>
          </a:xfrm>
          <a:prstGeom prst="rect">
            <a:avLst/>
          </a:prstGeom>
          <a:noFill/>
          <a:ln/>
        </p:spPr>
        <p:txBody>
          <a:bodyPr wrap="square" lIns="0" tIns="0" rIns="0" bIns="0" rtlCol="0" anchor="ctr"/>
          <a:lstStyle/>
          <a:p>
            <a:pPr indent="0" marL="0">
              <a:buNone/>
            </a:pPr>
            <a:r>
              <a:rPr lang="en-US" sz="1000" b="1" spc="400" kern="0" dirty="0">
                <a:solidFill>
                  <a:srgbClr val="888888"/>
                </a:solidFill>
              </a:rPr>
              <a:t>目錄</a:t>
            </a:r>
            <a:endParaRPr lang="en-US" sz="1000" dirty="0"/>
          </a:p>
        </p:txBody>
      </p:sp>
      <p:sp>
        <p:nvSpPr>
          <p:cNvPr id="3" name="Text 1"/>
          <p:cNvSpPr/>
          <p:nvPr/>
        </p:nvSpPr>
        <p:spPr>
          <a:xfrm>
            <a:off x="731520" y="1005840"/>
            <a:ext cx="10058400" cy="0"/>
          </a:xfrm>
          <a:prstGeom prst="rect">
            <a:avLst/>
          </a:prstGeom>
          <a:noFill/>
          <a:ln/>
        </p:spPr>
        <p:txBody>
          <a:bodyPr wrap="square" rtlCol="0" anchor="ctr"/>
          <a:lstStyle/>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01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Addition of ipilimumab to atezolizumab plus bevacizumab in advanced hepatocellul…</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02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Targeting NEK9 synergises with immunotherapy in hepatocellular carcinoma by remo…</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03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When Lipids Silence Immunity: Dendritic Cell Death in MASLD-associated HCC.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04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Pembrolizumab and stereotactic body radiotherapy combined in advanced hepatocell…</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05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Stereotactic Body Radiation Therapy Combined With Immune Checkpoint Inhibitors 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06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Evaluating pegenzileukin (SAR444245/THOR-707) in combination with pembrolizumab …</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07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 plus transarterial chemoembolization and PD-1 inhibitors as conversion therapi…</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08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Pretreatment serum vitamin D levels predict the therapeutic efficacy of atezoliz…</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09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Prognostic value of the systemic immune-inflammation index in gastrointestinal c…</a:t>
            </a:r>
            <a:endParaRPr lang="en-US" sz="1400" dirty="0"/>
          </a:p>
          <a:p>
            <a:pPr indent="0" marL="0">
              <a:lnSpc>
                <a:spcPct val="180000"/>
              </a:lnSpc>
              <a:buNone/>
            </a:pPr>
            <a:r>
              <a:rPr lang="en-US" sz="1400" b="1" dirty="0">
                <a:solidFill>
                  <a:srgbClr val="DC2626"/>
                </a:solidFill>
                <a:latin typeface="Arial" pitchFamily="34" charset="0"/>
                <a:ea typeface="Arial" pitchFamily="34" charset="-122"/>
                <a:cs typeface="Arial" pitchFamily="34" charset="-120"/>
              </a:rPr>
              <a:t>10  </a:t>
            </a:r>
            <a:pPr indent="0" marL="0">
              <a:lnSpc>
                <a:spcPct val="180000"/>
              </a:lnSpc>
              <a:buNone/>
            </a:pPr>
            <a:r>
              <a:rPr lang="en-US" sz="1100" dirty="0">
                <a:solidFill>
                  <a:srgbClr val="333333"/>
                </a:solidFill>
                <a:latin typeface="Arial" pitchFamily="34" charset="0"/>
                <a:ea typeface="Arial" pitchFamily="34" charset="-122"/>
                <a:cs typeface="Arial" pitchFamily="34" charset="-120"/>
              </a:rPr>
              <a:t>An umbrella review navigating the nationwide burden of hepatitis B virus infecti…</a:t>
            </a:r>
            <a:endParaRPr lang="en-US" sz="14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01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01</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Addition of ipilimumab to atezolizumab plus bevacizumab in advanced hepatocellular carcinoma (PRODIGE 81-FFCD 2101-TRIPLET HCC): phase 2 results from a randomised, multicentre, open-label, phase 2-3 trial.</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The lancet. Gastroenterology &amp; hepatology  ·  IF 35.7  ·  RCT Phase 3</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三重療法未改善療效。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三重組30%客觀反應率。</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嚴重不良事件發生率高。</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Merle Philippe, Blanc Jean-Frederic, Le Malicot Karine et al.. The lancet. Gastroenterology &amp; hepatology. 2026-06-22 DOI: 10.1016/S2468-1253(26)00115-9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02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02</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Targeting NEK9 synergises with immunotherapy in hepatocellular carcinoma by remodelling the immunosuppressive microenvironment.</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Gut  ·  IF 24.5  ·  Basic Research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NEK9在HCC中上調，與預後不良相關。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抑制NEK9可逆轉免疫抑制TME。</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NEK9抑制劑增強抗PD-L1療效。</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Lu Guofang, Du Rui, Wan Yue et al.. Gut. 2026-06-25 DOI: 10.1136/gutjnl-2026-338449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03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03</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When Lipids Silence Immunity: Dendritic Cell Death in MASLD-associated HCC.</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Journal of hepatology  ·  IF 25.7</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脂質可抑制免疫反應。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MASLD中觀察到樹突細胞死亡。</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肝癌進展與脂質代謝相關。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Kocheise Lorenz, Schneider Kai Markus. Journal of hepatology. 2026-06-24 DOI: 10.1016/j.jhep.2026.06.008</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04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04</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Pembrolizumab and stereotactic body radiotherapy combined in advanced hepatocellular carcinoma post sorafenib–A phase II trial (PEMRAD)</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JHEP Reports  ·  IF 7.8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結合 pembrolizumab 和 SBRT</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針對晚期 HCC 的二期試驗</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評估索拉非尼後療效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觀察到增強的免疫反應</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改善患者預後的潛力</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GM O'Kane, A Mesci, RW Jang. JHEP Reports.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05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05</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Stereotactic Body Radiation Therapy Combined With Immune Checkpoint Inhibitors in Unresectable Hepatocellular Carcinoma: A Comprehensive Single-Arm Meta-Analysis Approach.</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American journal of clinical oncology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SBRT 與 ICI 結合顯示潛力</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中位 OS 為 22.7 個月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中位 PFS 為 7.9 個月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DCR 為 93.4%，ORR 為 56.3%</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可控的 3 級以上毒性為 17.5%</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Dreyer Justin, Narasimhan Raksha M, Dias Neto Ana R et al.. American journal of clinical oncology. 2026-06-25 DOI: 10.1097/COC.0000000000001341</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06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06</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Evaluating pegenzileukin (SAR444245/THOR-707) in combination with pembrolizumab or cetuximab in advanced metastatic gastrointestinal cancer: the PEGATHOR phase 2 study.</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Investigational new drugs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Pegenziukin 擴展效應 T 細胞和 NK 細胞。</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研究涉及 138 名晚期 GI 癌患者。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客觀反應率在各組間不同。</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中位無進展生存期為 1.9-2.1 個月。</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安全性可控，常見不良事件。</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Harris William P, Garc&amp;#xed;a-Alfonso Pilar, Metges Jean Phillipe et al.. Investigational new drugs. 2026-06-22 DOI: 10.1007/s10637-026-01622-2</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07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07</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 plus transarterial chemoembolization and PD-1 inhibitors as conversion therapies for unresectable intermediate-advanced hepatocellular carcinoma: a phase 2 trial …</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 and Targeted Therapy  ·  RCT Phase 2</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針對不可切除HCC的組合療法</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經動脈化療栓塞加PD-1抑制劑</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第二期試驗顯示良好結果</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X Zhang, H Cai, W Peng. … and Targeted Therapy. 2026</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08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08</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Pretreatment serum vitamin D levels predict the therapeutic efficacy of atezolizumab plus bevacizumab therapy in advanced hepatocellular carcinoma: a multicenter 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International journal of clinical oncology  ·  🌏 Asia</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維他命D具抗癌效果。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研究包含142名HCC患者。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低維他命D與PD相關。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臨界值：17.8 ng/mL。</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高維他命D預測更好OS。</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Suzuki Takanori, Matsuura Kentaro, Narahara Satoshi et al.. International journal of clinical oncology. 2026-06-27 DOI: 10.1007/s10147-026-03114-y</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09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09</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Prognostic value of the systemic immune-inflammation index in gastrointestinal cancers treated with immune checkpoint inhibitors: a systematic review and meta-analysis.</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BMC gastroenterology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評估系統性免疫炎症指數(SII)</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高SII與生存結果不佳相關</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包含28項研究4752名患者</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SII預測HCC的OS和PFS</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SII有助於風險分層</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Lu Jiamin, Feng Yuqian, Guo Kaibo et al.. BMC gastroenterology. 2026-06-25 DOI: 10.1186/s12876-026-05014-x</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731520" y="320040"/>
            <a:ext cx="5486400" cy="0"/>
          </a:xfrm>
          <a:prstGeom prst="rect">
            <a:avLst/>
          </a:prstGeom>
          <a:noFill/>
          <a:ln/>
        </p:spPr>
        <p:txBody>
          <a:bodyPr wrap="square" lIns="0" tIns="0" rIns="0" bIns="0" rtlCol="0" anchor="ctr"/>
          <a:lstStyle/>
          <a:p>
            <a:pPr indent="0" marL="0">
              <a:buNone/>
            </a:pPr>
            <a:r>
              <a:rPr lang="en-US" sz="900" b="1" spc="300" kern="0" dirty="0">
                <a:solidFill>
                  <a:srgbClr val="888888"/>
                </a:solidFill>
              </a:rPr>
              <a:t>10  重點發現</a:t>
            </a:r>
            <a:endParaRPr lang="en-US" sz="900" dirty="0"/>
          </a:p>
        </p:txBody>
      </p:sp>
      <p:sp>
        <p:nvSpPr>
          <p:cNvPr id="3" name="Text 1"/>
          <p:cNvSpPr/>
          <p:nvPr/>
        </p:nvSpPr>
        <p:spPr>
          <a:xfrm>
            <a:off x="9144000" y="91440"/>
            <a:ext cx="2560320" cy="0"/>
          </a:xfrm>
          <a:prstGeom prst="rect">
            <a:avLst/>
          </a:prstGeom>
          <a:noFill/>
          <a:ln/>
        </p:spPr>
        <p:txBody>
          <a:bodyPr wrap="square" lIns="0" tIns="0" rIns="0" bIns="0" rtlCol="0" anchor="ctr"/>
          <a:lstStyle/>
          <a:p>
            <a:pPr algn="r" indent="0" marL="0">
              <a:buNone/>
            </a:pPr>
            <a:r>
              <a:rPr lang="en-US" sz="5200" b="1" dirty="0">
                <a:solidFill>
                  <a:srgbClr val="E2E8F0"/>
                </a:solidFill>
              </a:rPr>
              <a:t>10</a:t>
            </a:r>
            <a:endParaRPr lang="en-US" sz="5200" dirty="0"/>
          </a:p>
        </p:txBody>
      </p:sp>
      <p:sp>
        <p:nvSpPr>
          <p:cNvPr id="4" name="Text 2">
            <a:hlinkClick r:id="rId1" tooltip=""/>
          </p:cNvPr>
          <p:cNvSpPr/>
          <p:nvPr/>
        </p:nvSpPr>
        <p:spPr>
          <a:xfrm>
            <a:off x="731520" y="731520"/>
            <a:ext cx="10058400" cy="0"/>
          </a:xfrm>
          <a:prstGeom prst="rect">
            <a:avLst/>
          </a:prstGeom>
          <a:noFill/>
          <a:ln/>
        </p:spPr>
        <p:txBody>
          <a:bodyPr wrap="square" lIns="0" tIns="0" rIns="0" bIns="0" rtlCol="0" anchor="ctr"/>
          <a:lstStyle/>
          <a:p>
            <a:pPr indent="0" marL="0">
              <a:lnSpc>
                <a:spcPct val="115000"/>
              </a:lnSpc>
              <a:buNone/>
            </a:pPr>
            <a:r>
              <a:rPr lang="en-US" sz="2400" b="1" u="sng" dirty="0">
                <a:solidFill>
                  <a:srgbClr val="111111"/>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An umbrella review navigating the nationwide burden of hepatitis B virus infection in Ethiopia: A call for action on vaccination, safe blood, and infection prevention.</a:t>
            </a:r>
            <a:endParaRPr lang="en-US" sz="2400" dirty="0"/>
          </a:p>
        </p:txBody>
      </p:sp>
      <p:sp>
        <p:nvSpPr>
          <p:cNvPr id="5" name="Text 3"/>
          <p:cNvSpPr/>
          <p:nvPr/>
        </p:nvSpPr>
        <p:spPr>
          <a:xfrm>
            <a:off x="731520" y="1828800"/>
            <a:ext cx="10058400" cy="0"/>
          </a:xfrm>
          <a:prstGeom prst="rect">
            <a:avLst/>
          </a:prstGeom>
          <a:noFill/>
          <a:ln/>
        </p:spPr>
        <p:txBody>
          <a:bodyPr wrap="square" lIns="0" tIns="0" rIns="0" bIns="0" rtlCol="0" anchor="ctr"/>
          <a:lstStyle/>
          <a:p>
            <a:pPr indent="0" marL="0">
              <a:buNone/>
            </a:pPr>
            <a:r>
              <a:rPr lang="en-US" sz="1000" dirty="0">
                <a:solidFill>
                  <a:srgbClr val="888888"/>
                </a:solidFill>
              </a:rPr>
              <a:t>PloS one  ·  Meta-Analysis</a:t>
            </a:r>
            <a:endParaRPr lang="en-US" sz="1000" dirty="0"/>
          </a:p>
        </p:txBody>
      </p:sp>
      <p:sp>
        <p:nvSpPr>
          <p:cNvPr id="6" name="Text 4"/>
          <p:cNvSpPr/>
          <p:nvPr/>
        </p:nvSpPr>
        <p:spPr>
          <a:xfrm>
            <a:off x="731520" y="2377440"/>
            <a:ext cx="10058400" cy="0"/>
          </a:xfrm>
          <a:prstGeom prst="rect">
            <a:avLst/>
          </a:prstGeom>
          <a:noFill/>
          <a:ln/>
        </p:spPr>
        <p:txBody>
          <a:bodyPr wrap="square" rtlCol="0" anchor="t"/>
          <a:lstStyle/>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HBV是肝病主要原因。</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埃塞俄比亞HBV感染率為5.78%。</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風險因素包括男性及多重伴侶。</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系統評價結果不一致。</a:t>
            </a:r>
            <a:endParaRPr lang="en-US" sz="1800" dirty="0"/>
          </a:p>
          <a:p>
            <a:pPr marL="342900" indent="-342900">
              <a:spcAft>
                <a:spcPts val="800"/>
              </a:spcAft>
              <a:buSzPct val="100000"/>
              <a:buChar char="•"/>
            </a:pPr>
            <a:r>
              <a:rPr lang="en-US" sz="1800" dirty="0">
                <a:solidFill>
                  <a:srgbClr val="333333"/>
                </a:solidFill>
                <a:latin typeface="Microsoft JhengHei" pitchFamily="34" charset="0"/>
                <a:ea typeface="Microsoft JhengHei" pitchFamily="34" charset="-122"/>
                <a:cs typeface="Microsoft JhengHei" pitchFamily="34" charset="-120"/>
              </a:rPr>
              <a:t>研究有助於公共衛生策略發展。</a:t>
            </a:r>
            <a:endParaRPr lang="en-US" sz="1800" dirty="0"/>
          </a:p>
        </p:txBody>
      </p:sp>
      <p:sp>
        <p:nvSpPr>
          <p:cNvPr id="7" name="Text 5"/>
          <p:cNvSpPr/>
          <p:nvPr/>
        </p:nvSpPr>
        <p:spPr>
          <a:xfrm>
            <a:off x="731520" y="5852160"/>
            <a:ext cx="10058400" cy="0"/>
          </a:xfrm>
          <a:prstGeom prst="rect">
            <a:avLst/>
          </a:prstGeom>
          <a:noFill/>
          <a:ln/>
        </p:spPr>
        <p:txBody>
          <a:bodyPr wrap="square" lIns="0" tIns="0" rIns="0" bIns="0" rtlCol="0" anchor="ctr"/>
          <a:lstStyle/>
          <a:p>
            <a:pPr indent="0" marL="0">
              <a:buNone/>
            </a:pPr>
            <a:r>
              <a:rPr lang="en-US" sz="800" dirty="0">
                <a:solidFill>
                  <a:srgbClr val="888888"/>
                </a:solidFill>
              </a:rPr>
              <a:t>Demeke Abel Desalegn, Tsegaye Aboma, Bayable Alem et al.. PloS one. 2026-06-22 DOI: 10.1371/journal.pone.0352169</a:t>
            </a:r>
            <a:endParaRPr lang="en-US" sz="800" dirty="0"/>
          </a:p>
        </p:txBody>
      </p:sp>
      <p:sp>
        <p:nvSpPr>
          <p:cNvPr id="8" name="Text 6">
            <a:hlinkClick r:id="rId2" tooltip=""/>
          </p:cNvPr>
          <p:cNvSpPr/>
          <p:nvPr/>
        </p:nvSpPr>
        <p:spPr>
          <a:xfrm>
            <a:off x="731520" y="6217920"/>
            <a:ext cx="3657600" cy="0"/>
          </a:xfrm>
          <a:prstGeom prst="rect">
            <a:avLst/>
          </a:prstGeom>
          <a:noFill/>
          <a:ln/>
        </p:spPr>
        <p:txBody>
          <a:bodyPr wrap="square" lIns="0" tIns="0" rIns="0" bIns="0" rtlCol="0" anchor="ctr"/>
          <a:lstStyle/>
          <a:p>
            <a:pPr indent="0" marL="0">
              <a:buNone/>
            </a:pPr>
            <a:r>
              <a:rPr lang="en-US" sz="1000" b="1" u="sng" dirty="0">
                <a:solidFill>
                  <a:srgbClr val="DC2626"/>
                </a:solidFill>
                <a:hlinkClick r:id="rId2" invalidUrl="" action="" tgtFrame="" tooltip="" history="1" highlightClick="0" endSnd="0">
                  <a:extLst>
                    <a:ext uri="{A12FA001-AC4F-418D-AE19-62706E023703}">
                      <ahyp:hlinkClr xmlns:ahyp="http://schemas.microsoft.com/office/drawing/2018/hyperlinkcolor" val="tx"/>
                    </a:ext>
                  </a:extLst>
                </a:hlinkClick>
              </a:rPr>
              <a:t>📎 查看論文 →</a:t>
            </a:r>
            <a:endParaRPr lang="en-US" sz="1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(1/2)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綜合啟示（Overall Insights）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**免疫療法的潛力**  </a:t>
            </a:r>
            <a:endParaRPr lang="en-US" sz="1200" dirty="0"/>
          </a:p>
          <a:p>
            <a:pPr indent="0" marL="0">
              <a:lnSpc>
                <a:spcPct val="150000"/>
              </a:lnSpc>
              <a:buNone/>
            </a:pPr>
            <a:r>
              <a:rPr lang="en-US" sz="1200" dirty="0">
                <a:solidFill>
                  <a:srgbClr val="FFFFFF"/>
                </a:solidFill>
              </a:rPr>
              <a:t>   **The potential of immunotherapy**  </a:t>
            </a:r>
            <a:endParaRPr lang="en-US" sz="1200" dirty="0"/>
          </a:p>
          <a:p>
            <a:pPr indent="0" marL="0">
              <a:lnSpc>
                <a:spcPct val="150000"/>
              </a:lnSpc>
              <a:buNone/>
            </a:pPr>
            <a:r>
              <a:rPr lang="en-US" sz="1200" dirty="0">
                <a:solidFill>
                  <a:srgbClr val="FFFFFF"/>
                </a:solidFill>
              </a:rPr>
              <a:t>   近期研究顯示，將免疫檢查點抑制劑（如ipilimumab和pembrolizumab）與其他治療（如局部放療或抗VEGF療法）結合，能顯著改善晚期肝細胞癌患者的預後。  </a:t>
            </a:r>
            <a:endParaRPr lang="en-US" sz="1200" dirty="0"/>
          </a:p>
          <a:p>
            <a:pPr indent="0" marL="0">
              <a:lnSpc>
                <a:spcPct val="150000"/>
              </a:lnSpc>
              <a:buNone/>
            </a:pPr>
            <a:r>
              <a:rPr lang="en-US" sz="1200" dirty="0">
                <a:solidFill>
                  <a:srgbClr val="FFFFFF"/>
                </a:solidFill>
              </a:rPr>
              <a:t>   Recent studies indicate that combining immune checkpoint inhibitors (such as ipilimumab and pembrolizumab) with other treatments (like locoregional radiotherapy or anti-VEGF therapies) can significantly improve the prognosis of patients with advanced hepatocellular carcinoma.</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**腫瘤微環境的重塑**  </a:t>
            </a:r>
            <a:endParaRPr lang="en-US" sz="1200" dirty="0"/>
          </a:p>
          <a:p>
            <a:pPr indent="0" marL="0">
              <a:lnSpc>
                <a:spcPct val="150000"/>
              </a:lnSpc>
              <a:buNone/>
            </a:pPr>
            <a:r>
              <a:rPr lang="en-US" sz="1200" dirty="0">
                <a:solidFill>
                  <a:srgbClr val="FFFFFF"/>
                </a:solidFill>
              </a:rPr>
              <a:t>   **Remodeling the tumor microenvironment**  </a:t>
            </a:r>
            <a:endParaRPr lang="en-US" sz="1200" dirty="0"/>
          </a:p>
          <a:p>
            <a:pPr indent="0" marL="0">
              <a:lnSpc>
                <a:spcPct val="150000"/>
              </a:lnSpc>
              <a:buNone/>
            </a:pPr>
            <a:r>
              <a:rPr lang="en-US" sz="1200" dirty="0">
                <a:solidFill>
                  <a:srgbClr val="FFFFFF"/>
                </a:solidFill>
              </a:rPr>
              <a:t>   研究指出，針對NEK9的治療能夠重塑免疫抑制的腫瘤微環境，從而增強免疫療法的效果。  </a:t>
            </a:r>
            <a:endParaRPr lang="en-US" sz="1200" dirty="0"/>
          </a:p>
          <a:p>
            <a:pPr indent="0" marL="0">
              <a:lnSpc>
                <a:spcPct val="150000"/>
              </a:lnSpc>
              <a:buNone/>
            </a:pPr>
            <a:r>
              <a:rPr lang="en-US" sz="1200" dirty="0">
                <a:solidFill>
                  <a:srgbClr val="FFFFFF"/>
                </a:solidFill>
              </a:rPr>
              <a:t>   Studies suggest that targeting NEK9 can remodel the immunosuppressive tumor microenvironment, thereby enhancing the efficacy of immunotherapy.</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**維生素D的預測作用**  </a:t>
            </a:r>
            <a:endParaRPr lang="en-US" sz="1200" dirty="0"/>
          </a:p>
          <a:p>
            <a:pPr indent="0" marL="0">
              <a:lnSpc>
                <a:spcPct val="150000"/>
              </a:lnSpc>
              <a:buNone/>
            </a:pPr>
            <a:r>
              <a:rPr lang="en-US" sz="1200" dirty="0">
                <a:solidFill>
                  <a:srgbClr val="FFFFFF"/>
                </a:solidFill>
              </a:rPr>
              <a:t>   **Predictive role of vitamin D**  </a:t>
            </a:r>
            <a:endParaRPr lang="en-US" sz="1200" dirty="0"/>
          </a:p>
          <a:p>
            <a:pPr indent="0" marL="0">
              <a:lnSpc>
                <a:spcPct val="150000"/>
              </a:lnSpc>
              <a:buNone/>
            </a:pPr>
            <a:r>
              <a:rPr lang="en-US" sz="1200" dirty="0">
                <a:solidFill>
                  <a:srgbClr val="FFFFFF"/>
                </a:solidFill>
              </a:rPr>
              <a:t>   初步數據顯示，血清維生素D水平與atezolizumab加bevacizumab療法的療效存在關聯，可能成為新的生物標記。  </a:t>
            </a:r>
            <a:endParaRPr lang="en-US" sz="1200" dirty="0"/>
          </a:p>
          <a:p>
            <a:pPr indent="0" marL="0">
              <a:lnSpc>
                <a:spcPct val="150000"/>
              </a:lnSpc>
              <a:buNone/>
            </a:pPr>
            <a:r>
              <a:rPr lang="en-US" sz="1200" dirty="0">
                <a:solidFill>
                  <a:srgbClr val="FFFFFF"/>
                </a:solidFill>
              </a:rPr>
              <a:t>   Preliminary data indicate that serum vitamin D levels correlate with the efficacy of atezolizumab plus bevacizumab therapy, potentially serving as a new biomarker.</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**系統性免疫炎症指數的預後價值**  </a:t>
            </a:r>
            <a:endParaRPr lang="en-US" sz="1200" dirty="0"/>
          </a:p>
          <a:p>
            <a:pPr indent="0" marL="0">
              <a:lnSpc>
                <a:spcPct val="150000"/>
              </a:lnSpc>
              <a:buNone/>
            </a:pPr>
            <a:r>
              <a:rPr lang="en-US" sz="1200" dirty="0">
                <a:solidFill>
                  <a:srgbClr val="FFFFFF"/>
                </a:solidFill>
              </a:rPr>
              <a:t>   **Prognostic value of systemic immune-inflammation index**  </a:t>
            </a:r>
            <a:endParaRPr lang="en-US" sz="1200" dirty="0"/>
          </a:p>
          <a:p>
            <a:pPr indent="0" marL="0">
              <a:lnSpc>
                <a:spcPct val="150000"/>
              </a:lnSpc>
              <a:buNone/>
            </a:pPr>
            <a:r>
              <a:rPr lang="en-US" sz="1200" dirty="0">
                <a:solidFill>
                  <a:srgbClr val="FFFFFF"/>
                </a:solidFill>
              </a:rPr>
              <a:t>   系統性免疫炎症指數在接受免疫檢查點抑制劑治療的消化道癌症患者中顯示出預後價值，為臨床決策提供了新依據。  </a:t>
            </a:r>
            <a:endParaRPr lang="en-US" sz="1200" dirty="0"/>
          </a:p>
          <a:p>
            <a:pPr indent="0" marL="0">
              <a:lnSpc>
                <a:spcPct val="150000"/>
              </a:lnSpc>
              <a:buNone/>
            </a:pPr>
            <a:r>
              <a:rPr lang="en-US" sz="1200" dirty="0">
                <a:solidFill>
                  <a:srgbClr val="FFFFFF"/>
                </a:solidFill>
              </a:rPr>
              <a:t>   The systemic immune-inflammation index shows prognostic value in gastrointestinal cancer patients treated with immune checkpoint inhibitors, providing new insights for clinical decision-making.</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**局部消融與免疫療法的結合**  </a:t>
            </a:r>
            <a:endParaRPr lang="en-US" sz="1200" dirty="0"/>
          </a:p>
          <a:p>
            <a:pPr indent="0" marL="0">
              <a:lnSpc>
                <a:spcPct val="150000"/>
              </a:lnSpc>
              <a:buNone/>
            </a:pPr>
            <a:r>
              <a:rPr lang="en-US" sz="1200" dirty="0">
                <a:solidFill>
                  <a:srgbClr val="FFFFFF"/>
                </a:solidFill>
              </a:rPr>
              <a:t>   **Combination of locoregional ablation and immunotherapy**  </a:t>
            </a:r>
            <a:endParaRPr lang="en-US" sz="1200" dirty="0"/>
          </a:p>
          <a:p>
            <a:pPr indent="0" marL="0">
              <a:lnSpc>
                <a:spcPct val="150000"/>
              </a:lnSpc>
              <a:buNone/>
            </a:pPr>
            <a:r>
              <a:rPr lang="en-US" sz="1200" dirty="0">
                <a:solidFill>
                  <a:srgbClr val="FFFFFF"/>
                </a:solidFill>
              </a:rPr>
              <a:t>   將立體定向放射治療與免疫檢查點抑制劑結合的策略顯示出潛在的生存益處，需進一步探索最佳組合方案。  </a:t>
            </a:r>
            <a:endParaRPr lang="en-US" sz="1200" dirty="0"/>
          </a:p>
          <a:p>
            <a:pPr indent="0" marL="0">
              <a:lnSpc>
                <a:spcPct val="150000"/>
              </a:lnSpc>
              <a:buNone/>
            </a:pPr>
            <a:r>
              <a:rPr lang="en-US" sz="1200" dirty="0">
                <a:solidFill>
                  <a:srgbClr val="FFFFFF"/>
                </a:solidFill>
              </a:rPr>
              <a:t>   The strategy of combining stereotactic body radiation therapy with immune checkpoint inhibitors shows potential survival benefits, warranting further exploration of optimal combination regimens.</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7F1D1D"/>
        </a:solidFill>
      </p:bgPr>
    </p:bg>
    <p:spTree>
      <p:nvGrpSpPr>
        <p:cNvPr id="1" name=""/>
        <p:cNvGrpSpPr/>
        <p:nvPr/>
      </p:nvGrpSpPr>
      <p:grpSpPr>
        <a:xfrm>
          <a:off x="0" y="0"/>
          <a:ext cx="0" cy="0"/>
          <a:chOff x="0" y="0"/>
          <a:chExt cx="0" cy="0"/>
        </a:xfrm>
      </p:grpSpPr>
      <p:sp>
        <p:nvSpPr>
          <p:cNvPr id="2" name="Text 0"/>
          <p:cNvSpPr/>
          <p:nvPr/>
        </p:nvSpPr>
        <p:spPr>
          <a:xfrm>
            <a:off x="731520" y="365760"/>
            <a:ext cx="5486400" cy="0"/>
          </a:xfrm>
          <a:prstGeom prst="rect">
            <a:avLst/>
          </a:prstGeom>
          <a:noFill/>
          <a:ln/>
        </p:spPr>
        <p:txBody>
          <a:bodyPr wrap="square" lIns="0" tIns="0" rIns="0" bIns="0" rtlCol="0" anchor="ctr"/>
          <a:lstStyle/>
          <a:p>
            <a:pPr indent="0" marL="0">
              <a:buNone/>
            </a:pPr>
            <a:r>
              <a:rPr lang="en-US" sz="900" spc="600" kern="0" dirty="0">
                <a:solidFill>
                  <a:srgbClr val="888888"/>
                </a:solidFill>
              </a:rPr>
              <a:t>綜合啟示</a:t>
            </a:r>
            <a:endParaRPr lang="en-US" sz="900" dirty="0"/>
          </a:p>
        </p:txBody>
      </p:sp>
      <p:sp>
        <p:nvSpPr>
          <p:cNvPr id="3" name="Text 1"/>
          <p:cNvSpPr/>
          <p:nvPr/>
        </p:nvSpPr>
        <p:spPr>
          <a:xfrm>
            <a:off x="731520" y="822960"/>
            <a:ext cx="10058400" cy="0"/>
          </a:xfrm>
          <a:prstGeom prst="rect">
            <a:avLst/>
          </a:prstGeom>
          <a:noFill/>
          <a:ln/>
        </p:spPr>
        <p:txBody>
          <a:bodyPr wrap="square" lIns="0" tIns="0" rIns="0" bIns="0" rtlCol="0" anchor="ctr"/>
          <a:lstStyle/>
          <a:p>
            <a:pPr indent="0" marL="0">
              <a:buNone/>
            </a:pPr>
            <a:r>
              <a:rPr lang="en-US" sz="2400" b="1" dirty="0">
                <a:solidFill>
                  <a:srgbClr val="FFFFFF"/>
                </a:solidFill>
                <a:latin typeface="Microsoft JhengHei" pitchFamily="34" charset="0"/>
                <a:ea typeface="Microsoft JhengHei" pitchFamily="34" charset="-122"/>
                <a:cs typeface="Microsoft JhengHei" pitchFamily="34" charset="-120"/>
              </a:rPr>
              <a:t>綜合啟示與未來研究方向 (2/2)</a:t>
            </a:r>
            <a:endParaRPr lang="en-US" sz="2400" dirty="0"/>
          </a:p>
        </p:txBody>
      </p:sp>
      <p:sp>
        <p:nvSpPr>
          <p:cNvPr id="4" name="Text 2"/>
          <p:cNvSpPr/>
          <p:nvPr/>
        </p:nvSpPr>
        <p:spPr>
          <a:xfrm>
            <a:off x="731520" y="1463040"/>
            <a:ext cx="10515600" cy="0"/>
          </a:xfrm>
          <a:prstGeom prst="rect">
            <a:avLst/>
          </a:prstGeom>
          <a:noFill/>
          <a:ln/>
        </p:spPr>
        <p:txBody>
          <a:bodyPr wrap="square" rtlCol="0" anchor="ctr"/>
          <a:lstStyle/>
          <a:p>
            <a:pPr indent="0" marL="0">
              <a:lnSpc>
                <a:spcPct val="150000"/>
              </a:lnSpc>
              <a:buNone/>
            </a:pPr>
            <a:r>
              <a:rPr lang="en-US" sz="1200" dirty="0">
                <a:solidFill>
                  <a:srgbClr val="FFFFFF"/>
                </a:solidFill>
              </a:rPr>
              <a:t>### 未來研究方向（Future Research Directions）</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1. **深入研究腫瘤微環境**  </a:t>
            </a:r>
            <a:endParaRPr lang="en-US" sz="1200" dirty="0"/>
          </a:p>
          <a:p>
            <a:pPr indent="0" marL="0">
              <a:lnSpc>
                <a:spcPct val="150000"/>
              </a:lnSpc>
              <a:buNone/>
            </a:pPr>
            <a:r>
              <a:rPr lang="en-US" sz="1200" dirty="0">
                <a:solidFill>
                  <a:srgbClr val="FFFFFF"/>
                </a:solidFill>
              </a:rPr>
              <a:t>   **In-depth studies on tumor microenvironment**  </a:t>
            </a:r>
            <a:endParaRPr lang="en-US" sz="1200" dirty="0"/>
          </a:p>
          <a:p>
            <a:pPr indent="0" marL="0">
              <a:lnSpc>
                <a:spcPct val="150000"/>
              </a:lnSpc>
              <a:buNone/>
            </a:pPr>
            <a:r>
              <a:rPr lang="en-US" sz="1200" dirty="0">
                <a:solidFill>
                  <a:srgbClr val="FFFFFF"/>
                </a:solidFill>
              </a:rPr>
              <a:t>   未來應加強對腫瘤微環境的研究，特別是如何逆轉其免疫抑制特性，以增強免疫療法的效果。  </a:t>
            </a:r>
            <a:endParaRPr lang="en-US" sz="1200" dirty="0"/>
          </a:p>
          <a:p>
            <a:pPr indent="0" marL="0">
              <a:lnSpc>
                <a:spcPct val="150000"/>
              </a:lnSpc>
              <a:buNone/>
            </a:pPr>
            <a:r>
              <a:rPr lang="en-US" sz="1200" dirty="0">
                <a:solidFill>
                  <a:srgbClr val="FFFFFF"/>
                </a:solidFill>
              </a:rPr>
              <a:t>   Future research should focus on understanding the tumor microenvironment, particularly how to reverse its immunosuppressive characteristics to enhance the efficacy of immunotherapy.</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2. **維生素D與免疫療法的關聯**  </a:t>
            </a:r>
            <a:endParaRPr lang="en-US" sz="1200" dirty="0"/>
          </a:p>
          <a:p>
            <a:pPr indent="0" marL="0">
              <a:lnSpc>
                <a:spcPct val="150000"/>
              </a:lnSpc>
              <a:buNone/>
            </a:pPr>
            <a:r>
              <a:rPr lang="en-US" sz="1200" dirty="0">
                <a:solidFill>
                  <a:srgbClr val="FFFFFF"/>
                </a:solidFill>
              </a:rPr>
              <a:t>   **Exploring the relationship between vitamin D and immunotherapy**  </a:t>
            </a:r>
            <a:endParaRPr lang="en-US" sz="1200" dirty="0"/>
          </a:p>
          <a:p>
            <a:pPr indent="0" marL="0">
              <a:lnSpc>
                <a:spcPct val="150000"/>
              </a:lnSpc>
              <a:buNone/>
            </a:pPr>
            <a:r>
              <a:rPr lang="en-US" sz="1200" dirty="0">
                <a:solidFill>
                  <a:srgbClr val="FFFFFF"/>
                </a:solidFill>
              </a:rPr>
              <a:t>   需進一步探討維生素D水平對免疫療法療效的影響，並評估其作為預測生物標記的潛力。  </a:t>
            </a:r>
            <a:endParaRPr lang="en-US" sz="1200" dirty="0"/>
          </a:p>
          <a:p>
            <a:pPr indent="0" marL="0">
              <a:lnSpc>
                <a:spcPct val="150000"/>
              </a:lnSpc>
              <a:buNone/>
            </a:pPr>
            <a:r>
              <a:rPr lang="en-US" sz="1200" dirty="0">
                <a:solidFill>
                  <a:srgbClr val="FFFFFF"/>
                </a:solidFill>
              </a:rPr>
              <a:t>   Further exploration is needed on the impact of vitamin D levels on the efficacy of immunotherapy and assessing its potential as a predictive biomarker.</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3. **新型免疫療法的開發**  </a:t>
            </a:r>
            <a:endParaRPr lang="en-US" sz="1200" dirty="0"/>
          </a:p>
          <a:p>
            <a:pPr indent="0" marL="0">
              <a:lnSpc>
                <a:spcPct val="150000"/>
              </a:lnSpc>
              <a:buNone/>
            </a:pPr>
            <a:r>
              <a:rPr lang="en-US" sz="1200" dirty="0">
                <a:solidFill>
                  <a:srgbClr val="FFFFFF"/>
                </a:solidFill>
              </a:rPr>
              <a:t>   **Development of novel immunotherapies**  </a:t>
            </a:r>
            <a:endParaRPr lang="en-US" sz="1200" dirty="0"/>
          </a:p>
          <a:p>
            <a:pPr indent="0" marL="0">
              <a:lnSpc>
                <a:spcPct val="150000"/>
              </a:lnSpc>
              <a:buNone/>
            </a:pPr>
            <a:r>
              <a:rPr lang="en-US" sz="1200" dirty="0">
                <a:solidFill>
                  <a:srgbClr val="FFFFFF"/>
                </a:solidFill>
              </a:rPr>
              <a:t>   應持續開發新型免疫療法，特別是針對特定腫瘤驅動因子的治療，以提高對肝細胞癌的治療效果。  </a:t>
            </a:r>
            <a:endParaRPr lang="en-US" sz="1200" dirty="0"/>
          </a:p>
          <a:p>
            <a:pPr indent="0" marL="0">
              <a:lnSpc>
                <a:spcPct val="150000"/>
              </a:lnSpc>
              <a:buNone/>
            </a:pPr>
            <a:r>
              <a:rPr lang="en-US" sz="1200" dirty="0">
                <a:solidFill>
                  <a:srgbClr val="FFFFFF"/>
                </a:solidFill>
              </a:rPr>
              <a:t>   Continuous development of novel immunotherapies, particularly targeting specific tumor drivers, is essential to improve treatment outcomes for hepatocellular carcinoma.</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4. **臨床試驗設計的創新**  </a:t>
            </a:r>
            <a:endParaRPr lang="en-US" sz="1200" dirty="0"/>
          </a:p>
          <a:p>
            <a:pPr indent="0" marL="0">
              <a:lnSpc>
                <a:spcPct val="150000"/>
              </a:lnSpc>
              <a:buNone/>
            </a:pPr>
            <a:r>
              <a:rPr lang="en-US" sz="1200" dirty="0">
                <a:solidFill>
                  <a:srgbClr val="FFFFFF"/>
                </a:solidFill>
              </a:rPr>
              <a:t>   **Innovative clinical trial designs**  </a:t>
            </a:r>
            <a:endParaRPr lang="en-US" sz="1200" dirty="0"/>
          </a:p>
          <a:p>
            <a:pPr indent="0" marL="0">
              <a:lnSpc>
                <a:spcPct val="150000"/>
              </a:lnSpc>
              <a:buNone/>
            </a:pPr>
            <a:r>
              <a:rPr lang="en-US" sz="1200" dirty="0">
                <a:solidFill>
                  <a:srgbClr val="FFFFFF"/>
                </a:solidFill>
              </a:rPr>
              <a:t>   需要設計創新的臨床試驗，以評估不同治療組合的療效，並確定最佳的治療時機和療程。  </a:t>
            </a:r>
            <a:endParaRPr lang="en-US" sz="1200" dirty="0"/>
          </a:p>
          <a:p>
            <a:pPr indent="0" marL="0">
              <a:lnSpc>
                <a:spcPct val="150000"/>
              </a:lnSpc>
              <a:buNone/>
            </a:pPr>
            <a:r>
              <a:rPr lang="en-US" sz="1200" dirty="0">
                <a:solidFill>
                  <a:srgbClr val="FFFFFF"/>
                </a:solidFill>
              </a:rPr>
              <a:t>   Innovative clinical trial designs are needed to evaluate the efficacy of different treatment combinations and determine the optimal timing and duration of therapy.</a:t>
            </a:r>
            <a:endParaRPr lang="en-US" sz="1200" dirty="0"/>
          </a:p>
          <a:p>
            <a:pPr indent="0" marL="0">
              <a:lnSpc>
                <a:spcPct val="150000"/>
              </a:lnSpc>
              <a:buNone/>
            </a:pPr>
            <a:endParaRPr lang="en-US" sz="1200" dirty="0"/>
          </a:p>
          <a:p>
            <a:pPr indent="0" marL="0">
              <a:lnSpc>
                <a:spcPct val="150000"/>
              </a:lnSpc>
              <a:buNone/>
            </a:pPr>
            <a:r>
              <a:rPr lang="en-US" sz="1200" dirty="0">
                <a:solidFill>
                  <a:srgbClr val="FFFFFF"/>
                </a:solidFill>
              </a:rPr>
              <a:t>5. **多學科合作的推進**  </a:t>
            </a:r>
            <a:endParaRPr lang="en-US" sz="1200" dirty="0"/>
          </a:p>
          <a:p>
            <a:pPr indent="0" marL="0">
              <a:lnSpc>
                <a:spcPct val="150000"/>
              </a:lnSpc>
              <a:buNone/>
            </a:pPr>
            <a:r>
              <a:rPr lang="en-US" sz="1200" dirty="0">
                <a:solidFill>
                  <a:srgbClr val="FFFFFF"/>
                </a:solidFill>
              </a:rPr>
              <a:t>   **Advancement of multidisciplinary collaboration**  </a:t>
            </a:r>
            <a:endParaRPr lang="en-US" sz="1200" dirty="0"/>
          </a:p>
          <a:p>
            <a:pPr indent="0" marL="0">
              <a:lnSpc>
                <a:spcPct val="150000"/>
              </a:lnSpc>
              <a:buNone/>
            </a:pPr>
            <a:r>
              <a:rPr lang="en-US" sz="1200" dirty="0">
                <a:solidFill>
                  <a:srgbClr val="FFFFFF"/>
                </a:solidFill>
              </a:rPr>
              <a:t>   推動腫瘤學、免疫學和放射學等領域的多學科合作，以促進綜合治療策略的發展。  </a:t>
            </a:r>
            <a:endParaRPr lang="en-US" sz="1200" dirty="0"/>
          </a:p>
          <a:p>
            <a:pPr indent="0" marL="0">
              <a:lnSpc>
                <a:spcPct val="150000"/>
              </a:lnSpc>
              <a:buNone/>
            </a:pPr>
            <a:r>
              <a:rPr lang="en-US" sz="1200" dirty="0">
                <a:solidFill>
                  <a:srgbClr val="FFFFFF"/>
                </a:solidFill>
              </a:rPr>
              <a:t>   Promoting multidisciplinary collaboration among oncology, immunology, and radiology is crucial to advance the development of integrated treatment strategies.</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1A1A1A"/>
        </a:solidFill>
      </p:bgPr>
    </p:bg>
    <p:spTree>
      <p:nvGrpSpPr>
        <p:cNvPr id="1" name=""/>
        <p:cNvGrpSpPr/>
        <p:nvPr/>
      </p:nvGrpSpPr>
      <p:grpSpPr>
        <a:xfrm>
          <a:off x="0" y="0"/>
          <a:ext cx="0" cy="0"/>
          <a:chOff x="0" y="0"/>
          <a:chExt cx="0" cy="0"/>
        </a:xfrm>
      </p:grpSpPr>
      <p:sp>
        <p:nvSpPr>
          <p:cNvPr id="2" name="Text 0"/>
          <p:cNvSpPr/>
          <p:nvPr/>
        </p:nvSpPr>
        <p:spPr>
          <a:xfrm>
            <a:off x="731520" y="2286000"/>
            <a:ext cx="10058400" cy="0"/>
          </a:xfrm>
          <a:prstGeom prst="rect">
            <a:avLst/>
          </a:prstGeom>
          <a:noFill/>
          <a:ln/>
        </p:spPr>
        <p:txBody>
          <a:bodyPr wrap="square" lIns="0" tIns="0" rIns="0" bIns="0" rtlCol="0" anchor="ctr"/>
          <a:lstStyle/>
          <a:p>
            <a:pPr indent="0" marL="0">
              <a:buNone/>
            </a:pPr>
            <a:r>
              <a:rPr lang="en-US" sz="4800" b="1" dirty="0">
                <a:solidFill>
                  <a:srgbClr val="FFFFFF"/>
                </a:solidFill>
                <a:latin typeface="Arial" pitchFamily="34" charset="0"/>
                <a:ea typeface="Arial" pitchFamily="34" charset="-122"/>
                <a:cs typeface="Arial" pitchFamily="34" charset="-120"/>
              </a:rPr>
              <a:t>Thank You</a:t>
            </a:r>
            <a:endParaRPr lang="en-US" sz="4800" dirty="0"/>
          </a:p>
        </p:txBody>
      </p:sp>
      <p:sp>
        <p:nvSpPr>
          <p:cNvPr id="3" name="Text 1"/>
          <p:cNvSpPr/>
          <p:nvPr/>
        </p:nvSpPr>
        <p:spPr>
          <a:xfrm>
            <a:off x="731520" y="3749040"/>
            <a:ext cx="10058400" cy="0"/>
          </a:xfrm>
          <a:prstGeom prst="rect">
            <a:avLst/>
          </a:prstGeom>
          <a:noFill/>
          <a:ln/>
        </p:spPr>
        <p:txBody>
          <a:bodyPr wrap="square" lIns="0" tIns="0" rIns="0" bIns="0" rtlCol="0" anchor="ctr"/>
          <a:lstStyle/>
          <a:p>
            <a:pPr indent="0" marL="0">
              <a:buNone/>
            </a:pPr>
            <a:r>
              <a:rPr lang="en-US" sz="2400" dirty="0">
                <a:solidFill>
                  <a:srgbClr val="888888"/>
                </a:solidFill>
                <a:latin typeface="Microsoft JhengHei" pitchFamily="34" charset="0"/>
                <a:ea typeface="Microsoft JhengHei" pitchFamily="34" charset="-122"/>
                <a:cs typeface="Microsoft JhengHei" pitchFamily="34" charset="-120"/>
              </a:rPr>
              <a:t>謝謝</a:t>
            </a:r>
            <a:endParaRPr lang="en-US" sz="2400" dirty="0"/>
          </a:p>
        </p:txBody>
      </p:sp>
      <p:sp>
        <p:nvSpPr>
          <p:cNvPr id="4" name="Text 2"/>
          <p:cNvSpPr/>
          <p:nvPr/>
        </p:nvSpPr>
        <p:spPr>
          <a:xfrm>
            <a:off x="731520" y="4572000"/>
            <a:ext cx="10058400" cy="0"/>
          </a:xfrm>
          <a:prstGeom prst="rect">
            <a:avLst/>
          </a:prstGeom>
          <a:noFill/>
          <a:ln/>
        </p:spPr>
        <p:txBody>
          <a:bodyPr wrap="square" lIns="0" tIns="0" rIns="0" bIns="0" rtlCol="0" anchor="ctr"/>
          <a:lstStyle/>
          <a:p>
            <a:pPr indent="0" marL="0">
              <a:buNone/>
            </a:pPr>
            <a:r>
              <a:rPr lang="en-US" sz="1100" dirty="0">
                <a:solidFill>
                  <a:srgbClr val="888888"/>
                </a:solidFill>
              </a:rPr>
              <a:t>HCC Weekly Digest · 呂大教授 敬啟</a:t>
            </a:r>
            <a:endParaRPr lang="en-US" sz="11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肝癌免疫治療與局部消融文獻週報</dc:title>
  <dc:subject>PptxGenJS Presentation</dc:subject>
  <dc:creator>HCC Weekly Digest</dc:creator>
  <cp:lastModifiedBy>HCC Weekly Digest</cp:lastModifiedBy>
  <cp:revision>1</cp:revision>
  <dcterms:created xsi:type="dcterms:W3CDTF">2026-06-29T01:45:19Z</dcterms:created>
  <dcterms:modified xsi:type="dcterms:W3CDTF">2026-06-29T01:45:19Z</dcterms:modified>
</cp:coreProperties>
</file>