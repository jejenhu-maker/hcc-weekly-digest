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07/s00262-026-04399-8" TargetMode="External"/><Relationship Id="rId2" Type="http://schemas.openxmlformats.org/officeDocument/2006/relationships/hyperlink" Target="https://doi.org/10.1007/s00262-026-04399-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97/HEP.0000000000001444" TargetMode="External"/><Relationship Id="rId2" Type="http://schemas.openxmlformats.org/officeDocument/2006/relationships/hyperlink" Target="https://doi.org/10.1097/HEP.000000000000144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hep.2025.10.026" TargetMode="External"/><Relationship Id="rId2" Type="http://schemas.openxmlformats.org/officeDocument/2006/relationships/hyperlink" Target="https://doi.org/10.1016/j.jhep.2025.10.026"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36/gutjnl-2025-337331" TargetMode="External"/><Relationship Id="rId2" Type="http://schemas.openxmlformats.org/officeDocument/2006/relationships/hyperlink" Target="https://doi.org/10.1136/gutjnl-2025-337331"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critrevonc.2026.105248" TargetMode="External"/><Relationship Id="rId2" Type="http://schemas.openxmlformats.org/officeDocument/2006/relationships/hyperlink" Target="https://doi.org/10.1016/j.critrevonc.2026.10524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11/liv.70647" TargetMode="External"/><Relationship Id="rId2" Type="http://schemas.openxmlformats.org/officeDocument/2006/relationships/hyperlink" Target="https://doi.org/10.1111/liv.70647"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11/liv.70617" TargetMode="External"/><Relationship Id="rId2" Type="http://schemas.openxmlformats.org/officeDocument/2006/relationships/hyperlink" Target="https://doi.org/10.1111/liv.70617"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3348/kjr.2025.1849" TargetMode="External"/><Relationship Id="rId2" Type="http://schemas.openxmlformats.org/officeDocument/2006/relationships/hyperlink" Target="https://doi.org/10.3348/kjr.2025.184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21873/anticanres.18141" TargetMode="External"/><Relationship Id="rId2" Type="http://schemas.openxmlformats.org/officeDocument/2006/relationships/hyperlink" Target="https://doi.org/10.21873/anticanres.1814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2026-04-27 — 2026-05-04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AdvanTIG-206: a phase II, randomized study of ociperlimab plus tislelizumab and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Development and validation of a risk prediction model for patients with hepatoce…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 etiology-stratified single-cell atlas identifies FABP4 as a prognostic marker…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JOSD1 drives hepatocellular carcinoma malignancy by modulating the ubiquitinatio…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Viral hepatitis and immunotherapy outcome in advanced hepatocellular carcinoma: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Lenvatinib Versus Bevacizumab in Combination With Anti-PD-1/PD-L1 Therapy for uH…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Low-Dose Bevacizumab Maintains Efficacy With Reduced Adverse Events in Liver Can…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Radiologic Response Assessment With RECIST 1.1 and mRECIST in Patients With Hepa…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Identification of Risk Factors for the Local Recurrence of Hepatocellular Carcin…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AdvanTIG-206: a phase II, randomized study of ociperlimab plus tislelizumab and BAT1706 (bevacizumab biosimilar) versus tislelizumab and BAT1706 in first-line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immunology, immunotherapy : CII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針對晚期HCC患者的第二期試驗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測試Ociperlimab加Tislelizumab和BAT1706</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確認ORR：37.1%（A組），40.6%（B組）</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高比例治療相關不良事件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未發現新安全信號</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Ren Zhenggang, Huang Yao, Guo Yabing et al.. Cancer immunology, immunotherapy : CII. 2026-04-28 DOI: 10.1007/s00262-026-04399-8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Development and validation of a risk prediction model for patients with hepatocellular carcinoma receiving atezolizumab-bevacizumab.</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Atezolizumab-bevacizumab為標準治療。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開發CRAPT-M風險預測模型。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識別五個獨立預後因子。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中位OS依風險組別而異。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CRAPT-M準確度高於CRAFITY。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Nam Heechul, Kim Dong Yun, Kim Do Young et al.. Hepatology (Baltimore, Md.). 2026-04-17 DOI: 10.1097/HEP.0000000000001444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 etiology-stratified single-cell atlas identifies FABP4 as a prognostic marker for MASLD-related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研究比較HCC腫瘤微環境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FABP4被確定為預後生物標記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HBV+MASLD+ HCC免疫治療效果最佳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MASLD+ HCC中CD8+ T細胞增加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FABP4促進血管正常化及T細胞浸潤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Shuyuan, Xu Huanhuan, Li Mingwei et al.. Journal of hepatology. 2026-04-17 DOI: 10.1016/j.jhep.2025.10.026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JOSD1 drives hepatocellular carcinoma malignancy by modulating the ubiquitination-lactylation switch on PGAM1.</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JOSD1 增強 HCC 的糖酵解。</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過表達導致預後不良。</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調節 PGAM1 的泛素化-乳酸化。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 CD8+ T 細胞功能受損。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 JOSD1 與抗 PD-1 協同作用。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 Qing, Yu Kai, Zhou Suiqing et al.. Gut. 2026-04-28 DOI: 10.1136/gutjnl-2025-337331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Viral hepatitis and immunotherapy outcome in advanced hepatocellular carcinoma: A comprehensive umbrella review of 15 meta-analyses.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Critical reviews in oncology/hematology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免疫檢查點抑制劑改善HCC存活率。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HBV患者效益大於非病毒性。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各meta分析結果高度重疊。</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現實數據顯示atezolizumab不一致。</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需謹慎解讀亞組結果。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Petrelli Fausto, Colombo Silvia, Dottorini Lorenzo et al.. Critical reviews in oncology/hematology. 2026-04-12 DOI: 10.1016/j.critrevonc.2026.105248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Lenvatinib Versus Bevacizumab in Combination With Anti-PD-1/PD-L1 Therapy for uHCC: A Meta-Analysis of East Asian Studies.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Liver international : official journal of the International Association for the Study of the Liver  ·  IF 6.0  ·  RCT</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Lenvatinib延長總生存期。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Lenvatinib改善無進展生存期。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反應率無顯著差異。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Lenvatinib有較高手足反應。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Bevacizumab有較高腸胃風險。</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Xiaoxia, Wang Shuo, Lu Jun et al.. Liver international : official journal of the International Association for the Study of the Liver. 2026-04-20 DOI: 10.1111/liv.70647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Low-Dose Bevacizumab Maintains Efficacy With Reduced Adverse Events in Liver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Liver international : official journal of the International Association for the Study of the Liver  ·  IF 6.0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低劑量bevacizumab對肝癌有效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不良事件較標準劑量減少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無進展生存率相似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低級毒性發生率降低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改善治療耐受性潛力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Lin Po-Ting, Teng Wei, Hsieh Yi-Chung et al.. Liver international : official journal of the International Association for the Study of the Liver. 2026-03-28 DOI: 10.1111/liv.70617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使用經動脈化療栓塞(TACE)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PD-1抑制劑提升療效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第二期試驗顯示良好結果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有潛力轉化為可切除病變</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Radiologic Response Assessment With RECIST 1.1 and mRECIST in Patients With Hepatocellular Carcinoma Treated With Atezolizumab Plus Bevacizumab.</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Korean journal of radiology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研究比較RECIST 1.1與mRECIST。</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207名接受Atezo/Bev的HCC患者。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mRECIST識別的反應者多於RECIST 1.1。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RECIST 1.1顯示優秀的讀者一致性。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兩種方法獨立預測整體生存率。</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Jeong Boryeong, Park Hyo Jung, Choi Won-Mook et al.. Korean journal of radiology. 2026-04-30 DOI: 10.3348/kjr.2025.1849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Identification of Risk Factors for the Local Recurrence of Hepatocellular Carcinoma Post-radiofrequency Ablation.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Anticancer research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射頻消融對HCC有效。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局部復發率在RFA後變化大。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腫瘤大小和位置是關鍵風險因素。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RFA前進行TACE影響LR組復發。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對於LR病例可能需考慮其他治療。</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Tanaka Kosuke, Kuwano Akifumi, Yada Masayoshi et al.. Anticancer research. 2026-04-28 DOI: 10.21873/anticanres.18141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**新療法的需求**  </a:t>
            </a:r>
            <a:endParaRPr lang="en-US" sz="1200" dirty="0"/>
          </a:p>
          <a:p>
            <a:pPr indent="0" marL="0">
              <a:lnSpc>
                <a:spcPct val="150000"/>
              </a:lnSpc>
              <a:buNone/>
            </a:pPr>
            <a:r>
              <a:rPr lang="en-US" sz="1200" dirty="0">
                <a:solidFill>
                  <a:srgbClr val="FFFFFF"/>
                </a:solidFill>
              </a:rPr>
              <a:t>   The study highlights the urgent need for innovative therapies to improve survival rates in hepatocellular carcinoma (HCC) patients, as current treatment options remain limited.  </a:t>
            </a:r>
            <a:endParaRPr lang="en-US" sz="1200" dirty="0"/>
          </a:p>
          <a:p>
            <a:pPr indent="0" marL="0">
              <a:lnSpc>
                <a:spcPct val="150000"/>
              </a:lnSpc>
              <a:buNone/>
            </a:pPr>
            <a:r>
              <a:rPr lang="en-US" sz="1200" dirty="0">
                <a:solidFill>
                  <a:srgbClr val="FFFFFF"/>
                </a:solidFill>
              </a:rPr>
              <a:t>   研究強調了創新療法在肝細胞癌（HCC）患者中改善生存率的迫切需求，因為目前的治療選擇仍然有限。</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**預後生物標記的挑戰**  </a:t>
            </a:r>
            <a:endParaRPr lang="en-US" sz="1200" dirty="0"/>
          </a:p>
          <a:p>
            <a:pPr indent="0" marL="0">
              <a:lnSpc>
                <a:spcPct val="150000"/>
              </a:lnSpc>
              <a:buNone/>
            </a:pPr>
            <a:r>
              <a:rPr lang="en-US" sz="1200" dirty="0">
                <a:solidFill>
                  <a:srgbClr val="FFFFFF"/>
                </a:solidFill>
              </a:rPr>
              <a:t>   Identifying reliable prognostic biomarkers for HCC remains a significant challenge, which is crucial for tailoring treatment strategies and improving patient outcomes.  </a:t>
            </a:r>
            <a:endParaRPr lang="en-US" sz="1200" dirty="0"/>
          </a:p>
          <a:p>
            <a:pPr indent="0" marL="0">
              <a:lnSpc>
                <a:spcPct val="150000"/>
              </a:lnSpc>
              <a:buNone/>
            </a:pPr>
            <a:r>
              <a:rPr lang="en-US" sz="1200" dirty="0">
                <a:solidFill>
                  <a:srgbClr val="FFFFFF"/>
                </a:solidFill>
              </a:rPr>
              <a:t>   確定肝細胞癌的可靠預後生物標記仍然是一個重大挑戰，這對於量身定制治療策略和改善患者預後至關重要。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**代謝重編程的角色**  </a:t>
            </a:r>
            <a:endParaRPr lang="en-US" sz="1200" dirty="0"/>
          </a:p>
          <a:p>
            <a:pPr indent="0" marL="0">
              <a:lnSpc>
                <a:spcPct val="150000"/>
              </a:lnSpc>
              <a:buNone/>
            </a:pPr>
            <a:r>
              <a:rPr lang="en-US" sz="1200" dirty="0">
                <a:solidFill>
                  <a:srgbClr val="FFFFFF"/>
                </a:solidFill>
              </a:rPr>
              <a:t>   The role of metabolic reprogramming in HCC malignancy and immune evasion is increasingly recognized, suggesting potential targets for therapeutic intervention.  </a:t>
            </a:r>
            <a:endParaRPr lang="en-US" sz="1200" dirty="0"/>
          </a:p>
          <a:p>
            <a:pPr indent="0" marL="0">
              <a:lnSpc>
                <a:spcPct val="150000"/>
              </a:lnSpc>
              <a:buNone/>
            </a:pPr>
            <a:r>
              <a:rPr lang="en-US" sz="1200" dirty="0">
                <a:solidFill>
                  <a:srgbClr val="FFFFFF"/>
                </a:solidFill>
              </a:rPr>
              <a:t>   代謝重編程在HCC惡性腫瘤和免疫逃逸中的角色越來越受到重視，這表明可能成為治療介入的潛在靶點。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**免疫治療的整合**  </a:t>
            </a:r>
            <a:endParaRPr lang="en-US" sz="1200" dirty="0"/>
          </a:p>
          <a:p>
            <a:pPr indent="0" marL="0">
              <a:lnSpc>
                <a:spcPct val="150000"/>
              </a:lnSpc>
              <a:buNone/>
            </a:pPr>
            <a:r>
              <a:rPr lang="en-US" sz="1200" dirty="0">
                <a:solidFill>
                  <a:srgbClr val="FFFFFF"/>
                </a:solidFill>
              </a:rPr>
              <a:t>   The integration of immune checkpoint inhibitors with other therapies, such as anti-VEGF agents, shows promise in enhancing treatment efficacy for advanced HCC.  </a:t>
            </a:r>
            <a:endParaRPr lang="en-US" sz="1200" dirty="0"/>
          </a:p>
          <a:p>
            <a:pPr indent="0" marL="0">
              <a:lnSpc>
                <a:spcPct val="150000"/>
              </a:lnSpc>
              <a:buNone/>
            </a:pPr>
            <a:r>
              <a:rPr lang="en-US" sz="1200" dirty="0">
                <a:solidFill>
                  <a:srgbClr val="FFFFFF"/>
                </a:solidFill>
              </a:rPr>
              <a:t>   免疫檢查點抑制劑與其他療法（如抗VEGF藥物）的整合顯示出增強晚期HCC治療效果的潛力。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**局部消融的風險因素**  </a:t>
            </a:r>
            <a:endParaRPr lang="en-US" sz="1200" dirty="0"/>
          </a:p>
          <a:p>
            <a:pPr indent="0" marL="0">
              <a:lnSpc>
                <a:spcPct val="150000"/>
              </a:lnSpc>
              <a:buNone/>
            </a:pPr>
            <a:r>
              <a:rPr lang="en-US" sz="1200" dirty="0">
                <a:solidFill>
                  <a:srgbClr val="FFFFFF"/>
                </a:solidFill>
              </a:rPr>
              <a:t>   Understanding the risk factors for local recurrence after radiofrequency ablation is essential for optimizing treatment protocols and improving long-term outcomes in HCC patients.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理解射頻消融後局部復發的風險因素對於優化治療方案和改善HCC患者的長期預後至關重要。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**生物標記的發現與驗證**  </a:t>
            </a:r>
            <a:endParaRPr lang="en-US" sz="1200" dirty="0"/>
          </a:p>
          <a:p>
            <a:pPr indent="0" marL="0">
              <a:lnSpc>
                <a:spcPct val="150000"/>
              </a:lnSpc>
              <a:buNone/>
            </a:pPr>
            <a:r>
              <a:rPr lang="en-US" sz="1200" dirty="0">
                <a:solidFill>
                  <a:srgbClr val="FFFFFF"/>
                </a:solidFill>
              </a:rPr>
              <a:t>   Future studies should focus on the discovery and validation of robust prognostic biomarkers to enhance personalized treatment approaches in HCC.  </a:t>
            </a:r>
            <a:endParaRPr lang="en-US" sz="1200" dirty="0"/>
          </a:p>
          <a:p>
            <a:pPr indent="0" marL="0">
              <a:lnSpc>
                <a:spcPct val="150000"/>
              </a:lnSpc>
              <a:buNone/>
            </a:pPr>
            <a:r>
              <a:rPr lang="en-US" sz="1200" dirty="0">
                <a:solidFill>
                  <a:srgbClr val="FFFFFF"/>
                </a:solidFill>
              </a:rPr>
              <a:t>   未來研究應專注於發現和驗證穩健的預後生物標記，以增強HCC的個性化治療方法。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**免疫治療組合的探索**  </a:t>
            </a:r>
            <a:endParaRPr lang="en-US" sz="1200" dirty="0"/>
          </a:p>
          <a:p>
            <a:pPr indent="0" marL="0">
              <a:lnSpc>
                <a:spcPct val="150000"/>
              </a:lnSpc>
              <a:buNone/>
            </a:pPr>
            <a:r>
              <a:rPr lang="en-US" sz="1200" dirty="0">
                <a:solidFill>
                  <a:srgbClr val="FFFFFF"/>
                </a:solidFill>
              </a:rPr>
              <a:t>   Investigating novel combinations of immune therapies with traditional treatments could provide synergistic effects and improve outcomes in HCC patients.  </a:t>
            </a:r>
            <a:endParaRPr lang="en-US" sz="1200" dirty="0"/>
          </a:p>
          <a:p>
            <a:pPr indent="0" marL="0">
              <a:lnSpc>
                <a:spcPct val="150000"/>
              </a:lnSpc>
              <a:buNone/>
            </a:pPr>
            <a:r>
              <a:rPr lang="en-US" sz="1200" dirty="0">
                <a:solidFill>
                  <a:srgbClr val="FFFFFF"/>
                </a:solidFill>
              </a:rPr>
              <a:t>   探索免疫療法與傳統治療的新組合可能會提供協同效果並改善HCC患者的預後。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**代謝重編程的機制研究**  </a:t>
            </a:r>
            <a:endParaRPr lang="en-US" sz="1200" dirty="0"/>
          </a:p>
          <a:p>
            <a:pPr indent="0" marL="0">
              <a:lnSpc>
                <a:spcPct val="150000"/>
              </a:lnSpc>
              <a:buNone/>
            </a:pPr>
            <a:r>
              <a:rPr lang="en-US" sz="1200" dirty="0">
                <a:solidFill>
                  <a:srgbClr val="FFFFFF"/>
                </a:solidFill>
              </a:rPr>
              <a:t>   Further research is needed to elucidate the mechanisms of metabolic reprogramming in HCC and its impact on tumor progression and immune response.  </a:t>
            </a:r>
            <a:endParaRPr lang="en-US" sz="1200" dirty="0"/>
          </a:p>
          <a:p>
            <a:pPr indent="0" marL="0">
              <a:lnSpc>
                <a:spcPct val="150000"/>
              </a:lnSpc>
              <a:buNone/>
            </a:pPr>
            <a:r>
              <a:rPr lang="en-US" sz="1200" dirty="0">
                <a:solidFill>
                  <a:srgbClr val="FFFFFF"/>
                </a:solidFill>
              </a:rPr>
              <a:t>   需要進一步研究以闡明HCC中代謝重編程的機制及其對腫瘤進展和免疫反應的影響。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**局部治療的優化**  </a:t>
            </a:r>
            <a:endParaRPr lang="en-US" sz="1200" dirty="0"/>
          </a:p>
          <a:p>
            <a:pPr indent="0" marL="0">
              <a:lnSpc>
                <a:spcPct val="150000"/>
              </a:lnSpc>
              <a:buNone/>
            </a:pPr>
            <a:r>
              <a:rPr lang="en-US" sz="1200" dirty="0">
                <a:solidFill>
                  <a:srgbClr val="FFFFFF"/>
                </a:solidFill>
              </a:rPr>
              <a:t>   Studies aimed at optimizing local ablation techniques and identifying patient-specific factors could reduce recurrence rates and enhance treatment efficacy.  </a:t>
            </a:r>
            <a:endParaRPr lang="en-US" sz="1200" dirty="0"/>
          </a:p>
          <a:p>
            <a:pPr indent="0" marL="0">
              <a:lnSpc>
                <a:spcPct val="150000"/>
              </a:lnSpc>
              <a:buNone/>
            </a:pPr>
            <a:r>
              <a:rPr lang="en-US" sz="1200" dirty="0">
                <a:solidFill>
                  <a:srgbClr val="FFFFFF"/>
                </a:solidFill>
              </a:rPr>
              <a:t>   旨在優化局部消融技術並識別患者特定因素的研究可以降低復發率並提高治療效果。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**病毒性肝炎與免疫反應的關聯**  </a:t>
            </a:r>
            <a:endParaRPr lang="en-US" sz="1200" dirty="0"/>
          </a:p>
          <a:p>
            <a:pPr indent="0" marL="0">
              <a:lnSpc>
                <a:spcPct val="150000"/>
              </a:lnSpc>
              <a:buNone/>
            </a:pPr>
            <a:r>
              <a:rPr lang="en-US" sz="1200" dirty="0">
                <a:solidFill>
                  <a:srgbClr val="FFFFFF"/>
                </a:solidFill>
              </a:rPr>
              <a:t>   Investigating the interplay between viral hepatitis and immune response in HCC could lead to better understanding and management of treatment outcomes.  </a:t>
            </a:r>
            <a:endParaRPr lang="en-US" sz="1200" dirty="0"/>
          </a:p>
          <a:p>
            <a:pPr indent="0" marL="0">
              <a:lnSpc>
                <a:spcPct val="150000"/>
              </a:lnSpc>
              <a:buNone/>
            </a:pPr>
            <a:r>
              <a:rPr lang="en-US" sz="1200" dirty="0">
                <a:solidFill>
                  <a:srgbClr val="FFFFFF"/>
                </a:solidFill>
              </a:rPr>
              <a:t>   研究病毒性肝炎與HCC中免疫反應的相互作用可能有助於更好地理解和管理治療結果。</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2026-05-04T04:39:20Z</dcterms:created>
  <dcterms:modified xsi:type="dcterms:W3CDTF">2026-05-04T04:39:20Z</dcterms:modified>
</cp:coreProperties>
</file>