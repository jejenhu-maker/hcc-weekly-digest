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癌症特徵指導治療策略。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HCC展現獨特免疫逃逸特徵。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iCCA有獨特基因變異。</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測試新輔助SBRT和免疫治療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8名HCC患者的初步研究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安全性高，副作用少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顯著的免疫浸潤現象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所有切除患者無復發</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肝切除影響抗PD-1療法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使用小鼠模型研究HCC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新輔助療效保持不變</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Lactobacillus johnsonii 增強 CD8+ T 細胞擴增。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較高水平與無病生存相關。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Nicotinic acid 激活 NF-κB 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聯合療法減少腫瘤復發。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CD8+ T 細胞對療效至關重要。</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CAFs 促進 HCC 免疫抑制。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NNMT 調控 ANGPTL4 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ANGPTL4 增強腫瘤免疫逃逸。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靶向 NNMT-ANGPTL4 恢復 T 細胞活性。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與抗 PD-L1 治療協同作用。</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Fc區域影響PD-1療法效果。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耗竭病毒特異性CD8 T細胞。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吞噬細胞介導T細胞耗竭。</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針對PVTT的HCC II期研究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HAIC結合lenvatinib和PD-1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優於單一療法的結果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具治癒意圖的潛力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聚焦於晚期肝細胞癌</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使用肝動脈化療栓塞(TACE)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PD-1抑制劑提高療效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轉化為可切除疾病的潛力</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Atez+Bev 在 Dur+Tre 後有效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ORR 25% 和 DCR 75% 表現</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安全性特徵兩者不同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Dur+Tre 可能增強免疫反應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常見不良事件為瘙癢</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局部消融療法包括 RFA 和微波消融。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EBRT 與局部消融治療比較 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 分析顯示局部無進展生存優勢。</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**The Potential of Immunotherapy**  </a:t>
            </a:r>
            <a:endParaRPr lang="en-US" sz="1200" dirty="0"/>
          </a:p>
          <a:p>
            <a:pPr indent="0" marL="0">
              <a:lnSpc>
                <a:spcPct val="150000"/>
              </a:lnSpc>
              <a:buNone/>
            </a:pPr>
            <a:r>
              <a:rPr lang="en-US" sz="1200" dirty="0">
                <a:solidFill>
                  <a:srgbClr val="FFFFFF"/>
                </a:solidFill>
              </a:rPr>
              <a:t>   免疫治療在晚期肝細胞癌（HCC）中的應用顯著改善了治療選擇，但在早期階段的最佳使用仍需進一步探索。  </a:t>
            </a:r>
            <a:endParaRPr lang="en-US" sz="1200" dirty="0"/>
          </a:p>
          <a:p>
            <a:pPr indent="0" marL="0">
              <a:lnSpc>
                <a:spcPct val="150000"/>
              </a:lnSpc>
              <a:buNone/>
            </a:pPr>
            <a:r>
              <a:rPr lang="en-US" sz="1200" dirty="0">
                <a:solidFill>
                  <a:srgbClr val="FFFFFF"/>
                </a:solidFill>
              </a:rPr>
              <a:t>   Immunotherapy has significantly improved treatment options for advanced hepatocellular carcinoma (HCC), yet optimal usage in earlier stages remains to be fully explored.</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**Remodeling of Tumor Microenvironment**  </a:t>
            </a:r>
            <a:endParaRPr lang="en-US" sz="1200" dirty="0"/>
          </a:p>
          <a:p>
            <a:pPr indent="0" marL="0">
              <a:lnSpc>
                <a:spcPct val="150000"/>
              </a:lnSpc>
              <a:buNone/>
            </a:pPr>
            <a:r>
              <a:rPr lang="en-US" sz="1200" dirty="0">
                <a:solidFill>
                  <a:srgbClr val="FFFFFF"/>
                </a:solidFill>
              </a:rPr>
              <a:t>   新的研究顯示，術前立體定向放射治療結合免疫治療能有效改變HCC的腫瘤微環境，促進治療效果。  </a:t>
            </a:r>
            <a:endParaRPr lang="en-US" sz="1200" dirty="0"/>
          </a:p>
          <a:p>
            <a:pPr indent="0" marL="0">
              <a:lnSpc>
                <a:spcPct val="150000"/>
              </a:lnSpc>
              <a:buNone/>
            </a:pPr>
            <a:r>
              <a:rPr lang="en-US" sz="1200" dirty="0">
                <a:solidFill>
                  <a:srgbClr val="FFFFFF"/>
                </a:solidFill>
              </a:rPr>
              <a:t>   Recent studies indicate that neoadjuvant stereotactic body radiation therapy combined with immunotherapy can effectively remodel the tumor microenvironment in HCC, enhancing treatment efficacy.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**癌症相關成纖維細胞的角色**  </a:t>
            </a:r>
            <a:endParaRPr lang="en-US" sz="1200" dirty="0"/>
          </a:p>
          <a:p>
            <a:pPr indent="0" marL="0">
              <a:lnSpc>
                <a:spcPct val="150000"/>
              </a:lnSpc>
              <a:buNone/>
            </a:pPr>
            <a:r>
              <a:rPr lang="en-US" sz="1200" dirty="0">
                <a:solidFill>
                  <a:srgbClr val="FFFFFF"/>
                </a:solidFill>
              </a:rPr>
              <a:t>   **Role of Cancer-Associated Fibroblasts**  </a:t>
            </a:r>
            <a:endParaRPr lang="en-US" sz="1200" dirty="0"/>
          </a:p>
          <a:p>
            <a:pPr indent="0" marL="0">
              <a:lnSpc>
                <a:spcPct val="150000"/>
              </a:lnSpc>
              <a:buNone/>
            </a:pPr>
            <a:r>
              <a:rPr lang="en-US" sz="1200" dirty="0">
                <a:solidFill>
                  <a:srgbClr val="FFFFFF"/>
                </a:solidFill>
              </a:rPr>
              <a:t>   癌症相關成纖維細胞（CAFs）在HCC中推動免疫抑制，理解其代謝調控對開發新療法至關重要。  </a:t>
            </a:r>
            <a:endParaRPr lang="en-US" sz="1200" dirty="0"/>
          </a:p>
          <a:p>
            <a:pPr indent="0" marL="0">
              <a:lnSpc>
                <a:spcPct val="150000"/>
              </a:lnSpc>
              <a:buNone/>
            </a:pPr>
            <a:r>
              <a:rPr lang="en-US" sz="1200" dirty="0">
                <a:solidFill>
                  <a:srgbClr val="FFFFFF"/>
                </a:solidFill>
              </a:rPr>
              <a:t>   Cancer-associated fibroblasts (CAFs) drive immunosuppression in HCC, and understanding their metabolic regulation is crucial for developing new therapeutic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**手術後復發的挑戰**  </a:t>
            </a:r>
            <a:endParaRPr lang="en-US" sz="1200" dirty="0"/>
          </a:p>
          <a:p>
            <a:pPr indent="0" marL="0">
              <a:lnSpc>
                <a:spcPct val="150000"/>
              </a:lnSpc>
              <a:buNone/>
            </a:pPr>
            <a:r>
              <a:rPr lang="en-US" sz="1200" dirty="0">
                <a:solidFill>
                  <a:srgbClr val="FFFFFF"/>
                </a:solidFill>
              </a:rPr>
              <a:t>   **Challenges of Postoperative Recurrence**  </a:t>
            </a:r>
            <a:endParaRPr lang="en-US" sz="1200" dirty="0"/>
          </a:p>
          <a:p>
            <a:pPr indent="0" marL="0">
              <a:lnSpc>
                <a:spcPct val="150000"/>
              </a:lnSpc>
              <a:buNone/>
            </a:pPr>
            <a:r>
              <a:rPr lang="en-US" sz="1200" dirty="0">
                <a:solidFill>
                  <a:srgbClr val="FFFFFF"/>
                </a:solidFill>
              </a:rPr>
              <a:t>   雖然外科切除是早期HCC的有效干預措施，但術後復發仍然是主要的臨床挑戰。  </a:t>
            </a:r>
            <a:endParaRPr lang="en-US" sz="1200" dirty="0"/>
          </a:p>
          <a:p>
            <a:pPr indent="0" marL="0">
              <a:lnSpc>
                <a:spcPct val="150000"/>
              </a:lnSpc>
              <a:buNone/>
            </a:pPr>
            <a:r>
              <a:rPr lang="en-US" sz="1200" dirty="0">
                <a:solidFill>
                  <a:srgbClr val="FFFFFF"/>
                </a:solidFill>
              </a:rPr>
              <a:t>   While surgical resection is an effective intervention for early-stage HCC, postoperative recurrence remains a significant clinical challenge.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**多模式治療的前景**  </a:t>
            </a:r>
            <a:endParaRPr lang="en-US" sz="1200" dirty="0"/>
          </a:p>
          <a:p>
            <a:pPr indent="0" marL="0">
              <a:lnSpc>
                <a:spcPct val="150000"/>
              </a:lnSpc>
              <a:buNone/>
            </a:pPr>
            <a:r>
              <a:rPr lang="en-US" sz="1200" dirty="0">
                <a:solidFill>
                  <a:srgbClr val="FFFFFF"/>
                </a:solidFill>
              </a:rPr>
              <a:t>   **Prospects of Multimodal Therapy**  </a:t>
            </a:r>
            <a:endParaRPr lang="en-US" sz="1200" dirty="0"/>
          </a:p>
          <a:p>
            <a:pPr indent="0" marL="0">
              <a:lnSpc>
                <a:spcPct val="150000"/>
              </a:lnSpc>
              <a:buNone/>
            </a:pPr>
            <a:r>
              <a:rPr lang="en-US" sz="1200" dirty="0">
                <a:solidFill>
                  <a:srgbClr val="FFFFFF"/>
                </a:solidFill>
              </a:rPr>
              <a:t>   結合不同治療方法（如TACE、免疫治療和局部消融）可能為不可切除的HCC提供更佳的治療結果。  </a:t>
            </a:r>
            <a:endParaRPr lang="en-US" sz="1200" dirty="0"/>
          </a:p>
          <a:p>
            <a:pPr indent="0" marL="0">
              <a:lnSpc>
                <a:spcPct val="150000"/>
              </a:lnSpc>
              <a:buNone/>
            </a:pPr>
            <a:r>
              <a:rPr lang="en-US" sz="1200" dirty="0">
                <a:solidFill>
                  <a:srgbClr val="FFFFFF"/>
                </a:solidFill>
              </a:rPr>
              <a:t>   Combining various treatment modalities (such as TACE, immunotherapy, and local ablation) may offer better outcomes for unresectable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**早期階段免疫治療的最佳化**  </a:t>
            </a:r>
            <a:endParaRPr lang="en-US" sz="1200" dirty="0"/>
          </a:p>
          <a:p>
            <a:pPr indent="0" marL="0">
              <a:lnSpc>
                <a:spcPct val="150000"/>
              </a:lnSpc>
              <a:buNone/>
            </a:pPr>
            <a:r>
              <a:rPr lang="en-US" sz="1200" dirty="0">
                <a:solidFill>
                  <a:srgbClr val="FFFFFF"/>
                </a:solidFill>
              </a:rPr>
              <a:t>   **Optimization of Immunotherapy in Early Stages**  </a:t>
            </a:r>
            <a:endParaRPr lang="en-US" sz="1200" dirty="0"/>
          </a:p>
          <a:p>
            <a:pPr indent="0" marL="0">
              <a:lnSpc>
                <a:spcPct val="150000"/>
              </a:lnSpc>
              <a:buNone/>
            </a:pPr>
            <a:r>
              <a:rPr lang="en-US" sz="1200" dirty="0">
                <a:solidFill>
                  <a:srgbClr val="FFFFFF"/>
                </a:solidFill>
              </a:rPr>
              <a:t>   需要進一步研究以確定免疫治療在早期HCC中的最佳使用時機和方式。  </a:t>
            </a:r>
            <a:endParaRPr lang="en-US" sz="1200" dirty="0"/>
          </a:p>
          <a:p>
            <a:pPr indent="0" marL="0">
              <a:lnSpc>
                <a:spcPct val="150000"/>
              </a:lnSpc>
              <a:buNone/>
            </a:pPr>
            <a:r>
              <a:rPr lang="en-US" sz="1200" dirty="0">
                <a:solidFill>
                  <a:srgbClr val="FFFFFF"/>
                </a:solidFill>
              </a:rPr>
              <a:t>   Further studies are needed to determine the optimal timing and methods for immunotherapy in early-stage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**腫瘤微環境的深入分析**  </a:t>
            </a:r>
            <a:endParaRPr lang="en-US" sz="1200" dirty="0"/>
          </a:p>
          <a:p>
            <a:pPr indent="0" marL="0">
              <a:lnSpc>
                <a:spcPct val="150000"/>
              </a:lnSpc>
              <a:buNone/>
            </a:pPr>
            <a:r>
              <a:rPr lang="en-US" sz="1200" dirty="0">
                <a:solidFill>
                  <a:srgbClr val="FFFFFF"/>
                </a:solidFill>
              </a:rPr>
              <a:t>   **In-Depth Analysis of Tumor Microenvironment**  </a:t>
            </a:r>
            <a:endParaRPr lang="en-US" sz="1200" dirty="0"/>
          </a:p>
          <a:p>
            <a:pPr indent="0" marL="0">
              <a:lnSpc>
                <a:spcPct val="150000"/>
              </a:lnSpc>
              <a:buNone/>
            </a:pPr>
            <a:r>
              <a:rPr lang="en-US" sz="1200" dirty="0">
                <a:solidFill>
                  <a:srgbClr val="FFFFFF"/>
                </a:solidFill>
              </a:rPr>
              <a:t>   研究腫瘤微環境中不同細胞類型的相互作用及其對免疫治療反應的影響。  </a:t>
            </a:r>
            <a:endParaRPr lang="en-US" sz="1200" dirty="0"/>
          </a:p>
          <a:p>
            <a:pPr indent="0" marL="0">
              <a:lnSpc>
                <a:spcPct val="150000"/>
              </a:lnSpc>
              <a:buNone/>
            </a:pPr>
            <a:r>
              <a:rPr lang="en-US" sz="1200" dirty="0">
                <a:solidFill>
                  <a:srgbClr val="FFFFFF"/>
                </a:solidFill>
              </a:rPr>
              <a:t>   Investigate the interactions of different cell types within the tumor microenvironment and their impact on responses to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**新型治療靶點的發掘**  </a:t>
            </a:r>
            <a:endParaRPr lang="en-US" sz="1200" dirty="0"/>
          </a:p>
          <a:p>
            <a:pPr indent="0" marL="0">
              <a:lnSpc>
                <a:spcPct val="150000"/>
              </a:lnSpc>
              <a:buNone/>
            </a:pPr>
            <a:r>
              <a:rPr lang="en-US" sz="1200" dirty="0">
                <a:solidFill>
                  <a:srgbClr val="FFFFFF"/>
                </a:solidFill>
              </a:rPr>
              <a:t>   **Discovery of Novel Therapeutic Targets**  </a:t>
            </a:r>
            <a:endParaRPr lang="en-US" sz="1200" dirty="0"/>
          </a:p>
          <a:p>
            <a:pPr indent="0" marL="0">
              <a:lnSpc>
                <a:spcPct val="150000"/>
              </a:lnSpc>
              <a:buNone/>
            </a:pPr>
            <a:r>
              <a:rPr lang="en-US" sz="1200" dirty="0">
                <a:solidFill>
                  <a:srgbClr val="FFFFFF"/>
                </a:solidFill>
              </a:rPr>
              <a:t>   探索癌症相關成纖維細胞及其代謝途徑作為新療法的潛在靶點。  </a:t>
            </a:r>
            <a:endParaRPr lang="en-US" sz="1200" dirty="0"/>
          </a:p>
          <a:p>
            <a:pPr indent="0" marL="0">
              <a:lnSpc>
                <a:spcPct val="150000"/>
              </a:lnSpc>
              <a:buNone/>
            </a:pPr>
            <a:r>
              <a:rPr lang="en-US" sz="1200" dirty="0">
                <a:solidFill>
                  <a:srgbClr val="FFFFFF"/>
                </a:solidFill>
              </a:rPr>
              <a:t>   Explore cancer-associated fibroblasts and their metabolic pathways as potential novel therapeutic targets.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**多模式治療的臨床試驗**  </a:t>
            </a:r>
            <a:endParaRPr lang="en-US" sz="1200" dirty="0"/>
          </a:p>
          <a:p>
            <a:pPr indent="0" marL="0">
              <a:lnSpc>
                <a:spcPct val="150000"/>
              </a:lnSpc>
              <a:buNone/>
            </a:pPr>
            <a:r>
              <a:rPr lang="en-US" sz="1200" dirty="0">
                <a:solidFill>
                  <a:srgbClr val="FFFFFF"/>
                </a:solidFill>
              </a:rPr>
              <a:t>   **Clinical Trials for Multimodal Therapies**  </a:t>
            </a:r>
            <a:endParaRPr lang="en-US" sz="1200" dirty="0"/>
          </a:p>
          <a:p>
            <a:pPr indent="0" marL="0">
              <a:lnSpc>
                <a:spcPct val="150000"/>
              </a:lnSpc>
              <a:buNone/>
            </a:pPr>
            <a:r>
              <a:rPr lang="en-US" sz="1200" dirty="0">
                <a:solidFill>
                  <a:srgbClr val="FFFFFF"/>
                </a:solidFill>
              </a:rPr>
              <a:t>   設計臨床試驗以評估多種治療組合在不可切除HCC中的療效和安全性。  </a:t>
            </a:r>
            <a:endParaRPr lang="en-US" sz="1200" dirty="0"/>
          </a:p>
          <a:p>
            <a:pPr indent="0" marL="0">
              <a:lnSpc>
                <a:spcPct val="150000"/>
              </a:lnSpc>
              <a:buNone/>
            </a:pPr>
            <a:r>
              <a:rPr lang="en-US" sz="1200" dirty="0">
                <a:solidFill>
                  <a:srgbClr val="FFFFFF"/>
                </a:solidFill>
              </a:rPr>
              <a:t>   Design clinical trials to assess the efficacy and safety of various treatment combinations in unresectable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**個體化治療策略的發展**  </a:t>
            </a:r>
            <a:endParaRPr lang="en-US" sz="1200" dirty="0"/>
          </a:p>
          <a:p>
            <a:pPr indent="0" marL="0">
              <a:lnSpc>
                <a:spcPct val="150000"/>
              </a:lnSpc>
              <a:buNone/>
            </a:pPr>
            <a:r>
              <a:rPr lang="en-US" sz="1200" dirty="0">
                <a:solidFill>
                  <a:srgbClr val="FFFFFF"/>
                </a:solidFill>
              </a:rPr>
              <a:t>   **Development of Personalized Treatment Strategies**  </a:t>
            </a:r>
            <a:endParaRPr lang="en-US" sz="1200" dirty="0"/>
          </a:p>
          <a:p>
            <a:pPr indent="0" marL="0">
              <a:lnSpc>
                <a:spcPct val="150000"/>
              </a:lnSpc>
              <a:buNone/>
            </a:pPr>
            <a:r>
              <a:rPr lang="en-US" sz="1200" dirty="0">
                <a:solidFill>
                  <a:srgbClr val="FFFFFF"/>
                </a:solidFill>
              </a:rPr>
              <a:t>   研究個體化治療策略，以根據患者的腫瘤特徵和免疫狀態調整治療方案。  </a:t>
            </a:r>
            <a:endParaRPr lang="en-US" sz="1200" dirty="0"/>
          </a:p>
          <a:p>
            <a:pPr indent="0" marL="0">
              <a:lnSpc>
                <a:spcPct val="150000"/>
              </a:lnSpc>
              <a:buNone/>
            </a:pPr>
            <a:r>
              <a:rPr lang="en-US" sz="1200" dirty="0">
                <a:solidFill>
                  <a:srgbClr val="FFFFFF"/>
                </a:solidFill>
              </a:rPr>
              <a:t>   Investigate personalized treatment strategies that tailor therapeutic approaches based on individual tumor characteristics and immune status.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2026-04-19T10:14:32Z</dcterms:created>
  <dcterms:modified xsi:type="dcterms:W3CDTF">2026-04-19T10:14:32Z</dcterms:modified>
</cp:coreProperties>
</file>