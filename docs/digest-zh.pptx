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97/HEP.0000000000001781" TargetMode="External"/><Relationship Id="rId2" Type="http://schemas.openxmlformats.org/officeDocument/2006/relationships/hyperlink" Target="https://doi.org/10.1097/HEP.000000000000178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jitc-2025-014555" TargetMode="External"/><Relationship Id="rId2" Type="http://schemas.openxmlformats.org/officeDocument/2006/relationships/hyperlink" Target="https://doi.org/10.1136/jitc-2025-01455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392-026-02708-2" TargetMode="External"/><Relationship Id="rId2" Type="http://schemas.openxmlformats.org/officeDocument/2006/relationships/hyperlink" Target="https://doi.org/10.1038/s41392-026-02708-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86/s40164-026-00777-1" TargetMode="External"/><Relationship Id="rId2" Type="http://schemas.openxmlformats.org/officeDocument/2006/relationships/hyperlink" Target="https://doi.org/10.1186/s40164-026-00777-1"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2659/AJCR.952800" TargetMode="External"/><Relationship Id="rId2" Type="http://schemas.openxmlformats.org/officeDocument/2006/relationships/hyperlink" Target="https://doi.org/10.12659/AJCR.95280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371/journal.pone.0341395" TargetMode="External"/><Relationship Id="rId2" Type="http://schemas.openxmlformats.org/officeDocument/2006/relationships/hyperlink" Target="https://doi.org/10.1371/journal.pone.034139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link.springer.com/article/10.1186/s12885-025-15310-6" TargetMode="External"/><Relationship Id="rId2" Type="http://schemas.openxmlformats.org/officeDocument/2006/relationships/hyperlink" Target="https://link.springer.com/article/10.1186/s12885-025-15310-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58/1535-7163.MCT-25-0564" TargetMode="External"/><Relationship Id="rId2" Type="http://schemas.openxmlformats.org/officeDocument/2006/relationships/hyperlink" Target="https://doi.org/10.1158/1535-7163.MCT-25-056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2026-05-04 — 2026-05-11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Optimizing bevacizumab exposure in atezolizumab-based therapy for unresectable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Patient-derived organotypic tumor spheroids as a functional platform for predict…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Sintilimab (PD-1 inhibitor) plus lenvatinib as conversion therapy followed by se…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ISX-TWIST1 reprograms CD47-inflammasome signaling to reshape the immune microenv…</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Case of Pernicious Anemia Induced by Atezolizumab in Hepatocellular Carcinoma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Comparison of outcomes of second-line durvalumab plus tremelimumab versus lenvat…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nutritional index and the survival of patients with hepatocellular ca…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MCT8 Modulates Metabolite Uptake and T-cell Exhaustion to Promote Immunosuppress…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Optimizing bevacizumab exposure in atezolizumab-based therapy for unresectable hepatocellular carcinoma: A nationwide real-world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研究HCC患者的bevacizumab劑量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最佳BBI範圍為106-121%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目標組PFS和OS較長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調整劑量無增加毒性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目標組反應率較高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Aoe Kaho, Tada Toshifumi, Hiraoka Atsushi et al.. Hepatology (Baltimore, Md.). 2026-05-06 DOI: 10.1097/HEP.0000000000001781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Patient-derived organotypic tumor spheroids as a functional platform for predicting immunotherapeutic responses and guiding precision treatment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開發患者衍生的腫瘤球體（PDOTS）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PDOTS 模型保留 HCC 異質性及免疫微環境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預測治療反應達 80% 一致性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識別出治療敏感性的 'Organoid Killing Index'</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支持 HCC 患者的個體化免疫治療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Song Fei, Lu Yi-Jun, Sun Hai-Xiang et al.. Journal for immunotherapy of cancer. 2026-05-04 DOI: 10.1136/jitc-2025-014555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Sintilimab (PD-1 inhibitor) plus lenvatinib as conversion therapy followed by sequential surgery (SILENSES) for advanced unresectable hepatocellular carcinoma: a phase II, expansion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Signal transduction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Sintilimab-lenvatinib顯示抗腫瘤活性。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不可切除HCC患者轉化率56%。</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中位整體生存期為36個月。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手術後五年生存率73.9%。</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31%患者出現三級以上不良事件。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Shichun, Zhang Wenwen, Li Junfeng et al.. Signal transduction and targeted therapy. 2026-05-06 DOI: 10.1038/s41392-026-02708-2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ISX-TWIST1 reprograms CD47-inflammasome signaling to reshape the immune microenvironment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Experimental hematology &amp; oncology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ISX連結CD47信號與inflammasome。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CD47升高促進M2巨噬細胞極化。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消除M2巨噬細胞可阻止疾病進展。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Li-Ting, Lin Ming-Hong, Li Yi-Chuan et al.. Experimental hematology &amp; oncology. 2026-05-04 DOI: 10.1186/s40164-026-00777-1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使用肝動脈化療栓塞（TACE）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PD-1抑制劑提升療效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有潛力轉為可切除狀態</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Case of Pernicious Anemia Induced by Atezolizumab in Hepatocellular Carcinoma and Renal Cell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American journal of case reports  ·  Case Report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ICI引起的惡性貧血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68歲男性肝癌病例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接受atezolizumab後出現巨幼紅血球貧血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胃壁細胞抗體陽性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需監測Vit.B12水平</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Sugimoto Takeshi, Kanemori Gen, Kanehira Hirohumi et al.. The American journal of case reports. 2026-05-10 DOI: 10.12659/AJCR.952800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Comparison of outcomes of second-line durvalumab plus tremelimumab versus lenvatinib following first-line atezolizumab plus bevacizumab in unresectable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Durvalumab加tremelimumab與lenvatinib比較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lenvatinib顯示更佳的PFS和OS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lenvatinib的3級以上不良事件較多</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Nishioka Chinatsu, Tahata Yuki, Maesaka Kazuki et al.. PloS one. 2026-05-07 DOI: 10.1371/journal.pone.0341395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nutritional index and the survival of patients with hepatocellular carcinoma on immune checkpoint inhibitors: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預後營養指數(PNI)影響生存率。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HCC患者免疫檢查點抑制劑的綜合分析。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營養狀態與免疫反應相關。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Fu, W Peng, J Jiang. BMC cancer.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放射治療與局部消融比較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針對肝細胞癌治療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評估局部無進展生存期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包含射頻與微波消融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MCT8 Modulates Metabolite Uptake and T-cell Exhaustion to Promote Immunosuppression and Tumor Progression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cancer therapeutics  ·  IF 5.6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MCT8 調控 HCC 中 T 細胞功能。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SLC16A2 基因敲除減少腫瘤生長。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MCT8 單克隆抗體增強 CD8+ T 細胞活性。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Bi Bin, Tang Liqin, Liang Ranxi et al.. Molecular cancer therapeutics. 2026-05-04 DOI: 10.1158/1535-7163.MCT-25-0564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**個體化治療的重要性 (Importance of Personalized Therapy)**  </a:t>
            </a:r>
            <a:endParaRPr lang="en-US" sz="1200" dirty="0"/>
          </a:p>
          <a:p>
            <a:pPr indent="0" marL="0">
              <a:lnSpc>
                <a:spcPct val="150000"/>
              </a:lnSpc>
              <a:buNone/>
            </a:pPr>
            <a:r>
              <a:rPr lang="en-US" sz="1200" dirty="0">
                <a:solidFill>
                  <a:srgbClr val="FFFFFF"/>
                </a:solidFill>
              </a:rPr>
              <a:t>   The studies emphasize the need for personalized treatment approaches in HCC, highlighting that standard dosing may not be effective for all patients due to variations in body composition and tumor microenvironment.  </a:t>
            </a:r>
            <a:endParaRPr lang="en-US" sz="1200" dirty="0"/>
          </a:p>
          <a:p>
            <a:pPr indent="0" marL="0">
              <a:lnSpc>
                <a:spcPct val="150000"/>
              </a:lnSpc>
              <a:buNone/>
            </a:pPr>
            <a:r>
              <a:rPr lang="en-US" sz="1200" dirty="0">
                <a:solidFill>
                  <a:srgbClr val="FFFFFF"/>
                </a:solidFill>
              </a:rPr>
              <a:t>   研究強調在肝癌治療中個體化治療的重要性，指出標準劑量可能因患者體組成和腫瘤微環境的差異而無法有效。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**免疫微環境的重塑 (Reprogramming the Immune Microenvironment)**  </a:t>
            </a:r>
            <a:endParaRPr lang="en-US" sz="1200" dirty="0"/>
          </a:p>
          <a:p>
            <a:pPr indent="0" marL="0">
              <a:lnSpc>
                <a:spcPct val="150000"/>
              </a:lnSpc>
              <a:buNone/>
            </a:pPr>
            <a:r>
              <a:rPr lang="en-US" sz="1200" dirty="0">
                <a:solidFill>
                  <a:srgbClr val="FFFFFF"/>
                </a:solidFill>
              </a:rPr>
              <a:t>   Innovative strategies such as ISX-TWIST1 reprogramming show potential in reshaping the immune microenvironment, which is crucial for enhancing the efficacy of immunotherapies in HCC.  </a:t>
            </a:r>
            <a:endParaRPr lang="en-US" sz="1200" dirty="0"/>
          </a:p>
          <a:p>
            <a:pPr indent="0" marL="0">
              <a:lnSpc>
                <a:spcPct val="150000"/>
              </a:lnSpc>
              <a:buNone/>
            </a:pPr>
            <a:r>
              <a:rPr lang="en-US" sz="1200" dirty="0">
                <a:solidFill>
                  <a:srgbClr val="FFFFFF"/>
                </a:solidFill>
              </a:rPr>
              <a:t>   創新策略如ISX-TWIST1重塑顯示出在改變免疫微環境方面的潛力，這對於提高肝癌免疫治療的療效至關重要。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**轉化療法的潛力 (Potential of Conversion Therapy)**  </a:t>
            </a:r>
            <a:endParaRPr lang="en-US" sz="1200" dirty="0"/>
          </a:p>
          <a:p>
            <a:pPr indent="0" marL="0">
              <a:lnSpc>
                <a:spcPct val="150000"/>
              </a:lnSpc>
              <a:buNone/>
            </a:pPr>
            <a:r>
              <a:rPr lang="en-US" sz="1200" dirty="0">
                <a:solidFill>
                  <a:srgbClr val="FFFFFF"/>
                </a:solidFill>
              </a:rPr>
              <a:t>   The combination of PD-1 inhibitors with other therapies, such as lenvatinib and transarterial chemoembolization, suggests promising outcomes for patients with unresectable HCC, paving the way for sequential surgical options.  </a:t>
            </a:r>
            <a:endParaRPr lang="en-US" sz="1200" dirty="0"/>
          </a:p>
          <a:p>
            <a:pPr indent="0" marL="0">
              <a:lnSpc>
                <a:spcPct val="150000"/>
              </a:lnSpc>
              <a:buNone/>
            </a:pPr>
            <a:r>
              <a:rPr lang="en-US" sz="1200" dirty="0">
                <a:solidFill>
                  <a:srgbClr val="FFFFFF"/>
                </a:solidFill>
              </a:rPr>
              <a:t>   PD-1抑制劑與其他療法（如lenvatinib和經動脈化療栓塞）的結合顯示出對於不可切除肝癌患者的良好預後，為後續的手術選擇鋪平了道路。</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**預測性平台的需求 (Need for Predictive Platforms)**  </a:t>
            </a:r>
            <a:endParaRPr lang="en-US" sz="1200" dirty="0"/>
          </a:p>
          <a:p>
            <a:pPr indent="0" marL="0">
              <a:lnSpc>
                <a:spcPct val="150000"/>
              </a:lnSpc>
              <a:buNone/>
            </a:pPr>
            <a:r>
              <a:rPr lang="en-US" sz="1200" dirty="0">
                <a:solidFill>
                  <a:srgbClr val="FFFFFF"/>
                </a:solidFill>
              </a:rPr>
              <a:t>   The development of patient-derived organotypic tumor spheroids as functional platforms is crucial for predicting individual responses to immunotherapy, which can guide precision treatment strategies.  </a:t>
            </a:r>
            <a:endParaRPr lang="en-US" sz="1200" dirty="0"/>
          </a:p>
          <a:p>
            <a:pPr indent="0" marL="0">
              <a:lnSpc>
                <a:spcPct val="150000"/>
              </a:lnSpc>
              <a:buNone/>
            </a:pPr>
            <a:r>
              <a:rPr lang="en-US" sz="1200" dirty="0">
                <a:solidFill>
                  <a:srgbClr val="FFFFFF"/>
                </a:solidFill>
              </a:rPr>
              <a:t>   開發患者衍生的有機腫瘤球體作為功能平台對於預測個體對免疫治療的反應至關重要，這可以指導精準治療策略。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**營養指數與生存率的關聯 (Association of Nutritional Index with Survival)**  </a:t>
            </a:r>
            <a:endParaRPr lang="en-US" sz="1200" dirty="0"/>
          </a:p>
          <a:p>
            <a:pPr indent="0" marL="0">
              <a:lnSpc>
                <a:spcPct val="150000"/>
              </a:lnSpc>
              <a:buNone/>
            </a:pPr>
            <a:r>
              <a:rPr lang="en-US" sz="1200" dirty="0">
                <a:solidFill>
                  <a:srgbClr val="FFFFFF"/>
                </a:solidFill>
              </a:rPr>
              <a:t>   The prognostic nutritional index emerges as a significant factor influencing survival in HCC patients undergoing immune checkpoint inhibitor therapy, indicating the importance of nutritional status in treatment outcomes.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預後營養指數成為影響接受免疫檢查點抑制劑治療的肝癌患者生存率的重要因素，顯示出營養狀態對治療結果的重要性。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**探索個體化劑量調整 (Exploration of Personalized Dosage Adjustments)**  </a:t>
            </a:r>
            <a:endParaRPr lang="en-US" sz="1200" dirty="0"/>
          </a:p>
          <a:p>
            <a:pPr indent="0" marL="0">
              <a:lnSpc>
                <a:spcPct val="150000"/>
              </a:lnSpc>
              <a:buNone/>
            </a:pPr>
            <a:r>
              <a:rPr lang="en-US" sz="1200" dirty="0">
                <a:solidFill>
                  <a:srgbClr val="FFFFFF"/>
                </a:solidFill>
              </a:rPr>
              <a:t>   Future studies should focus on optimizing bevacizumab dosing based on body surface area and composition to improve therapeutic outcomes in HCC patients.  </a:t>
            </a:r>
            <a:endParaRPr lang="en-US" sz="1200" dirty="0"/>
          </a:p>
          <a:p>
            <a:pPr indent="0" marL="0">
              <a:lnSpc>
                <a:spcPct val="150000"/>
              </a:lnSpc>
              <a:buNone/>
            </a:pPr>
            <a:r>
              <a:rPr lang="en-US" sz="1200" dirty="0">
                <a:solidFill>
                  <a:srgbClr val="FFFFFF"/>
                </a:solidFill>
              </a:rPr>
              <a:t>   未來研究應專注於根據體表面積和組成優化bevacizumab劑量，以改善肝癌患者的治療效果。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**深化免疫微環境研究 (Deepening Research on Immune Microenvironment)**  </a:t>
            </a:r>
            <a:endParaRPr lang="en-US" sz="1200" dirty="0"/>
          </a:p>
          <a:p>
            <a:pPr indent="0" marL="0">
              <a:lnSpc>
                <a:spcPct val="150000"/>
              </a:lnSpc>
              <a:buNone/>
            </a:pPr>
            <a:r>
              <a:rPr lang="en-US" sz="1200" dirty="0">
                <a:solidFill>
                  <a:srgbClr val="FFFFFF"/>
                </a:solidFill>
              </a:rPr>
              <a:t>   Investigating the mechanisms by which therapies like ISX-TWIST1 modify the immune microenvironment could provide insights into enhancing immunotherapy efficacy.  </a:t>
            </a:r>
            <a:endParaRPr lang="en-US" sz="1200" dirty="0"/>
          </a:p>
          <a:p>
            <a:pPr indent="0" marL="0">
              <a:lnSpc>
                <a:spcPct val="150000"/>
              </a:lnSpc>
              <a:buNone/>
            </a:pPr>
            <a:r>
              <a:rPr lang="en-US" sz="1200" dirty="0">
                <a:solidFill>
                  <a:srgbClr val="FFFFFF"/>
                </a:solidFill>
              </a:rPr>
              <a:t>   研究如ISX-TWIST1等療法改變免疫微環境的機制，可能為提高免疫治療的療效提供見解。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**開發新型預測工具 (Development of Novel Predictive Tools)**  </a:t>
            </a:r>
            <a:endParaRPr lang="en-US" sz="1200" dirty="0"/>
          </a:p>
          <a:p>
            <a:pPr indent="0" marL="0">
              <a:lnSpc>
                <a:spcPct val="150000"/>
              </a:lnSpc>
              <a:buNone/>
            </a:pPr>
            <a:r>
              <a:rPr lang="en-US" sz="1200" dirty="0">
                <a:solidFill>
                  <a:srgbClr val="FFFFFF"/>
                </a:solidFill>
              </a:rPr>
              <a:t>   Creating advanced predictive models and platforms that incorporate genetic, metabolic, and immunological factors will be essential for tailoring HCC treatments.  </a:t>
            </a:r>
            <a:endParaRPr lang="en-US" sz="1200" dirty="0"/>
          </a:p>
          <a:p>
            <a:pPr indent="0" marL="0">
              <a:lnSpc>
                <a:spcPct val="150000"/>
              </a:lnSpc>
              <a:buNone/>
            </a:pPr>
            <a:r>
              <a:rPr lang="en-US" sz="1200" dirty="0">
                <a:solidFill>
                  <a:srgbClr val="FFFFFF"/>
                </a:solidFill>
              </a:rPr>
              <a:t>   創建包含遺傳、代謝和免疫因素的先進預測模型和平台將對於量身定制肝癌治療至關重要。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**評估營養介入的影響 (Assessing the Impact of Nutritional Interventions)**  </a:t>
            </a:r>
            <a:endParaRPr lang="en-US" sz="1200" dirty="0"/>
          </a:p>
          <a:p>
            <a:pPr indent="0" marL="0">
              <a:lnSpc>
                <a:spcPct val="150000"/>
              </a:lnSpc>
              <a:buNone/>
            </a:pPr>
            <a:r>
              <a:rPr lang="en-US" sz="1200" dirty="0">
                <a:solidFill>
                  <a:srgbClr val="FFFFFF"/>
                </a:solidFill>
              </a:rPr>
              <a:t>   Future research should evaluate the role of nutritional interventions in conjunction with immunotherapy to enhance patient outcomes in HCC.  </a:t>
            </a:r>
            <a:endParaRPr lang="en-US" sz="1200" dirty="0"/>
          </a:p>
          <a:p>
            <a:pPr indent="0" marL="0">
              <a:lnSpc>
                <a:spcPct val="150000"/>
              </a:lnSpc>
              <a:buNone/>
            </a:pPr>
            <a:r>
              <a:rPr lang="en-US" sz="1200" dirty="0">
                <a:solidFill>
                  <a:srgbClr val="FFFFFF"/>
                </a:solidFill>
              </a:rPr>
              <a:t>   未來研究應評估營養介入與免疫治療結合的作用，以提高肝癌患者的療效。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**長期隨訪研究的必要性 (Need for Long-Term Follow-Up Studies)**  </a:t>
            </a:r>
            <a:endParaRPr lang="en-US" sz="1200" dirty="0"/>
          </a:p>
          <a:p>
            <a:pPr indent="0" marL="0">
              <a:lnSpc>
                <a:spcPct val="150000"/>
              </a:lnSpc>
              <a:buNone/>
            </a:pPr>
            <a:r>
              <a:rPr lang="en-US" sz="1200" dirty="0">
                <a:solidFill>
                  <a:srgbClr val="FFFFFF"/>
                </a:solidFill>
              </a:rPr>
              <a:t>   Conducting long-term follow-up studies on patients receiving conversion therapies will help determine the durability of treatment responses and survival benefits.  </a:t>
            </a:r>
            <a:endParaRPr lang="en-US" sz="1200" dirty="0"/>
          </a:p>
          <a:p>
            <a:pPr indent="0" marL="0">
              <a:lnSpc>
                <a:spcPct val="150000"/>
              </a:lnSpc>
              <a:buNone/>
            </a:pPr>
            <a:r>
              <a:rPr lang="en-US" sz="1200" dirty="0">
                <a:solidFill>
                  <a:srgbClr val="FFFFFF"/>
                </a:solidFill>
              </a:rPr>
              <a:t>   對接受轉化療法的患者進行長期隨訪研究將有助於確定治療反應的持久性和生存益處。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2026-05-11T04:57:24Z</dcterms:created>
  <dcterms:modified xsi:type="dcterms:W3CDTF">2026-05-11T04:57:24Z</dcterms:modified>
</cp:coreProperties>
</file>