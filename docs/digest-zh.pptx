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136/gutjnl-2025-336317" TargetMode="External"/><Relationship Id="rId2" Type="http://schemas.openxmlformats.org/officeDocument/2006/relationships/hyperlink" Target="https://doi.org/10.1136/gutjnl-2025-336317"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ut.bmj.com/content/75/8/1620.abstract" TargetMode="External"/><Relationship Id="rId2" Type="http://schemas.openxmlformats.org/officeDocument/2006/relationships/hyperlink" Target="https://gut.bmj.com/content/75/8/1620.abstract"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sciencedirect.com/science/article/pii/S2589555925003404" TargetMode="External"/><Relationship Id="rId2" Type="http://schemas.openxmlformats.org/officeDocument/2006/relationships/hyperlink" Target="https://www.sciencedirect.com/science/article/pii/S2589555925003404"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80/17474124.2026.2702585" TargetMode="External"/><Relationship Id="rId2" Type="http://schemas.openxmlformats.org/officeDocument/2006/relationships/hyperlink" Target="https://doi.org/10.1080/17474124.2026.2702585"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36/jitc-2025-013948" TargetMode="External"/><Relationship Id="rId2" Type="http://schemas.openxmlformats.org/officeDocument/2006/relationships/hyperlink" Target="https://doi.org/10.1136/jitc-2025-013948"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86/s13045-026-01818-2" TargetMode="External"/><Relationship Id="rId2" Type="http://schemas.openxmlformats.org/officeDocument/2006/relationships/hyperlink" Target="https://doi.org/10.1186/s13045-026-01818-2"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7/s10147-026-03091-2" TargetMode="External"/><Relationship Id="rId2" Type="http://schemas.openxmlformats.org/officeDocument/2006/relationships/hyperlink" Target="https://doi.org/10.1007/s10147-026-03091-2"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111/jgh.70555" TargetMode="External"/><Relationship Id="rId2" Type="http://schemas.openxmlformats.org/officeDocument/2006/relationships/hyperlink" Target="https://doi.org/10.1111/jgh.7055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111/hepr.70240" TargetMode="External"/><Relationship Id="rId2" Type="http://schemas.openxmlformats.org/officeDocument/2006/relationships/hyperlink" Target="https://doi.org/10.1111/hepr.70240"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HCC Weekly Digest</a:t>
            </a:r>
            <a:endParaRPr lang="en-US" sz="4400" dirty="0"/>
          </a:p>
          <a:p>
            <a:pPr indent="0" marL="0">
              <a:lnSpc>
                <a:spcPct val="130000"/>
              </a:lnSpc>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a:t>
            </a:r>
            <a:endParaRPr lang="en-US" sz="4400" dirty="0"/>
          </a:p>
          <a:p>
            <a:pPr indent="0" marL="0">
              <a:lnSpc>
                <a:spcPct val="130000"/>
              </a:lnSpc>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2026-07-06 — 2026-07-13</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Epigenetic therapies in hepatocellular carcinoma: emerging clinical tools and ap…</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Epigenetic therapies in hepatocellular carcinoma: emerging clinical tools and ap…</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Pembrolizumab and stereotactic body radiotherapy combined in advanced hepatocell…</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Hepatocellular carcinoma: new therapies on the horizon.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UDP-glucuronate decarboxylase 1 promotes tumor immune evasion by accelerating KM…</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Long-term follow-up of a phase 1/2 trial of anti-GDF-15 antibody visugromab plus…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immunological paradox: immune checkpoint inhibitors in liver transplantation…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Comparative Effectiveness and Safety of Atezolizumab-Bevacizumab and Durvalumab-…</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Survival Outcomes After Liver Resection for Barcelona Clinic Liver Cancer Stage …</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Epigenetic therapies in hepatocellular carcinoma: emerging clinical tools and applications.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HCC 是癌症死亡的主要原因。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現有療法在晚期效果有限。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表觀遺傳失調促進腫瘤進展。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新興 'epidrugs' 顯示臨床潛力。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針對表觀遺傳學可增強現有療法。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Bueloni Barbara, G Fernandez-Barrena Maite, Fiore Esteban et al.. Gut. 2026-07-08 DOI: 10.1136/gutjnl-2025-336317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Epigenetic therapies in hepatocellular carcinoma: emerging clinical tools and applications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表觀遺傳療法在HCC中展現潛力。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與ICIs結合提高治療效果。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個性化醫療的新興工具。</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 Bueloni, MG Fernandez-Barrena, E Fiore.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Pembrolizumab and stereotactic body radiotherapy combined in advanced hepatocellular carcinoma post sorafenib–A phase II trial (PEMRAD)</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JHEP Reports  ·  IF 7.8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結合 pembrolizumab 與 SBRT</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針對晚期 HCC 的二期試驗</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評估索拉非尼後治療效果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增強免疫反應的潛力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進行安全性與療效評估</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GM O'Kane, A Mesci, RW Jang. JHEP Reports.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Hepatocellular carcinoma: new therapies on the horizon.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Expert review of gastroenterology &amp; hepatology  ·  Prospective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ICIs為晚期HCC的前線治療。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新療法包括新型系統藥物。</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新輔助ICI方案顯示良好反應。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聯合療法改善無進展生存期。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個性化局部治療方法的應用。</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Yuza Kizuki, Akabane Miho, Kawashima Jun et al.. Expert review of gastroenterology &amp; hepatology. 2026-07-10 DOI: 10.1080/17474124.2026.2702585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UDP-glucuronate decarboxylase 1 promotes tumor immune evasion by accelerating KMT2D loss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for immunotherapy of cancer  ·  IF 10.9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發現UXS1為免疫逃逸驅動因子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促進KMT2D降解及PD-L1上調</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高UXS1與CD8+ T細胞反應差相關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基因敲除增強抗PD-1療法療效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新型UXS1-KMT2D-CEBPB-PD-L1信號通路</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Zhang Jiwei, Li Yuan, Chen Jiafeng et al.. Journal for immunotherapy of cancer. 2026-07-08 DOI: 10.1136/jitc-2025-013948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Long-term follow-up of a phase 1/2 trial of anti-GDF-15 antibody visugromab plus anti-PD-1 antibody nivolumab in anti-PD-1/-L1 relapsed/refractory solid tumors.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hematology &amp; oncology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Visugromab加nivolumab在試驗中評估。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HCC的客觀反應率為14.3%。</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反應的中位持續時間為19.4個月。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GDF-15阻斷可能克服耐藥性。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需要進一步的隨機試驗。</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Melero Ignacio, de Miguel Mar&amp;#xed;a, Cabanas Elena Garralda et al.. Journal of hematology &amp; oncology. 2026-07-10 DOI: 10.1186/s13045-026-01818-2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針對不可切除的HCC的組合療法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使用肝動脈化療栓塞(TACE)</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PD-1抑制劑增強療效</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immunological paradox: immune checkpoint inhibitors in liver transplantation.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clinical oncology  ·  Review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ICIs 改變 HCC 治療格局。</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LT 需要免疫耐受以成功。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ICIs 破壞耐受，增強免疫力。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新興生物標記預測 ICI 拒絕。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活體捐贈 LT 的倫理問題。</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Ito Takashi, Okumura Shinya, Sakamoto Katsunori et al.. International journal of clinical oncology. 2026-07-11 DOI: 10.1007/s10147-026-03091-2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Comparative Effectiveness and Safety of Atezolizumab-Bevacizumab and Durvalumab-Tremelimumab as First-Line Systemic Therapy for Hepatocellular Carcinoma: A Real-World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gastroenterology and hepatology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Atezo/Bev 和 Durva/Treme 為一線療法。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研究納入3362名符合條件的HCC患者。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總體生存率相似：14.6 vs. 17.3個月。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Atezo/Bev 需要治療的irAE較少。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安全性概況大致相似。</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Lin Shu Hsien, Wu Jia-Ling, Tsai Ying-Nan et al.. Journal of gastroenterology and hepatology. 2026-07-10 DOI: 10.1111/jgh.70555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Survival Outcomes After Liver Resection for Barcelona Clinic Liver Cancer Stage B Hepatocellular Carcinoma Have Improved in the Contemporary Era.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research : the official journal of the Japan Society of Hepatology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BCLC-B HCC 切除術結果改善。</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5年總生存率從44%提升至74%。</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復發後管理轉向新療法。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Yamamoto Yoichi, Asahi Yoh, Shichi Shunsuke et al.. Hepatology research : the official journal of the Japan Society of Hepatology. 2026-07-09 DOI: 10.1111/hepr.70240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**免疫療法的潛力與挑戰**  </a:t>
            </a:r>
            <a:endParaRPr lang="en-US" sz="1200" dirty="0"/>
          </a:p>
          <a:p>
            <a:pPr indent="0" marL="0">
              <a:lnSpc>
                <a:spcPct val="150000"/>
              </a:lnSpc>
              <a:buNone/>
            </a:pPr>
            <a:r>
              <a:rPr lang="en-US" sz="1200" dirty="0">
                <a:solidFill>
                  <a:srgbClr val="FFFFFF"/>
                </a:solidFill>
              </a:rPr>
              <a:t>   The integration of immune checkpoint inhibitors (ICIs) has revolutionized the treatment landscape for advanced hepatocellular carcinoma (HCC), yet challenges such as primary resistance and limited durability of responses remain significant hurdles.  </a:t>
            </a:r>
            <a:endParaRPr lang="en-US" sz="1200" dirty="0"/>
          </a:p>
          <a:p>
            <a:pPr indent="0" marL="0">
              <a:lnSpc>
                <a:spcPct val="150000"/>
              </a:lnSpc>
              <a:buNone/>
            </a:pPr>
            <a:r>
              <a:rPr lang="en-US" sz="1200" dirty="0">
                <a:solidFill>
                  <a:srgbClr val="FFFFFF"/>
                </a:solidFill>
              </a:rPr>
              <a:t>   免疫檢查點抑制劑（ICIs）的整合已徹底改變了晚期肝細胞癌（HCC）的治療格局，但初級耐藥性和反應持久性有限等挑戰仍然是重大障礙。</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**表觀遺傳療法的興起**  </a:t>
            </a:r>
            <a:endParaRPr lang="en-US" sz="1200" dirty="0"/>
          </a:p>
          <a:p>
            <a:pPr indent="0" marL="0">
              <a:lnSpc>
                <a:spcPct val="150000"/>
              </a:lnSpc>
              <a:buNone/>
            </a:pPr>
            <a:r>
              <a:rPr lang="en-US" sz="1200" dirty="0">
                <a:solidFill>
                  <a:srgbClr val="FFFFFF"/>
                </a:solidFill>
              </a:rPr>
              <a:t>   Emerging epigenetic therapies present new avenues for HCC treatment, particularly in overcoming resistance mechanisms associated with conventional therapies.  </a:t>
            </a:r>
            <a:endParaRPr lang="en-US" sz="1200" dirty="0"/>
          </a:p>
          <a:p>
            <a:pPr indent="0" marL="0">
              <a:lnSpc>
                <a:spcPct val="150000"/>
              </a:lnSpc>
              <a:buNone/>
            </a:pPr>
            <a:r>
              <a:rPr lang="en-US" sz="1200" dirty="0">
                <a:solidFill>
                  <a:srgbClr val="FFFFFF"/>
                </a:solidFill>
              </a:rPr>
              <a:t>   新興的表觀遺傳療法為HCC治療提供了新的途徑，特別是在克服與傳統療法相關的耐藥機制方面。</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**局部治療與全身療法的協同作用**  </a:t>
            </a:r>
            <a:endParaRPr lang="en-US" sz="1200" dirty="0"/>
          </a:p>
          <a:p>
            <a:pPr indent="0" marL="0">
              <a:lnSpc>
                <a:spcPct val="150000"/>
              </a:lnSpc>
              <a:buNone/>
            </a:pPr>
            <a:r>
              <a:rPr lang="en-US" sz="1200" dirty="0">
                <a:solidFill>
                  <a:srgbClr val="FFFFFF"/>
                </a:solidFill>
              </a:rPr>
              <a:t>   Combining locoregional therapies, such as transarterial chemoembolization (TACE) and stereotactic body radiotherapy, with systemic therapies like ICIs shows promise in improving patient outcomes.  </a:t>
            </a:r>
            <a:endParaRPr lang="en-US" sz="1200" dirty="0"/>
          </a:p>
          <a:p>
            <a:pPr indent="0" marL="0">
              <a:lnSpc>
                <a:spcPct val="150000"/>
              </a:lnSpc>
              <a:buNone/>
            </a:pPr>
            <a:r>
              <a:rPr lang="en-US" sz="1200" dirty="0">
                <a:solidFill>
                  <a:srgbClr val="FFFFFF"/>
                </a:solidFill>
              </a:rPr>
              <a:t>   將局部療法（如經動脈化療栓塞（TACE）和立體定向體放射治療）與全身療法（如ICIs）結合在一起，對改善患者預後顯示出希望。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**生物標誌物的缺乏**  </a:t>
            </a:r>
            <a:endParaRPr lang="en-US" sz="1200" dirty="0"/>
          </a:p>
          <a:p>
            <a:pPr indent="0" marL="0">
              <a:lnSpc>
                <a:spcPct val="150000"/>
              </a:lnSpc>
              <a:buNone/>
            </a:pPr>
            <a:r>
              <a:rPr lang="en-US" sz="1200" dirty="0">
                <a:solidFill>
                  <a:srgbClr val="FFFFFF"/>
                </a:solidFill>
              </a:rPr>
              <a:t>   The absence of validated predictive biomarkers limits the ability to tailor treatments effectively, underscoring the need for further research in biomarker discovery for HCC.  </a:t>
            </a:r>
            <a:endParaRPr lang="en-US" sz="1200" dirty="0"/>
          </a:p>
          <a:p>
            <a:pPr indent="0" marL="0">
              <a:lnSpc>
                <a:spcPct val="150000"/>
              </a:lnSpc>
              <a:buNone/>
            </a:pPr>
            <a:r>
              <a:rPr lang="en-US" sz="1200" dirty="0">
                <a:solidFill>
                  <a:srgbClr val="FFFFFF"/>
                </a:solidFill>
              </a:rPr>
              <a:t>   缺乏經過驗證的預測生物標誌物限制了有效調整治療的能力，突顯了對HCC生物標誌物發現進一步研究的需求。</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**多學科合作的重要性**  </a:t>
            </a:r>
            <a:endParaRPr lang="en-US" sz="1200" dirty="0"/>
          </a:p>
          <a:p>
            <a:pPr indent="0" marL="0">
              <a:lnSpc>
                <a:spcPct val="150000"/>
              </a:lnSpc>
              <a:buNone/>
            </a:pPr>
            <a:r>
              <a:rPr lang="en-US" sz="1200" dirty="0">
                <a:solidFill>
                  <a:srgbClr val="FFFFFF"/>
                </a:solidFill>
              </a:rPr>
              <a:t>   Advances in imaging and multidisciplinary approaches are essential for improving surgical outcomes and overall survival in HCC patients.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成像技術的進步和多學科方法對改善HCC患者的手術結果和整體生存率至關重要。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**耐藥機制的深入研究**  </a:t>
            </a:r>
            <a:endParaRPr lang="en-US" sz="1200" dirty="0"/>
          </a:p>
          <a:p>
            <a:pPr indent="0" marL="0">
              <a:lnSpc>
                <a:spcPct val="150000"/>
              </a:lnSpc>
              <a:buNone/>
            </a:pPr>
            <a:r>
              <a:rPr lang="en-US" sz="1200" dirty="0">
                <a:solidFill>
                  <a:srgbClr val="FFFFFF"/>
                </a:solidFill>
              </a:rPr>
              <a:t>   Investigating the molecular mechanisms underlying resistance to ICIs and other therapies is critical for developing strategies to enhance treatment efficacy.  </a:t>
            </a:r>
            <a:endParaRPr lang="en-US" sz="1200" dirty="0"/>
          </a:p>
          <a:p>
            <a:pPr indent="0" marL="0">
              <a:lnSpc>
                <a:spcPct val="150000"/>
              </a:lnSpc>
              <a:buNone/>
            </a:pPr>
            <a:r>
              <a:rPr lang="en-US" sz="1200" dirty="0">
                <a:solidFill>
                  <a:srgbClr val="FFFFFF"/>
                </a:solidFill>
              </a:rPr>
              <a:t>   深入研究ICIs和其他療法耐藥的分子機制對於開發增強治療效果的策略至關重要。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**新型生物標誌物的探索**  </a:t>
            </a:r>
            <a:endParaRPr lang="en-US" sz="1200" dirty="0"/>
          </a:p>
          <a:p>
            <a:pPr indent="0" marL="0">
              <a:lnSpc>
                <a:spcPct val="150000"/>
              </a:lnSpc>
              <a:buNone/>
            </a:pPr>
            <a:r>
              <a:rPr lang="en-US" sz="1200" dirty="0">
                <a:solidFill>
                  <a:srgbClr val="FFFFFF"/>
                </a:solidFill>
              </a:rPr>
              <a:t>   Future studies should focus on identifying and validating biomarkers that can predict response to immunotherapy and guide personalized treatment approaches.  </a:t>
            </a:r>
            <a:endParaRPr lang="en-US" sz="1200" dirty="0"/>
          </a:p>
          <a:p>
            <a:pPr indent="0" marL="0">
              <a:lnSpc>
                <a:spcPct val="150000"/>
              </a:lnSpc>
              <a:buNone/>
            </a:pPr>
            <a:r>
              <a:rPr lang="en-US" sz="1200" dirty="0">
                <a:solidFill>
                  <a:srgbClr val="FFFFFF"/>
                </a:solidFill>
              </a:rPr>
              <a:t>   未來的研究應集中於識別和驗證能預測免疫療法反應的生物標誌物，並指導個性化治療方法。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**表觀遺傳療法的臨床應用**  </a:t>
            </a:r>
            <a:endParaRPr lang="en-US" sz="1200" dirty="0"/>
          </a:p>
          <a:p>
            <a:pPr indent="0" marL="0">
              <a:lnSpc>
                <a:spcPct val="150000"/>
              </a:lnSpc>
              <a:buNone/>
            </a:pPr>
            <a:r>
              <a:rPr lang="en-US" sz="1200" dirty="0">
                <a:solidFill>
                  <a:srgbClr val="FFFFFF"/>
                </a:solidFill>
              </a:rPr>
              <a:t>   Clinical trials exploring the efficacy of epigenetic therapies in combination with existing treatments for HCC are necessary to establish their role in therapy.  </a:t>
            </a:r>
            <a:endParaRPr lang="en-US" sz="1200" dirty="0"/>
          </a:p>
          <a:p>
            <a:pPr indent="0" marL="0">
              <a:lnSpc>
                <a:spcPct val="150000"/>
              </a:lnSpc>
              <a:buNone/>
            </a:pPr>
            <a:r>
              <a:rPr lang="en-US" sz="1200" dirty="0">
                <a:solidFill>
                  <a:srgbClr val="FFFFFF"/>
                </a:solidFill>
              </a:rPr>
              <a:t>   探索表觀遺傳療法與現有HCC治療組合的臨床試驗是必要的，以確立其在治療中的角色。</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**多模態治療策略的發展**  </a:t>
            </a:r>
            <a:endParaRPr lang="en-US" sz="1200" dirty="0"/>
          </a:p>
          <a:p>
            <a:pPr indent="0" marL="0">
              <a:lnSpc>
                <a:spcPct val="150000"/>
              </a:lnSpc>
              <a:buNone/>
            </a:pPr>
            <a:r>
              <a:rPr lang="en-US" sz="1200" dirty="0">
                <a:solidFill>
                  <a:srgbClr val="FFFFFF"/>
                </a:solidFill>
              </a:rPr>
              <a:t>   Research should focus on developing multimodal treatment strategies that integrate systemic and locoregional therapies to optimize patient outcomes.  </a:t>
            </a:r>
            <a:endParaRPr lang="en-US" sz="1200" dirty="0"/>
          </a:p>
          <a:p>
            <a:pPr indent="0" marL="0">
              <a:lnSpc>
                <a:spcPct val="150000"/>
              </a:lnSpc>
              <a:buNone/>
            </a:pPr>
            <a:r>
              <a:rPr lang="en-US" sz="1200" dirty="0">
                <a:solidFill>
                  <a:srgbClr val="FFFFFF"/>
                </a:solidFill>
              </a:rPr>
              <a:t>   研究應集中於開發整合全身療法和局部療法的多模態治療策略，以優化患者預後。</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**長期隨訪與數據收集**  </a:t>
            </a:r>
            <a:endParaRPr lang="en-US" sz="1200" dirty="0"/>
          </a:p>
          <a:p>
            <a:pPr indent="0" marL="0">
              <a:lnSpc>
                <a:spcPct val="150000"/>
              </a:lnSpc>
              <a:buNone/>
            </a:pPr>
            <a:r>
              <a:rPr lang="en-US" sz="1200" dirty="0">
                <a:solidFill>
                  <a:srgbClr val="FFFFFF"/>
                </a:solidFill>
              </a:rPr>
              <a:t>   Long-term follow-up studies are essential to assess the durability of responses and overall survival in patients receiving novel therapies for HCC.  </a:t>
            </a:r>
            <a:endParaRPr lang="en-US" sz="1200" dirty="0"/>
          </a:p>
          <a:p>
            <a:pPr indent="0" marL="0">
              <a:lnSpc>
                <a:spcPct val="150000"/>
              </a:lnSpc>
              <a:buNone/>
            </a:pPr>
            <a:r>
              <a:rPr lang="en-US" sz="1200" dirty="0">
                <a:solidFill>
                  <a:srgbClr val="FFFFFF"/>
                </a:solidFill>
              </a:rPr>
              <a:t>   長期隨訪研究對於評估接受新療法的HCC患者的反應持久性和整體生存率至關重要。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肝癌免疫治療與局部消融文獻週報</dc:title>
  <dc:subject>PptxGenJS Presentation</dc:subject>
  <dc:creator>HCC Weekly Digest</dc:creator>
  <cp:lastModifiedBy>HCC Weekly Digest</cp:lastModifiedBy>
  <cp:revision>1</cp:revision>
  <dcterms:created xsi:type="dcterms:W3CDTF">2026-07-13T04:27:24Z</dcterms:created>
  <dcterms:modified xsi:type="dcterms:W3CDTF">2026-07-13T04:27:24Z</dcterms:modified>
</cp:coreProperties>
</file>