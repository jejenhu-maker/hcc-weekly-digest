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cell.2026.03.001" TargetMode="External"/><Relationship Id="rId2" Type="http://schemas.openxmlformats.org/officeDocument/2006/relationships/hyperlink" Target="https://doi.org/10.1016/j.cell.2026.03.00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58/1078-0432.CCR-25-4779" TargetMode="External"/><Relationship Id="rId2" Type="http://schemas.openxmlformats.org/officeDocument/2006/relationships/hyperlink" Target="https://doi.org/10.1158/1078-0432.CCR-25-4779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7/HEP.0000000000001731" TargetMode="External"/><Relationship Id="rId2" Type="http://schemas.openxmlformats.org/officeDocument/2006/relationships/hyperlink" Target="https://doi.org/10.1097/HEP.000000000000173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58/0008-5472.CAN-25-0346" TargetMode="External"/><Relationship Id="rId2" Type="http://schemas.openxmlformats.org/officeDocument/2006/relationships/hyperlink" Target="https://doi.org/10.1158/0008-5472.CAN-25-034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2/advs.202521418" TargetMode="External"/><Relationship Id="rId2" Type="http://schemas.openxmlformats.org/officeDocument/2006/relationships/hyperlink" Target="https://doi.org/10.1002/advs.20252141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73/pnas.2427192123" TargetMode="External"/><Relationship Id="rId2" Type="http://schemas.openxmlformats.org/officeDocument/2006/relationships/hyperlink" Target="https://doi.org/10.1073/pnas.2427192123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pmc.ncbi.nlm.nih.gov/articles/PMC12939993/" TargetMode="External"/><Relationship Id="rId2" Type="http://schemas.openxmlformats.org/officeDocument/2006/relationships/hyperlink" Target="https://pmc.ncbi.nlm.nih.gov/articles/PMC12939993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nature.com/articles/s41392-025-02498-z" TargetMode="External"/><Relationship Id="rId2" Type="http://schemas.openxmlformats.org/officeDocument/2006/relationships/hyperlink" Target="https://www.nature.com/articles/s41392-025-02498-z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2169/internalmedicine.6021-25" TargetMode="External"/><Relationship Id="rId2" Type="http://schemas.openxmlformats.org/officeDocument/2006/relationships/hyperlink" Target="https://doi.org/10.2169/internalmedicine.6021-25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ascopubs.org/doi/abs/10.1200/JCO.2026.44.2_suppl.547" TargetMode="External"/><Relationship Id="rId2" Type="http://schemas.openxmlformats.org/officeDocument/2006/relationships/hyperlink" Target="https://ascopubs.org/doi/abs/10.1200/JCO.2026.44.2_suppl.54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</a:rPr>
              <a:t>WEEKLY DIGEST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HCC Weekly Digest</a:t>
            </a:r>
            <a:endParaRPr lang="en-US" sz="4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CA5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肝膽腸胃內科 — 肝癌免疫治療與局部消融</a:t>
            </a:r>
            <a:endParaRPr lang="en-US" sz="4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呂大教授 敬啟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2026-04-12 — 2026-04-19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4864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2626"/>
                </a:solidFill>
              </a:rPr>
              <a:t>10 篇精選論文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</a:rPr>
              <a:t>目錄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Hallmarks of liver cancer: Therapeutic implications.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Neoadjuvant stereotactic body radiation therapy plus immune therapy favorably re…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Erratum: Hepatectomy alters adjuvant anti-PD-1 action in a mouse model of HCC bu…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Intratumoral Lactobacillus johnsonii Enhances Sensitivity to PD-1 Blockade by In…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Cancer-Associated Fibroblasts Promote Tumor Immunosuppression in Hepatocellular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Selective depletion of virus-specific CD8 T cells from the liver after PD-1 ther…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Immunotherapy in Hepatocellular Carcinoma with Portal Vein Tumour Thrombosis: Fr…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plus transarterial chemoembolization and PD-1 inhibitors as conversion therapi…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Efficacy and Safety of Atezolizumab Plus Bevacizumab after Durvalumab Plus T…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Radiotherapy versus local ablation therapy for the treatment of hepatocellular c…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01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01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Hallmarks of liver cancer: Therapeutic implications.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Cell  ·  IF 45.5  ·  Review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癌症特徵指導肝癌理解。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HCC展現獨特免疫逃逸特徵。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免疫治療改善晚期HCC預後。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iCCA具有獨特基因變異。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精準醫療針對iCCA突變。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02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02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Neoadjuvant stereotactic body radiation therapy plus immune therapy favorably remodels the hepatocellular carcinoma tumor microenvironment.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Clinical cancer research : an official journal of the American Association for Cancer Research  ·  IF 11.5  ·  Prospective Study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新輔助SBRT與免疫療法結合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8名患者的初步研究，評估安全性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1名患者出現3級治療相關不良事件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所有切除患者達到R0切除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治療後觀察到免疫浸潤增加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03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03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Erratum: Hepatectomy alters adjuvant anti-PD-1 action in a mouse model of HCC but does not compromise neoadjuvant efficacy.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Hepatology (Baltimore, Md.)  ·  IF 12.9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肝切除影響抗PD-1療法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新輔助療效保持不變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使用小鼠模型進行研究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04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04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Intratumoral Lactobacillus johnsonii Enhances Sensitivity to PD-1 Blockade by Inducing CD8+ T-cell Expansion in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Cancer research  ·  IF 12.7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Lactobacillus johnsonii 增加 IFNγ+PD-1+CD8+ T 細胞。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Nicotinic acid 促進 T 細胞擴展與功能。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L. johnsonii 激活 NF-κB 路徑以增強免疫反應。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05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05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Cancer-Associated Fibroblasts Promote Tumor Immunosuppression in Hepatocellular Carcinoma via the NNMT-ANGPTL4 Axis.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Advanced science (Weinheim, Baden-Wurttemberg, Germany)  ·  Basic Research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CAFs 驅動 HCC 免疫抑制。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NNMT 調控 ANGPTL4 分泌。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ANGPTL4 增強 PD-L1 表達。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靶向 NNMT-ANGPTL4 恢復 T 細胞活性。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療法與抗 PD-L1 治療協同作用。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06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06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Selective depletion of virus-specific CD8 T cells from the liver after PD-1 therapy with Fc-intact antibody during chronic infection.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Proceedings of the National Academy of Sciences of the United States of America  ·  Basic Research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Fc區域影響PD-1療法效果。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觀察到病毒特異性CD8 T細胞耗竭。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激活FcγR III介導T細胞耗竭。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吞噬細胞是關鍵效應細胞。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Fc完整抗體可能妨礙肝癌治療。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07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07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Immunotherapy in Hepatocellular Carcinoma with Portal Vein Tumour Thrombosis: From Poor Prognosis to Curative-Intent Strategies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針對PVTT的HCC II期研究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HAIC結合lenvatinib和PD-1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較單一療法有改善效果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專注於治癒性策略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解決HCC的預後不良問題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08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08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… plus transarterial chemoembolization and PD-1 inhibitors as conversion therapies for unresectable intermediate-advanced hepatocellular carcinoma: a phase 2 trial 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and Targeted Therapy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針對不可切除HCC的組合療法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使用肝動脈化療栓塞(TACE)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PD-1抑制劑提升治療效果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第二期試驗顯示良好結果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有潛力轉為手術選項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09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09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Efficacy and Safety of Atezolizumab Plus Bevacizumab after Durvalumab Plus Tremelimumab for the Treatment of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Internal medicine (Tokyo, Japan)  ·  Retrospective Study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Atez+Bev 在 HCC 患者中 ORR 為 25%。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75% DCR 顯示疾病控制良好。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先前 Dur+Tre 可能增強免疫反應。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常見不良事件包括瘙癢和蛋白尿。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序列療法提供新治療選擇。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10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10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Radiotherapy versus local ablation therapy for the treatment of hepatocellular carcinoma: A systematic review and meta-analysis.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Clinical …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放射治療與局部消融比較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針對肝細胞癌治療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評估局部無進展生存期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包含射頻與微波消融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進行系統性回顧與統合分析</a:t>
            </a:r>
            <a:endParaRPr lang="en-US" sz="180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綜合啟示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綜合啟示與未來研究方向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綜合啟示 (Overall Insights)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**免疫療法的潛力**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Immunotherapy has shown significant promise in enhancing treatment outcomes for hepatocellular carcinoma (HCC), particularly in advanced stages.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免疫療法在改善肝細胞癌（HCC）治療結果方面顯示出顯著潛力，特別是在晚期階段。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**腫瘤微環境的重塑**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Neoadjuvant therapies, including stereotactic body radiation therapy combined with immune therapy, can favorably remodel the tumor microenvironment, promoting a more effective immune response.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新輔助療法，包括立體定向體部放射療法結合免疫療法，可以有利於重塑腫瘤微環境，促進更有效的免疫反應。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**癌症相關成纖維細胞的角色**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Cancer-associated fibroblasts (CAFs) play a crucial role in tumor immunosuppression through metabolic pathways, indicating potential therapeutic targets for enhancing immunotherapy efficacy.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癌症相關成纖維細胞（CAFs）在腫瘤免疫抑制中扮演關鍵角色，透過代謝途徑顯示出增強免疫療法療效的潛在治療靶點。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**手術後復發的挑戰**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Despite the effectiveness of surgical resection for early-stage HCC, postoperative recurrence remains a significant clinical challenge that necessitates further investigation into underlying mechanisms.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儘管手術切除對早期HCC有效，但術後復發仍然是一個重大臨床挑戰，需進一步研究其潛在機制。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**多模式治療的前景**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Combining various treatment modalities, such as transarterial chemoembolization with immune checkpoint inhibitors, shows potential in improving outcomes for patients with unresectable HCC.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綜合啟示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綜合啟示與未來研究方向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結合多種治療方式，如經動脈化療栓塞與免疫檢查點抑制劑，顯示出改善不可切除HCC患者預後的潛力。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未來研究方向 (Future Research Directions)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**早期階段的免疫療法應用**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Investigate optimal strategies for integrating immunotherapy in earlier stages of HCC to improve patient outcomes.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探討在HCC早期階段整合免疫療法的最佳策略，以改善患者預後。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**腫瘤微環境的深入研究**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Further explore the mechanisms by which the tumor microenvironment influences immune response and therapy resistance in HCC.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進一步研究腫瘤微環境如何影響HCC中的免疫反應和療法抵抗的機制。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**CAFs的代謝調控**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Elucidate the metabolic pathways of cancer-associated fibroblasts and their impact on immunosuppression to identify new therapeutic targets.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阐明癌症相關成纖維細胞的代謝途徑及其對免疫抑制的影響，以識別新的治療靶點。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**多模式治療的臨床試驗**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Conduct clinical trials to evaluate the efficacy and safety of combination therapies involving immunotherapy and local ablative techniques for HCC.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進行臨床試驗以評估結合免疫療法和局部消融技術的療效和安全性。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**術後復發的預防策略**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Develop and test strategies to prevent postoperative recurrence in HCC patients, focusing on adjuvant therapies that enhance immune response.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開發和測試預防HCC患者術後復發的策略，重點在於增強免疫反應的輔助療法。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74904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4572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HCC Weekly Digest · 呂大教授 敬啟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肝癌免疫治療與局部消融文獻週報</dc:title>
  <dc:subject>PptxGenJS Presentation</dc:subject>
  <dc:creator>HCC Weekly Digest</dc:creator>
  <cp:lastModifiedBy>HCC Weekly Digest</cp:lastModifiedBy>
  <cp:revision>1</cp:revision>
  <dcterms:created xsi:type="dcterms:W3CDTF">2026-04-19T10:17:02Z</dcterms:created>
  <dcterms:modified xsi:type="dcterms:W3CDTF">2026-04-19T10:17:02Z</dcterms:modified>
</cp:coreProperties>
</file>