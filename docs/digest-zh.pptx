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11/jgh.70422" TargetMode="External"/><Relationship Id="rId2" Type="http://schemas.openxmlformats.org/officeDocument/2006/relationships/hyperlink" Target="https://doi.org/10.1111/jgh.70422"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aohep.2026.102237" TargetMode="External"/><Relationship Id="rId2" Type="http://schemas.openxmlformats.org/officeDocument/2006/relationships/hyperlink" Target="https://doi.org/10.1016/j.aohep.2026.10223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38/s41467-026-73131-y" TargetMode="External"/><Relationship Id="rId2" Type="http://schemas.openxmlformats.org/officeDocument/2006/relationships/hyperlink" Target="https://doi.org/10.1038/s41467-026-73131-y"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jep.2026.121885" TargetMode="External"/><Relationship Id="rId2" Type="http://schemas.openxmlformats.org/officeDocument/2006/relationships/hyperlink" Target="https://doi.org/10.1016/j.jep.2026.12188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7/s10495-026-02339-6" TargetMode="External"/><Relationship Id="rId2" Type="http://schemas.openxmlformats.org/officeDocument/2006/relationships/hyperlink" Target="https://doi.org/10.1007/s10495-026-02339-6"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1864-026-01395-z" TargetMode="External"/><Relationship Id="rId2" Type="http://schemas.openxmlformats.org/officeDocument/2006/relationships/hyperlink" Target="https://doi.org/10.1007/s11864-026-01395-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38/s41746-026-02802-3" TargetMode="External"/><Relationship Id="rId2" Type="http://schemas.openxmlformats.org/officeDocument/2006/relationships/hyperlink" Target="https://doi.org/10.1038/s41746-026-02802-3"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bj.2026.100994" TargetMode="External"/><Relationship Id="rId2" Type="http://schemas.openxmlformats.org/officeDocument/2006/relationships/hyperlink" Target="https://doi.org/10.1016/j.bj.2026.10099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2026-05-18 — 2026-05-25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Outcomes of Patients With Hepatocellular Carcinoma Treated With Durvalumab Plus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Five years after IMbrave150 with clinical integration of atezolizumab plus bevac…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Durvalumab plus HAIC-FOLFOX followed by maintenance durvalumab for hepatocellula…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Traditional Chinese Medicine Reverses Immune Checkpoint Resistance Through Lacta…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Identifying Neddylation-modified features to assess prognosis and immune efficac…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Breakthroughs in HBV-related HCC Therapy: The Unmatched Potential of Immune Chec…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Machine learning based hepatic safety score predicts decompensation in hepatocel…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Less Is More: A Single-Dose, Non-Waiting Neoadjuvant Immunotherapy Strategy for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Outcomes of Patients With Hepatocellular Carcinoma Treated With Durvalumab Plus Tremelimumab in Real-World Clinical Practice Who Met or Did Not Meet the Inclusion Criteria for the Phase 3 HIMALAYA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and hepatology  ·  RCT Phase 3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研究Durvalumab與Tremelimumab在HCC的效果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412名患者於30個機構接受治療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HIMALAYA組PFS和OS較佳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獨立預測因子：BMI、門靜脈侵襲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內分泌功能障礙在HIMALAYA組較常見</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Matono Tomomitsu, Tada Toshifumi, Hiraoka Atsushi et al.. Journal of gastroenterology and hepatology. 2026-05-23 DOI: 10.1111/jgh.70422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Five years after IMbrave150 with clinical integration of atezolizumab plus bevacizumab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hepatology  ·  RCT Phase 3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Atezolizumab加Bevacizumab為一線療法。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高反應率可促進治癒轉化。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出血風險需主動管理。</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與局部治療的結合顯示潛力。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生物標記和序列仍有關鍵缺口。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Lai Kuan-Chang, Chen San-Chi. Annals of hepatology. 2026-05-19 DOI: 10.1016/j.aohep.2026.102237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Durvalumab plus HAIC-FOLFOX followed by maintenance durvalumab for hepatocellular carcinoma with major portal invasion: phase 2 DurHope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Durvalumab加HAIC-FOLFOX顯示潛力。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1年整體存活率為63.3%。</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腫瘤RNA測序顯示耐藥特徵。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反應者免疫浸潤增加。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治療後T細胞擴展明顯。</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Yi Junzhe, Wang Jiongliang, Zhang Yimin et al.. Nature communications. 2026-05-18 DOI: 10.1038/s41467-026-73131-y</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Traditional Chinese Medicine Reverses Immune Checkpoint Resistance Through Lactate Metabolic Reprogramming in Hepatocellular Carcinoma: Mechanisms and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中醫藥改變乳酸代謝</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乳酸升高與免疫抵抗相關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Icaritin在三期試驗中顯示潛力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選擇性MCT4抑制增強抗PD-1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需進行生物標記豐富的組合試驗</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Lihui, Wang Jingxiao, Hu Kaiwen. Journal of ethnopharmacology. 2026-05-24 DOI: 10.1016/j.jep.2026.121885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Identifying Neddylation-modified features to assess prognosis and immune efficacy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Apoptosis : an international journal on programmed cell death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Neddylation途徑在HCC中活化。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MLN4924抑制HCC細胞增殖與遷移。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高NRS與預後不良相關。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PSMD1敲除降低HCC細胞增殖。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Neddylation特徵預測免疫療效。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Zitao, Zuo Cheng, Wu Changlei et al.. Apoptosis : an international journal on programmed cell death. 2026-05-24 DOI: 10.1007/s10495-026-02339-6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第二期研究HAIC與lenvatinib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與單獨PD-1抑制劑比較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針對進展性HCC與PVTT</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潛在治癒策略的可能性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患者預後改善的觀察</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 Marzi, R Sacco, L Siciliani.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針對不可切除的HCC的治療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使用經動脈化療栓塞(TACE)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PD-1抑制劑提升療效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Breakthroughs in HBV-related HCC Therapy: The Unmatched Potential of Immune Checkpoint Inhibitors.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Current treatment options in oncology  ·  Review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免疫檢查點抑制劑改變HCC治療。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單一療法的臨床效益有限。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HBV-HCC具有特殊免疫抑制環境。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聯合療法可能提高治療效果。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乙型肝炎再激活可用抗病毒藥物管理。</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Chenlu, Chang Le, Yan Ying et al.. Current treatment options in oncology. 2026-05-23 DOI: 10.1007/s11864-026-01395-z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Machine learning based hepatic safety score predicts decompensation in hepatocellular carcinoma systemic 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NPJ digital medicine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開發機器學習肝臟安全評分。</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預測脫補與靜脈曲張出血。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高MHSS與風險增加相關。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Atezolizumab-bevacizumab效果不一。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MHSS指導個性化治療選擇。</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Han Ji Won, Lee Jaejun, Yang Keungmo et al.. NPJ digital medicine. 2026-05-21 DOI: 10.1038/s41746-026-02802-3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Less Is More: A Single-Dose, Non-Waiting Neoadjuvant Immunotherapy Strategy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Biomedical journal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新輔助免疫治療在HCC面臨挑戰。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單劑量策略提升手術可行性。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PD-1/PD-L1抗體早期激活T細胞。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減少治療相關不良事件。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未來試驗應採用'少即是多'策略。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 Kevin Kuan-Yu, Lin Tzu-Jung, Su Te-Wei et al.. Biomedical journal. 2026-05-20 DOI: 10.1016/j.bj.2026.100994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**免疫治療的臨床實踐效果**  </a:t>
            </a:r>
            <a:endParaRPr lang="en-US" sz="1200" dirty="0"/>
          </a:p>
          <a:p>
            <a:pPr indent="0" marL="0">
              <a:lnSpc>
                <a:spcPct val="150000"/>
              </a:lnSpc>
              <a:buNone/>
            </a:pPr>
            <a:r>
              <a:rPr lang="en-US" sz="1200" dirty="0">
                <a:solidFill>
                  <a:srgbClr val="FFFFFF"/>
                </a:solidFill>
              </a:rPr>
              <a:t>   The combination of durvalumab and tremelimumab shows promising real-world outcomes in HCC patients, regardless of meeting phase 3 trial criteria, indicating its potential as a viable treatment option.  </a:t>
            </a:r>
            <a:endParaRPr lang="en-US" sz="1200" dirty="0"/>
          </a:p>
          <a:p>
            <a:pPr indent="0" marL="0">
              <a:lnSpc>
                <a:spcPct val="150000"/>
              </a:lnSpc>
              <a:buNone/>
            </a:pPr>
            <a:r>
              <a:rPr lang="en-US" sz="1200" dirty="0">
                <a:solidFill>
                  <a:srgbClr val="FFFFFF"/>
                </a:solidFill>
              </a:rPr>
              <a:t>   Durvalumab和tremelimumab的組合在肝細胞癌患者中顯示出良好的臨床實踐效果，無論是否符合第三期試驗標準，顯示其作為可行治療選擇的潛力。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**一線治療的持久性反應**  </a:t>
            </a:r>
            <a:endParaRPr lang="en-US" sz="1200" dirty="0"/>
          </a:p>
          <a:p>
            <a:pPr indent="0" marL="0">
              <a:lnSpc>
                <a:spcPct val="150000"/>
              </a:lnSpc>
              <a:buNone/>
            </a:pPr>
            <a:r>
              <a:rPr lang="en-US" sz="1200" dirty="0">
                <a:solidFill>
                  <a:srgbClr val="FFFFFF"/>
                </a:solidFill>
              </a:rPr>
              <a:t>   Atezolizumab plus bevacizumab remains the first-line treatment for unresectable HCC, with high response rates leading to potential curative conversions and drug-free remissions in select patients over five years.  </a:t>
            </a:r>
            <a:endParaRPr lang="en-US" sz="1200" dirty="0"/>
          </a:p>
          <a:p>
            <a:pPr indent="0" marL="0">
              <a:lnSpc>
                <a:spcPct val="150000"/>
              </a:lnSpc>
              <a:buNone/>
            </a:pPr>
            <a:r>
              <a:rPr lang="en-US" sz="1200" dirty="0">
                <a:solidFill>
                  <a:srgbClr val="FFFFFF"/>
                </a:solidFill>
              </a:rPr>
              <a:t>   Atezolizumab加bevacizumab仍然是不可切除肝細胞癌的一線治療，五年內高反應率使某些患者有可能實現治癒性轉化和無藥物緩解。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**傳統中醫的潛在作用**  </a:t>
            </a:r>
            <a:endParaRPr lang="en-US" sz="1200" dirty="0"/>
          </a:p>
          <a:p>
            <a:pPr indent="0" marL="0">
              <a:lnSpc>
                <a:spcPct val="150000"/>
              </a:lnSpc>
              <a:buNone/>
            </a:pPr>
            <a:r>
              <a:rPr lang="en-US" sz="1200" dirty="0">
                <a:solidFill>
                  <a:srgbClr val="FFFFFF"/>
                </a:solidFill>
              </a:rPr>
              <a:t>   Traditional Chinese Medicine may reverse immune checkpoint resistance through lactate metabolic reprogramming, offering novel therapeutic strategies for HCC.  </a:t>
            </a:r>
            <a:endParaRPr lang="en-US" sz="1200" dirty="0"/>
          </a:p>
          <a:p>
            <a:pPr indent="0" marL="0">
              <a:lnSpc>
                <a:spcPct val="150000"/>
              </a:lnSpc>
              <a:buNone/>
            </a:pPr>
            <a:r>
              <a:rPr lang="en-US" sz="1200" dirty="0">
                <a:solidFill>
                  <a:srgbClr val="FFFFFF"/>
                </a:solidFill>
              </a:rPr>
              <a:t>   傳統中醫可能通過乳酸代謝重編程逆轉免疫檢查點抗性，為肝細胞癌提供新型治療策略。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**Neddylation途徑的預後評估**  </a:t>
            </a:r>
            <a:endParaRPr lang="en-US" sz="1200" dirty="0"/>
          </a:p>
          <a:p>
            <a:pPr indent="0" marL="0">
              <a:lnSpc>
                <a:spcPct val="150000"/>
              </a:lnSpc>
              <a:buNone/>
            </a:pPr>
            <a:r>
              <a:rPr lang="en-US" sz="1200" dirty="0">
                <a:solidFill>
                  <a:srgbClr val="FFFFFF"/>
                </a:solidFill>
              </a:rPr>
              <a:t>   The Neddylation pathway's activation in HCC may serve as a prognostic marker and could enhance the efficacy of immunotherapy, indicating a need for further exploration.  </a:t>
            </a:r>
            <a:endParaRPr lang="en-US" sz="1200" dirty="0"/>
          </a:p>
          <a:p>
            <a:pPr indent="0" marL="0">
              <a:lnSpc>
                <a:spcPct val="150000"/>
              </a:lnSpc>
              <a:buNone/>
            </a:pPr>
            <a:r>
              <a:rPr lang="en-US" sz="1200" dirty="0">
                <a:solidFill>
                  <a:srgbClr val="FFFFFF"/>
                </a:solidFill>
              </a:rPr>
              <a:t>   Neddylation途徑在肝細胞癌中的活化可能作為預後標記，並可能增強免疫治療的療效，顯示出進一步探索的必要性。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**機器學習在安全性評估中的應用**  </a:t>
            </a:r>
            <a:endParaRPr lang="en-US" sz="1200" dirty="0"/>
          </a:p>
          <a:p>
            <a:pPr indent="0" marL="0">
              <a:lnSpc>
                <a:spcPct val="150000"/>
              </a:lnSpc>
              <a:buNone/>
            </a:pPr>
            <a:r>
              <a:rPr lang="en-US" sz="1200" dirty="0">
                <a:solidFill>
                  <a:srgbClr val="FFFFFF"/>
                </a:solidFill>
              </a:rPr>
              <a:t>   Machine learning-based hepatic safety scores can predict decompensation risks in HCC patients undergoing systemic therapy, highlighting the importance of personalized treatment approaches.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基於機器學習的肝臟安全性評分能預測接受系統治療的肝細胞癌患者的脫補償風險，突顯個性化治療方法的重要性。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**擴大免疫治療的適應症**  </a:t>
            </a:r>
            <a:endParaRPr lang="en-US" sz="1200" dirty="0"/>
          </a:p>
          <a:p>
            <a:pPr indent="0" marL="0">
              <a:lnSpc>
                <a:spcPct val="150000"/>
              </a:lnSpc>
              <a:buNone/>
            </a:pPr>
            <a:r>
              <a:rPr lang="en-US" sz="1200" dirty="0">
                <a:solidFill>
                  <a:srgbClr val="FFFFFF"/>
                </a:solidFill>
              </a:rPr>
              <a:t>   Future studies should investigate the efficacy of immune checkpoint inhibitors in broader HCC populations, particularly those with portal vein tumor thrombosis and other high-risk features.  </a:t>
            </a:r>
            <a:endParaRPr lang="en-US" sz="1200" dirty="0"/>
          </a:p>
          <a:p>
            <a:pPr indent="0" marL="0">
              <a:lnSpc>
                <a:spcPct val="150000"/>
              </a:lnSpc>
              <a:buNone/>
            </a:pPr>
            <a:r>
              <a:rPr lang="en-US" sz="1200" dirty="0">
                <a:solidFill>
                  <a:srgbClr val="FFFFFF"/>
                </a:solidFill>
              </a:rPr>
              <a:t>   未來研究應探討免疫檢查點抑制劑在更廣泛肝細胞癌人群中的療效，特別是那些具有門靜脈腫瘤血栓和其他高風險特徵的患者。</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**中醫與現代療法的結合**  </a:t>
            </a:r>
            <a:endParaRPr lang="en-US" sz="1200" dirty="0"/>
          </a:p>
          <a:p>
            <a:pPr indent="0" marL="0">
              <a:lnSpc>
                <a:spcPct val="150000"/>
              </a:lnSpc>
              <a:buNone/>
            </a:pPr>
            <a:r>
              <a:rPr lang="en-US" sz="1200" dirty="0">
                <a:solidFill>
                  <a:srgbClr val="FFFFFF"/>
                </a:solidFill>
              </a:rPr>
              <a:t>   Research should explore the synergistic effects of Traditional Chinese Medicine combined with modern immunotherapies to enhance treatment outcomes in HCC.  </a:t>
            </a:r>
            <a:endParaRPr lang="en-US" sz="1200" dirty="0"/>
          </a:p>
          <a:p>
            <a:pPr indent="0" marL="0">
              <a:lnSpc>
                <a:spcPct val="150000"/>
              </a:lnSpc>
              <a:buNone/>
            </a:pPr>
            <a:r>
              <a:rPr lang="en-US" sz="1200" dirty="0">
                <a:solidFill>
                  <a:srgbClr val="FFFFFF"/>
                </a:solidFill>
              </a:rPr>
              <a:t>   研究應探討傳統中醫與現代免疫療法結合的協同效應，以提升肝細胞癌的治療效果。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**Neddylation途徑的深入分析**  </a:t>
            </a:r>
            <a:endParaRPr lang="en-US" sz="1200" dirty="0"/>
          </a:p>
          <a:p>
            <a:pPr indent="0" marL="0">
              <a:lnSpc>
                <a:spcPct val="150000"/>
              </a:lnSpc>
              <a:buNone/>
            </a:pPr>
            <a:r>
              <a:rPr lang="en-US" sz="1200" dirty="0">
                <a:solidFill>
                  <a:srgbClr val="FFFFFF"/>
                </a:solidFill>
              </a:rPr>
              <a:t>   Further investigation into the Neddylation pathway's role in HCC progression and its potential as a therapeutic target is warranted.  </a:t>
            </a:r>
            <a:endParaRPr lang="en-US" sz="1200" dirty="0"/>
          </a:p>
          <a:p>
            <a:pPr indent="0" marL="0">
              <a:lnSpc>
                <a:spcPct val="150000"/>
              </a:lnSpc>
              <a:buNone/>
            </a:pPr>
            <a:r>
              <a:rPr lang="en-US" sz="1200" dirty="0">
                <a:solidFill>
                  <a:srgbClr val="FFFFFF"/>
                </a:solidFill>
              </a:rPr>
              <a:t>   需要進一步研究Neddylation途徑在肝細胞癌進展中的作用及其作為治療靶點的潛力。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**個性化治療策略的發展**  </a:t>
            </a:r>
            <a:endParaRPr lang="en-US" sz="1200" dirty="0"/>
          </a:p>
          <a:p>
            <a:pPr indent="0" marL="0">
              <a:lnSpc>
                <a:spcPct val="150000"/>
              </a:lnSpc>
              <a:buNone/>
            </a:pPr>
            <a:r>
              <a:rPr lang="en-US" sz="1200" dirty="0">
                <a:solidFill>
                  <a:srgbClr val="FFFFFF"/>
                </a:solidFill>
              </a:rPr>
              <a:t>   Developing personalized treatment strategies using machine learning models to predict patient outcomes and optimize therapeutic regimens in HCC is essential.  </a:t>
            </a:r>
            <a:endParaRPr lang="en-US" sz="1200" dirty="0"/>
          </a:p>
          <a:p>
            <a:pPr indent="0" marL="0">
              <a:lnSpc>
                <a:spcPct val="150000"/>
              </a:lnSpc>
              <a:buNone/>
            </a:pPr>
            <a:r>
              <a:rPr lang="en-US" sz="1200" dirty="0">
                <a:solidFill>
                  <a:srgbClr val="FFFFFF"/>
                </a:solidFill>
              </a:rPr>
              <a:t>   開發使用機器學習模型的個性化治療策略，以預測患者結果並優化肝細胞癌的治療方案至關重要。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**長期療效的持續評估**  </a:t>
            </a:r>
            <a:endParaRPr lang="en-US" sz="1200" dirty="0"/>
          </a:p>
          <a:p>
            <a:pPr indent="0" marL="0">
              <a:lnSpc>
                <a:spcPct val="150000"/>
              </a:lnSpc>
              <a:buNone/>
            </a:pPr>
            <a:r>
              <a:rPr lang="en-US" sz="1200" dirty="0">
                <a:solidFill>
                  <a:srgbClr val="FFFFFF"/>
                </a:solidFill>
              </a:rPr>
              <a:t>   Longitudinal studies are needed to assess the durability of responses to combination therapies in HCC and their impact on overall survival.  </a:t>
            </a:r>
            <a:endParaRPr lang="en-US" sz="1200" dirty="0"/>
          </a:p>
          <a:p>
            <a:pPr indent="0" marL="0">
              <a:lnSpc>
                <a:spcPct val="150000"/>
              </a:lnSpc>
              <a:buNone/>
            </a:pPr>
            <a:r>
              <a:rPr lang="en-US" sz="1200" dirty="0">
                <a:solidFill>
                  <a:srgbClr val="FFFFFF"/>
                </a:solidFill>
              </a:rPr>
              <a:t>   需要進行縱向研究來評估肝細胞癌中聯合療法反應的持久性及其對整體生存的影響。</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2026-05-25T05:17:51Z</dcterms:created>
  <dcterms:modified xsi:type="dcterms:W3CDTF">2026-05-25T05:17:51Z</dcterms:modified>
</cp:coreProperties>
</file>