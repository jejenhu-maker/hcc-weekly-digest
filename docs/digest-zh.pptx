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doi.org/10.1016/j.cell.2026.03.001" TargetMode="External"/><Relationship Id="rId2" Type="http://schemas.openxmlformats.org/officeDocument/2006/relationships/hyperlink" Target="https://doi.org/10.1016/j.cell.2026.03.001" TargetMode="Externa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doi.org/10.1158/1078-0432.CCR-25-4779" TargetMode="External"/><Relationship Id="rId2" Type="http://schemas.openxmlformats.org/officeDocument/2006/relationships/hyperlink" Target="https://doi.org/10.1158/1078-0432.CCR-25-4779"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doi.org/10.1097/HEP.0000000000001731" TargetMode="External"/><Relationship Id="rId2" Type="http://schemas.openxmlformats.org/officeDocument/2006/relationships/hyperlink" Target="https://doi.org/10.1097/HEP.0000000000001731" TargetMode="Externa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doi.org/10.1158/0008-5472.CAN-25-0346" TargetMode="External"/><Relationship Id="rId2" Type="http://schemas.openxmlformats.org/officeDocument/2006/relationships/hyperlink" Target="https://doi.org/10.1158/0008-5472.CAN-25-0346"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doi.org/10.1002/advs.202521418" TargetMode="External"/><Relationship Id="rId2" Type="http://schemas.openxmlformats.org/officeDocument/2006/relationships/hyperlink" Target="https://doi.org/10.1002/advs.202521418"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doi.org/10.1073/pnas.2427192123" TargetMode="External"/><Relationship Id="rId2" Type="http://schemas.openxmlformats.org/officeDocument/2006/relationships/hyperlink" Target="https://doi.org/10.1073/pnas.2427192123"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pmc.ncbi.nlm.nih.gov/articles/PMC12939993/" TargetMode="External"/><Relationship Id="rId2" Type="http://schemas.openxmlformats.org/officeDocument/2006/relationships/hyperlink" Target="https://pmc.ncbi.nlm.nih.gov/articles/PMC12939993/"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www.nature.com/articles/s41392-025-02498-z" TargetMode="External"/><Relationship Id="rId2" Type="http://schemas.openxmlformats.org/officeDocument/2006/relationships/hyperlink" Target="https://www.nature.com/articles/s41392-025-02498-z"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doi.org/10.2169/internalmedicine.6021-25" TargetMode="External"/><Relationship Id="rId2" Type="http://schemas.openxmlformats.org/officeDocument/2006/relationships/hyperlink" Target="https://doi.org/10.2169/internalmedicine.6021-25"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ascopubs.org/doi/abs/10.1200/JCO.2026.44.2_suppl.547" TargetMode="External"/><Relationship Id="rId2" Type="http://schemas.openxmlformats.org/officeDocument/2006/relationships/hyperlink" Target="https://ascopubs.org/doi/abs/10.1200/JCO.2026.44.2_suppl.547"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731520" y="457200"/>
            <a:ext cx="5486400" cy="0"/>
          </a:xfrm>
          <a:prstGeom prst="rect">
            <a:avLst/>
          </a:prstGeom>
          <a:noFill/>
          <a:ln/>
        </p:spPr>
        <p:txBody>
          <a:bodyPr wrap="square" lIns="0" tIns="0" rIns="0" bIns="0" rtlCol="0" anchor="ctr"/>
          <a:lstStyle/>
          <a:p>
            <a:pPr indent="0" marL="0">
              <a:buNone/>
            </a:pPr>
            <a:r>
              <a:rPr lang="en-US" sz="900" b="1" spc="600" kern="0" dirty="0">
                <a:solidFill>
                  <a:srgbClr val="888888"/>
                </a:solidFill>
              </a:rPr>
              <a:t>WEEKLY DIGEST</a:t>
            </a:r>
            <a:endParaRPr lang="en-US" sz="900" dirty="0"/>
          </a:p>
        </p:txBody>
      </p:sp>
      <p:sp>
        <p:nvSpPr>
          <p:cNvPr id="3" name="Text 1"/>
          <p:cNvSpPr/>
          <p:nvPr/>
        </p:nvSpPr>
        <p:spPr>
          <a:xfrm>
            <a:off x="731520" y="1371600"/>
            <a:ext cx="10058400" cy="0"/>
          </a:xfrm>
          <a:prstGeom prst="rect">
            <a:avLst/>
          </a:prstGeom>
          <a:noFill/>
          <a:ln/>
        </p:spPr>
        <p:txBody>
          <a:bodyPr wrap="square" rtlCol="0" anchor="ctr"/>
          <a:lstStyle/>
          <a:p>
            <a:pPr indent="0" marL="0">
              <a:lnSpc>
                <a:spcPct val="130000"/>
              </a:lnSpc>
              <a:buNone/>
            </a:pPr>
            <a:r>
              <a:rPr lang="en-US" sz="4400" b="1" dirty="0">
                <a:solidFill>
                  <a:srgbClr val="FFFFFF"/>
                </a:solidFill>
                <a:latin typeface="Arial" pitchFamily="34" charset="0"/>
                <a:ea typeface="Arial" pitchFamily="34" charset="-122"/>
                <a:cs typeface="Arial" pitchFamily="34" charset="-120"/>
              </a:rPr>
              <a:t>HCC Weekly Digest</a:t>
            </a:r>
            <a:endParaRPr lang="en-US" sz="4400" dirty="0"/>
          </a:p>
          <a:p>
            <a:pPr indent="0" marL="0">
              <a:lnSpc>
                <a:spcPct val="130000"/>
              </a:lnSpc>
              <a:buNone/>
            </a:pPr>
            <a:r>
              <a:rPr lang="en-US" sz="1800" dirty="0">
                <a:solidFill>
                  <a:srgbClr val="FCA5A5"/>
                </a:solidFill>
                <a:latin typeface="Microsoft JhengHei" pitchFamily="34" charset="0"/>
                <a:ea typeface="Microsoft JhengHei" pitchFamily="34" charset="-122"/>
                <a:cs typeface="Microsoft JhengHei" pitchFamily="34" charset="-120"/>
              </a:rPr>
              <a:t>肝膽腸胃內科 — 肝癌免疫治療與局部消融</a:t>
            </a:r>
            <a:endParaRPr lang="en-US" sz="4400" dirty="0"/>
          </a:p>
          <a:p>
            <a:pPr indent="0" marL="0">
              <a:lnSpc>
                <a:spcPct val="130000"/>
              </a:lnSpc>
              <a:buNone/>
            </a:pPr>
            <a:r>
              <a:rPr lang="en-US" sz="2000" dirty="0">
                <a:solidFill>
                  <a:srgbClr val="FFFFFF"/>
                </a:solidFill>
                <a:latin typeface="Microsoft JhengHei" pitchFamily="34" charset="0"/>
                <a:ea typeface="Microsoft JhengHei" pitchFamily="34" charset="-122"/>
                <a:cs typeface="Microsoft JhengHei" pitchFamily="34" charset="-120"/>
              </a:rPr>
              <a:t>呂大教授 敬啟</a:t>
            </a:r>
            <a:endParaRPr lang="en-US" sz="4400" dirty="0"/>
          </a:p>
        </p:txBody>
      </p:sp>
      <p:sp>
        <p:nvSpPr>
          <p:cNvPr id="4" name="Text 2"/>
          <p:cNvSpPr/>
          <p:nvPr/>
        </p:nvSpPr>
        <p:spPr>
          <a:xfrm>
            <a:off x="731520" y="5029200"/>
            <a:ext cx="5486400" cy="0"/>
          </a:xfrm>
          <a:prstGeom prst="rect">
            <a:avLst/>
          </a:prstGeom>
          <a:noFill/>
          <a:ln/>
        </p:spPr>
        <p:txBody>
          <a:bodyPr wrap="square" lIns="0" tIns="0" rIns="0" bIns="0" rtlCol="0" anchor="ctr"/>
          <a:lstStyle/>
          <a:p>
            <a:pPr indent="0" marL="0">
              <a:buNone/>
            </a:pPr>
            <a:r>
              <a:rPr lang="en-US" sz="1400" dirty="0">
                <a:solidFill>
                  <a:srgbClr val="888888"/>
                </a:solidFill>
              </a:rPr>
              <a:t>2026-04-12 — 2026-04-19</a:t>
            </a:r>
            <a:endParaRPr lang="en-US" sz="1400" dirty="0"/>
          </a:p>
        </p:txBody>
      </p:sp>
      <p:sp>
        <p:nvSpPr>
          <p:cNvPr id="5" name="Text 3"/>
          <p:cNvSpPr/>
          <p:nvPr/>
        </p:nvSpPr>
        <p:spPr>
          <a:xfrm>
            <a:off x="731520" y="5486400"/>
            <a:ext cx="5486400" cy="0"/>
          </a:xfrm>
          <a:prstGeom prst="rect">
            <a:avLst/>
          </a:prstGeom>
          <a:noFill/>
          <a:ln/>
        </p:spPr>
        <p:txBody>
          <a:bodyPr wrap="square" lIns="0" tIns="0" rIns="0" bIns="0" rtlCol="0" anchor="ctr"/>
          <a:lstStyle/>
          <a:p>
            <a:pPr indent="0" marL="0">
              <a:buNone/>
            </a:pPr>
            <a:r>
              <a:rPr lang="en-US" sz="1200" b="1" spc="200" kern="0" dirty="0">
                <a:solidFill>
                  <a:srgbClr val="DC2626"/>
                </a:solidFill>
              </a:rPr>
              <a:t>10 篇精選論文</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65760"/>
            <a:ext cx="3657600" cy="0"/>
          </a:xfrm>
          <a:prstGeom prst="rect">
            <a:avLst/>
          </a:prstGeom>
          <a:noFill/>
          <a:ln/>
        </p:spPr>
        <p:txBody>
          <a:bodyPr wrap="square" lIns="0" tIns="0" rIns="0" bIns="0" rtlCol="0" anchor="ctr"/>
          <a:lstStyle/>
          <a:p>
            <a:pPr indent="0" marL="0">
              <a:buNone/>
            </a:pPr>
            <a:r>
              <a:rPr lang="en-US" sz="1000" b="1" spc="400" kern="0" dirty="0">
                <a:solidFill>
                  <a:srgbClr val="888888"/>
                </a:solidFill>
              </a:rPr>
              <a:t>目錄</a:t>
            </a:r>
            <a:endParaRPr lang="en-US" sz="1000" dirty="0"/>
          </a:p>
        </p:txBody>
      </p:sp>
      <p:sp>
        <p:nvSpPr>
          <p:cNvPr id="3" name="Text 1"/>
          <p:cNvSpPr/>
          <p:nvPr/>
        </p:nvSpPr>
        <p:spPr>
          <a:xfrm>
            <a:off x="731520" y="1005840"/>
            <a:ext cx="10058400" cy="0"/>
          </a:xfrm>
          <a:prstGeom prst="rect">
            <a:avLst/>
          </a:prstGeom>
          <a:noFill/>
          <a:ln/>
        </p:spPr>
        <p:txBody>
          <a:bodyPr wrap="square" rtlCol="0" anchor="ctr"/>
          <a:lstStyle/>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01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Hallmarks of liver cancer: Therapeutic implications.</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02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Neoadjuvant stereotactic body radiation therapy plus immune therapy favorably re…</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03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Erratum: Hepatectomy alters adjuvant anti-PD-1 action in a mouse model of HCC bu…</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04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Intratumoral Lactobacillus johnsonii Enhances Sensitivity to PD-1 Blockade by In…</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05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Cancer-Associated Fibroblasts Promote Tumor Immunosuppression in Hepatocellular …</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06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Selective depletion of virus-specific CD8 T cells from the liver after PD-1 ther…</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07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Immunotherapy in Hepatocellular Carcinoma with Portal Vein Tumour Thrombosis: Fr…</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08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 plus transarterial chemoembolization and PD-1 inhibitors as conversion therapi…</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09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The Efficacy and Safety of Atezolizumab Plus Bevacizumab after Durvalumab Plus T…</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10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Radiotherapy versus local ablation therapy for the treatment of hepatocellular c…</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01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01</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Hallmarks of liver cancer: Therapeutic implications.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Cell  ·  IF 45.5  ·  Review</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統一框架理解肝癌</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HCC展現免疫逃逸特徵</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免疫治療改善晚期HCC預後</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iCCA有獨特特徵與靶向治療</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新策略可能提升肝癌治療</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02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02</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Neoadjuvant stereotactic body radiation therapy plus immune therapy favorably remodels the hepatocellular carcinoma tumor microenvironment.</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Clinical cancer research : an official journal of the American Association for Cancer Research  ·  IF 11.5  ·  Prospective Study</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測試新輔助SBRT加免疫療法</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安全性以不良事件評估</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一名患者達到完全病理反應</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所有切除患者隨訪無復發</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觀察到抗癌免疫浸潤增加</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03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03</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Erratum: Hepatectomy alters adjuvant anti-PD-1 action in a mouse model of HCC but does not compromise neoadjuvant efficacy.</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Hepatology (Baltimore, Md.)  ·  IF 12.9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肝切除影響抗PD-1療法</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使用小鼠模型研究HCC</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新輔助療效保持不變</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04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04</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Intratumoral Lactobacillus johnsonii Enhances Sensitivity to PD-1 Blockade by Inducing CD8+ T-cell Expansion in Hepatocellular Carcinoma.</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Cancer research  ·  IF 12.7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Lactobacillus johnsonii 增強 CD8+ T 細胞擴展。</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較高水平與無病生存相關。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Nicotinic acid 活化 NF-κB 路徑。</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聯合療法抑制腫瘤生長。</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CD8+ T 細胞對療效至關重要。</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05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05</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Cancer-Associated Fibroblasts Promote Tumor Immunosuppression in Hepatocellular Carcinoma via the NNMT-ANGPTL4 Axis.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Advanced science (Weinheim, Baden-Wurttemberg, Germany)  ·  Basic Research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CAFs 驅動 HCC 免疫抑制。</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NNMT 調控 ANGPTL4 分泌。</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ANGPTL4 增強腫瘤免疫逃逸。</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靶向 NNMT-ANGPTL4 恢復 T 細胞活性。</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聯合療法提升抗 PD-L1 效果。</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06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06</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Selective depletion of virus-specific CD8 T cells from the liver after PD-1 therapy with Fc-intact antibody during chronic infection.</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Proceedings of the National Academy of Sciences of the United States of America  ·  Basic Research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Fc區域影響PD-1療法療效。</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肝臟中CD8 T細胞選擇性耗竭。</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Fc依賴性機制通過FcγR III。</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吞噬細胞介導T細胞耗竭。</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對肝癌治療的啟示。</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07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07</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Immunotherapy in Hepatocellular Carcinoma with Portal Vein Tumour Thrombosis: From Poor Prognosis to Curative-Intent Strategies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  ·  RCT Phase 2</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針對PVTT的HCC II期研究</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HAIC結合lenvatinib與PD-1</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療效優於標準療法</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具治癒潛力的策略</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聚焦於晚期肝細胞癌</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08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08</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 plus transarterial chemoembolization and PD-1 inhibitors as conversion therapies for unresectable intermediate-advanced hepatocellular carcinoma: a phase 2 trial …</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 and Targeted Therapy  ·  RCT Phase 2</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評估uHCC的組合療法</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使用肝動脈化療栓塞(TACE)</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加入PD-1抑制劑以提高療效</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第二期臨床試驗顯示潛力</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結果顯示改善病人預後</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09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09</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 Efficacy and Safety of Atezolizumab Plus Bevacizumab after Durvalumab Plus Tremelimumab for the Treatment of Hepatocellular Carcinoma.</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Internal medicine (Tokyo, Japan)  ·  Retrospective Study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Atez+Bev 在 Dur+Tre 後有效。</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客觀反應率為 25.0%。</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疾病控制率達 75.0%。</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不良事件在治療間不同。</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先前的 Dur+Tre 可能增強免疫反應。</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10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10</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Radiotherapy versus local ablation therapy for the treatment of hepatocellular carcinoma: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Clinical …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放射治療與局部消融比較</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聚焦肝細胞癌治療</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評估局部無進展生存期</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包含射頻與微波消融</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進行系統性回顧與統合分析</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7F1D1D"/>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綜合啟示</a:t>
            </a:r>
            <a:endParaRPr lang="en-US" sz="900" dirty="0"/>
          </a:p>
        </p:txBody>
      </p:sp>
      <p:sp>
        <p:nvSpPr>
          <p:cNvPr id="3" name="Text 1"/>
          <p:cNvSpPr/>
          <p:nvPr/>
        </p:nvSpPr>
        <p:spPr>
          <a:xfrm>
            <a:off x="731520" y="822960"/>
            <a:ext cx="10058400" cy="0"/>
          </a:xfrm>
          <a:prstGeom prst="rect">
            <a:avLst/>
          </a:prstGeom>
          <a:noFill/>
          <a:ln/>
        </p:spPr>
        <p:txBody>
          <a:bodyPr wrap="square" rtlCol="0" anchor="ctr"/>
          <a:lstStyle/>
          <a:p>
            <a:pPr indent="0" marL="0">
              <a:buNone/>
            </a:pPr>
            <a:r>
              <a:rPr lang="en-US" sz="3000" b="1" dirty="0">
                <a:solidFill>
                  <a:srgbClr val="FFFFFF"/>
                </a:solidFill>
                <a:latin typeface="Arial" pitchFamily="34" charset="0"/>
                <a:ea typeface="Arial" pitchFamily="34" charset="-122"/>
                <a:cs typeface="Arial" pitchFamily="34" charset="-120"/>
              </a:rPr>
              <a:t>Overall Insights</a:t>
            </a:r>
            <a:endParaRPr lang="en-US" sz="3000" dirty="0"/>
          </a:p>
          <a:p>
            <a:pPr indent="0" marL="0">
              <a:buNone/>
            </a:pPr>
            <a:r>
              <a:rPr lang="en-US" sz="3000" b="1" dirty="0">
                <a:solidFill>
                  <a:srgbClr val="FFFFFF"/>
                </a:solidFill>
                <a:latin typeface="Arial" pitchFamily="34" charset="0"/>
                <a:ea typeface="Arial" pitchFamily="34" charset="-122"/>
                <a:cs typeface="Arial" pitchFamily="34" charset="-120"/>
              </a:rPr>
              <a:t>&amp; Future Directions</a:t>
            </a:r>
            <a:endParaRPr lang="en-US" sz="3000" dirty="0"/>
          </a:p>
        </p:txBody>
      </p:sp>
      <p:sp>
        <p:nvSpPr>
          <p:cNvPr id="4" name="Text 2"/>
          <p:cNvSpPr/>
          <p:nvPr/>
        </p:nvSpPr>
        <p:spPr>
          <a:xfrm>
            <a:off x="731520" y="2286000"/>
            <a:ext cx="10058400" cy="0"/>
          </a:xfrm>
          <a:prstGeom prst="rect">
            <a:avLst/>
          </a:prstGeom>
          <a:noFill/>
          <a:ln/>
        </p:spPr>
        <p:txBody>
          <a:bodyPr wrap="square" lIns="0" tIns="0" rIns="0" bIns="0" rtlCol="0" anchor="ctr"/>
          <a:lstStyle/>
          <a:p>
            <a:pPr indent="0" marL="0">
              <a:buNone/>
            </a:pPr>
            <a:r>
              <a:rPr lang="en-US" sz="1400" dirty="0">
                <a:solidFill>
                  <a:srgbClr val="888888"/>
                </a:solidFill>
                <a:latin typeface="Microsoft JhengHei" pitchFamily="34" charset="0"/>
                <a:ea typeface="Microsoft JhengHei" pitchFamily="34" charset="-122"/>
                <a:cs typeface="Microsoft JhengHei" pitchFamily="34" charset="-120"/>
              </a:rPr>
              <a:t>綜合啟示與未來研究方向</a:t>
            </a:r>
            <a:endParaRPr lang="en-US" sz="1400" dirty="0"/>
          </a:p>
        </p:txBody>
      </p:sp>
      <p:sp>
        <p:nvSpPr>
          <p:cNvPr id="5" name="Text 3"/>
          <p:cNvSpPr/>
          <p:nvPr/>
        </p:nvSpPr>
        <p:spPr>
          <a:xfrm>
            <a:off x="731520" y="2926080"/>
            <a:ext cx="10515600" cy="0"/>
          </a:xfrm>
          <a:prstGeom prst="rect">
            <a:avLst/>
          </a:prstGeom>
          <a:noFill/>
          <a:ln/>
        </p:spPr>
        <p:txBody>
          <a:bodyPr wrap="square" rtlCol="0" anchor="ctr"/>
          <a:lstStyle/>
          <a:p>
            <a:pPr indent="0" marL="0">
              <a:lnSpc>
                <a:spcPct val="160000"/>
              </a:lnSpc>
              <a:buNone/>
            </a:pPr>
            <a:r>
              <a:rPr lang="en-US" sz="1200" dirty="0">
                <a:solidFill>
                  <a:srgbClr val="FFFFFF"/>
                </a:solidFill>
              </a:rPr>
              <a:t>### 綜合啟示 (Overall Insights)</a:t>
            </a:r>
            <a:endParaRPr lang="en-US" sz="1200" dirty="0"/>
          </a:p>
          <a:p>
            <a:pPr indent="0" marL="0">
              <a:lnSpc>
                <a:spcPct val="160000"/>
              </a:lnSpc>
              <a:buNone/>
            </a:pPr>
            <a:endParaRPr lang="en-US" sz="1200" dirty="0"/>
          </a:p>
          <a:p>
            <a:pPr indent="0" marL="0">
              <a:lnSpc>
                <a:spcPct val="160000"/>
              </a:lnSpc>
              <a:buNone/>
            </a:pPr>
            <a:r>
              <a:rPr lang="en-US" sz="1200" dirty="0">
                <a:solidFill>
                  <a:srgbClr val="FFFFFF"/>
                </a:solidFill>
              </a:rPr>
              <a:t>1. **免疫療法的潛力**  </a:t>
            </a:r>
            <a:endParaRPr lang="en-US" sz="1200" dirty="0"/>
          </a:p>
          <a:p>
            <a:pPr indent="0" marL="0">
              <a:lnSpc>
                <a:spcPct val="160000"/>
              </a:lnSpc>
              <a:buNone/>
            </a:pPr>
            <a:r>
              <a:rPr lang="en-US" sz="1200" dirty="0">
                <a:solidFill>
                  <a:srgbClr val="FFFFFF"/>
                </a:solidFill>
              </a:rPr>
              <a:t>   The integration of immune therapy with traditional treatments such as surgery and local ablation has shown promising results in enhancing therapeutic outcomes for HCC patients.  </a:t>
            </a:r>
            <a:endParaRPr lang="en-US" sz="1200" dirty="0"/>
          </a:p>
          <a:p>
            <a:pPr indent="0" marL="0">
              <a:lnSpc>
                <a:spcPct val="160000"/>
              </a:lnSpc>
              <a:buNone/>
            </a:pPr>
            <a:r>
              <a:rPr lang="en-US" sz="1200" dirty="0">
                <a:solidFill>
                  <a:srgbClr val="FFFFFF"/>
                </a:solidFill>
              </a:rPr>
              <a:t>   免疫療法與傳統治療（如手術和局部消融）的結合顯示出改善肝癌患者療效的潛力。</a:t>
            </a:r>
            <a:endParaRPr lang="en-US" sz="1200" dirty="0"/>
          </a:p>
          <a:p>
            <a:pPr indent="0" marL="0">
              <a:lnSpc>
                <a:spcPct val="160000"/>
              </a:lnSpc>
              <a:buNone/>
            </a:pPr>
            <a:endParaRPr lang="en-US" sz="1200" dirty="0"/>
          </a:p>
          <a:p>
            <a:pPr indent="0" marL="0">
              <a:lnSpc>
                <a:spcPct val="160000"/>
              </a:lnSpc>
              <a:buNone/>
            </a:pPr>
            <a:r>
              <a:rPr lang="en-US" sz="1200" dirty="0">
                <a:solidFill>
                  <a:srgbClr val="FFFFFF"/>
                </a:solidFill>
              </a:rPr>
              <a:t>2. **腫瘤微環境的重塑**  </a:t>
            </a:r>
            <a:endParaRPr lang="en-US" sz="1200" dirty="0"/>
          </a:p>
          <a:p>
            <a:pPr indent="0" marL="0">
              <a:lnSpc>
                <a:spcPct val="160000"/>
              </a:lnSpc>
              <a:buNone/>
            </a:pPr>
            <a:r>
              <a:rPr lang="en-US" sz="1200" dirty="0">
                <a:solidFill>
                  <a:srgbClr val="FFFFFF"/>
                </a:solidFill>
              </a:rPr>
              <a:t>   Neoadjuvant therapies, including stereotactic body radiation therapy combined with immune therapy, can favorably remodel the tumor microenvironment, potentially improving patient responses.  </a:t>
            </a:r>
            <a:endParaRPr lang="en-US" sz="1200" dirty="0"/>
          </a:p>
          <a:p>
            <a:pPr indent="0" marL="0">
              <a:lnSpc>
                <a:spcPct val="160000"/>
              </a:lnSpc>
              <a:buNone/>
            </a:pPr>
            <a:r>
              <a:rPr lang="en-US" sz="1200" dirty="0">
                <a:solidFill>
                  <a:srgbClr val="FFFFFF"/>
                </a:solidFill>
              </a:rPr>
              <a:t>   新輔助療法（如立體定向體部放射治療結合免疫療法）能夠有利地重塑腫瘤微環境，可能改善患者的反應。</a:t>
            </a:r>
            <a:endParaRPr lang="en-US" sz="1200" dirty="0"/>
          </a:p>
          <a:p>
            <a:pPr indent="0" marL="0">
              <a:lnSpc>
                <a:spcPct val="160000"/>
              </a:lnSpc>
              <a:buNone/>
            </a:pPr>
            <a:endParaRPr lang="en-US" sz="1200" dirty="0"/>
          </a:p>
          <a:p>
            <a:pPr indent="0" marL="0">
              <a:lnSpc>
                <a:spcPct val="160000"/>
              </a:lnSpc>
              <a:buNone/>
            </a:pPr>
            <a:r>
              <a:rPr lang="en-US" sz="1200" dirty="0">
                <a:solidFill>
                  <a:srgbClr val="FFFFFF"/>
                </a:solidFill>
              </a:rPr>
              <a:t>3. **癌症相關成纖維細胞的角色**  </a:t>
            </a:r>
            <a:endParaRPr lang="en-US" sz="1200" dirty="0"/>
          </a:p>
          <a:p>
            <a:pPr indent="0" marL="0">
              <a:lnSpc>
                <a:spcPct val="160000"/>
              </a:lnSpc>
              <a:buNone/>
            </a:pPr>
            <a:r>
              <a:rPr lang="en-US" sz="1200" dirty="0">
                <a:solidFill>
                  <a:srgbClr val="FFFFFF"/>
                </a:solidFill>
              </a:rPr>
              <a:t>   Cancer-associated fibroblasts (CAFs) play a crucial role in promoting immunosuppression in HCC, highlighting the need to target these cells for effective therapy.  </a:t>
            </a:r>
            <a:endParaRPr lang="en-US" sz="1200" dirty="0"/>
          </a:p>
          <a:p>
            <a:pPr indent="0" marL="0">
              <a:lnSpc>
                <a:spcPct val="160000"/>
              </a:lnSpc>
              <a:buNone/>
            </a:pPr>
            <a:r>
              <a:rPr lang="en-US" sz="1200" dirty="0">
                <a:solidFill>
                  <a:srgbClr val="FFFFFF"/>
                </a:solidFill>
              </a:rPr>
              <a:t>   癌症相關成纖維細胞（CAFs）在促進肝癌的免疫抑制中扮演關鍵角色，強調了針對這些細胞的治療需求。</a:t>
            </a:r>
            <a:endParaRPr lang="en-US" sz="1200" dirty="0"/>
          </a:p>
          <a:p>
            <a:pPr indent="0" marL="0">
              <a:lnSpc>
                <a:spcPct val="160000"/>
              </a:lnSpc>
              <a:buNone/>
            </a:pPr>
            <a:endParaRPr lang="en-US" sz="1200" dirty="0"/>
          </a:p>
          <a:p>
            <a:pPr indent="0" marL="0">
              <a:lnSpc>
                <a:spcPct val="160000"/>
              </a:lnSpc>
              <a:buNone/>
            </a:pPr>
            <a:r>
              <a:rPr lang="en-US" sz="1200" dirty="0">
                <a:solidFill>
                  <a:srgbClr val="FFFFFF"/>
                </a:solidFill>
              </a:rPr>
              <a:t>4. **手術後復發的挑戰**  </a:t>
            </a:r>
            <a:endParaRPr lang="en-US" sz="1200" dirty="0"/>
          </a:p>
          <a:p>
            <a:pPr indent="0" marL="0">
              <a:lnSpc>
                <a:spcPct val="160000"/>
              </a:lnSpc>
              <a:buNone/>
            </a:pPr>
            <a:r>
              <a:rPr lang="en-US" sz="1200" dirty="0">
                <a:solidFill>
                  <a:srgbClr val="FFFFFF"/>
                </a:solidFill>
              </a:rPr>
              <a:t>   Despite effective surgical interventions, postoperative recurrence remains a significant challenge, necessitating further research into mechanisms and preventive strategies.  </a:t>
            </a:r>
            <a:endParaRPr lang="en-US" sz="1200" dirty="0"/>
          </a:p>
          <a:p>
            <a:pPr indent="0" marL="0">
              <a:lnSpc>
                <a:spcPct val="160000"/>
              </a:lnSpc>
              <a:buNone/>
            </a:pPr>
            <a:r>
              <a:rPr lang="en-US" sz="1200" dirty="0">
                <a:solidFill>
                  <a:srgbClr val="FFFFFF"/>
                </a:solidFill>
              </a:rPr>
              <a:t>   儘管手術干預有效，術後復發仍然是一個重大挑戰，需要進一步研究其機制和預防策略。</a:t>
            </a:r>
            <a:endParaRPr lang="en-US" sz="1200" dirty="0"/>
          </a:p>
          <a:p>
            <a:pPr indent="0" marL="0">
              <a:lnSpc>
                <a:spcPct val="160000"/>
              </a:lnSpc>
              <a:buNone/>
            </a:pPr>
            <a:endParaRPr lang="en-US" sz="1200" dirty="0"/>
          </a:p>
          <a:p>
            <a:pPr indent="0" marL="0">
              <a:lnSpc>
                <a:spcPct val="160000"/>
              </a:lnSpc>
              <a:buNone/>
            </a:pPr>
            <a:r>
              <a:rPr lang="en-US" sz="1200" dirty="0">
                <a:solidFill>
                  <a:srgbClr val="FFFFFF"/>
                </a:solidFill>
              </a:rPr>
              <a:t>5. **多模態治療的必要性**  </a:t>
            </a:r>
            <a:endParaRPr lang="en-US" sz="1200" dirty="0"/>
          </a:p>
          <a:p>
            <a:pPr indent="0" marL="0">
              <a:lnSpc>
                <a:spcPct val="160000"/>
              </a:lnSpc>
              <a:buNone/>
            </a:pPr>
            <a:r>
              <a:rPr lang="en-US" sz="1200" dirty="0">
                <a:solidFill>
                  <a:srgbClr val="FFFFFF"/>
                </a:solidFill>
              </a:rPr>
              <a:t>   The combination of various treatment modalities, including immunotherapy, local ablation, and systemic therapies, is essential for improving outcomes in advanced HCC cases.  </a:t>
            </a:r>
            <a:endParaRPr lang="en-US" sz="1200" dirty="0"/>
          </a:p>
          <a:p>
            <a:pPr indent="0" marL="0">
              <a:lnSpc>
                <a:spcPct val="160000"/>
              </a:lnSpc>
              <a:buNone/>
            </a:pPr>
            <a:r>
              <a:rPr lang="en-US" sz="1200" dirty="0">
                <a:solidFill>
                  <a:srgbClr val="FFFFFF"/>
                </a:solidFill>
              </a:rPr>
              <a:t>   結合各種治療模式，包括免疫療法、局部消融和全身療法，對於改善晚期肝癌病例的療效至關重要。</a:t>
            </a:r>
            <a:endParaRPr lang="en-US" sz="1200" dirty="0"/>
          </a:p>
          <a:p>
            <a:pPr indent="0" marL="0">
              <a:lnSpc>
                <a:spcPct val="160000"/>
              </a:lnSpc>
              <a:buNone/>
            </a:pPr>
            <a:endParaRPr lang="en-US" sz="1200" dirty="0"/>
          </a:p>
          <a:p>
            <a:pPr indent="0" marL="0">
              <a:lnSpc>
                <a:spcPct val="160000"/>
              </a:lnSpc>
              <a:buNone/>
            </a:pPr>
            <a:r>
              <a:rPr lang="en-US" sz="1200" dirty="0">
                <a:solidFill>
                  <a:srgbClr val="FFFFFF"/>
                </a:solidFill>
              </a:rPr>
              <a:t>### 未來研究方向 (Future Research Directions)</a:t>
            </a:r>
            <a:endParaRPr lang="en-US" sz="1200" dirty="0"/>
          </a:p>
          <a:p>
            <a:pPr indent="0" marL="0">
              <a:lnSpc>
                <a:spcPct val="160000"/>
              </a:lnSpc>
              <a:buNone/>
            </a:pPr>
            <a:endParaRPr lang="en-US" sz="1200" dirty="0"/>
          </a:p>
          <a:p>
            <a:pPr indent="0" marL="0">
              <a:lnSpc>
                <a:spcPct val="160000"/>
              </a:lnSpc>
              <a:buNone/>
            </a:pPr>
            <a:r>
              <a:rPr lang="en-US" sz="1200" dirty="0">
                <a:solidFill>
                  <a:srgbClr val="FFFFFF"/>
                </a:solidFill>
              </a:rPr>
              <a:t>1. **早期階段的免疫療法應用**  </a:t>
            </a:r>
            <a:endParaRPr lang="en-US" sz="1200" dirty="0"/>
          </a:p>
          <a:p>
            <a:pPr indent="0" marL="0">
              <a:lnSpc>
                <a:spcPct val="160000"/>
              </a:lnSpc>
              <a:buNone/>
            </a:pPr>
            <a:r>
              <a:rPr lang="en-US" sz="1200" dirty="0">
                <a:solidFill>
                  <a:srgbClr val="FFFFFF"/>
                </a:solidFill>
              </a:rPr>
              <a:t>   Investigating the optimal use of immune therapy in early-stage HCC will be crucial for maximizing patient benefits and reducing recurrence rates.  </a:t>
            </a:r>
            <a:endParaRPr lang="en-US" sz="1200" dirty="0"/>
          </a:p>
          <a:p>
            <a:pPr indent="0" marL="0">
              <a:lnSpc>
                <a:spcPct val="160000"/>
              </a:lnSpc>
              <a:buNone/>
            </a:pPr>
            <a:r>
              <a:rPr lang="en-US" sz="1200" dirty="0">
                <a:solidFill>
                  <a:srgbClr val="FFFFFF"/>
                </a:solidFill>
              </a:rPr>
              <a:t>   研究免疫療法在早期肝癌中的最佳應用對於最大化患者利益和降低復發率至關重要。</a:t>
            </a:r>
            <a:endParaRPr lang="en-US" sz="1200" dirty="0"/>
          </a:p>
          <a:p>
            <a:pPr indent="0" marL="0">
              <a:lnSpc>
                <a:spcPct val="160000"/>
              </a:lnSpc>
              <a:buNone/>
            </a:pPr>
            <a:endParaRPr lang="en-US" sz="1200" dirty="0"/>
          </a:p>
          <a:p>
            <a:pPr indent="0" marL="0">
              <a:lnSpc>
                <a:spcPct val="160000"/>
              </a:lnSpc>
              <a:buNone/>
            </a:pPr>
            <a:r>
              <a:rPr lang="en-US" sz="1200" dirty="0">
                <a:solidFill>
                  <a:srgbClr val="FFFFFF"/>
                </a:solidFill>
              </a:rPr>
              <a:t>2. **腫瘤微環境的深入研究**  </a:t>
            </a:r>
            <a:endParaRPr lang="en-US" sz="1200" dirty="0"/>
          </a:p>
          <a:p>
            <a:pPr indent="0" marL="0">
              <a:lnSpc>
                <a:spcPct val="160000"/>
              </a:lnSpc>
              <a:buNone/>
            </a:pPr>
            <a:r>
              <a:rPr lang="en-US" sz="1200" dirty="0">
                <a:solidFill>
                  <a:srgbClr val="FFFFFF"/>
                </a:solidFill>
              </a:rPr>
              <a:t>   Further exploration of the tumor microenvironment, particularly the role of CAFs and other immune cells, will provide insights into new therapeutic targets.  </a:t>
            </a:r>
            <a:endParaRPr lang="en-US" sz="1200" dirty="0"/>
          </a:p>
          <a:p>
            <a:pPr indent="0" marL="0">
              <a:lnSpc>
                <a:spcPct val="160000"/>
              </a:lnSpc>
              <a:buNone/>
            </a:pPr>
            <a:r>
              <a:rPr lang="en-US" sz="1200" dirty="0">
                <a:solidFill>
                  <a:srgbClr val="FFFFFF"/>
                </a:solidFill>
              </a:rPr>
              <a:t>   深入研究腫瘤微環境，特別是CAFs和其他免疫細胞的角色，將提供新的治療靶點的見解。</a:t>
            </a:r>
            <a:endParaRPr lang="en-US" sz="1200" dirty="0"/>
          </a:p>
          <a:p>
            <a:pPr indent="0" marL="0">
              <a:lnSpc>
                <a:spcPct val="160000"/>
              </a:lnSpc>
              <a:buNone/>
            </a:pPr>
            <a:endParaRPr lang="en-US" sz="1200" dirty="0"/>
          </a:p>
          <a:p>
            <a:pPr indent="0" marL="0">
              <a:lnSpc>
                <a:spcPct val="160000"/>
              </a:lnSpc>
              <a:buNone/>
            </a:pPr>
            <a:r>
              <a:rPr lang="en-US" sz="1200" dirty="0">
                <a:solidFill>
                  <a:srgbClr val="FFFFFF"/>
                </a:solidFill>
              </a:rPr>
              <a:t>3. **新輔助療法的臨床試驗**  </a:t>
            </a:r>
            <a:endParaRPr lang="en-US" sz="1200" dirty="0"/>
          </a:p>
          <a:p>
            <a:pPr indent="0" marL="0">
              <a:lnSpc>
                <a:spcPct val="160000"/>
              </a:lnSpc>
              <a:buNone/>
            </a:pPr>
            <a:r>
              <a:rPr lang="en-US" sz="1200" dirty="0">
                <a:solidFill>
                  <a:srgbClr val="FFFFFF"/>
                </a:solidFill>
              </a:rPr>
              <a:t>   Conducting more clinical trials on neoadjuvant therapies that combine radiation and immunotherapy could yield valuable data on their efficacy and safety.  </a:t>
            </a:r>
            <a:endParaRPr lang="en-US" sz="1200" dirty="0"/>
          </a:p>
          <a:p>
            <a:pPr indent="0" marL="0">
              <a:lnSpc>
                <a:spcPct val="160000"/>
              </a:lnSpc>
              <a:buNone/>
            </a:pPr>
            <a:r>
              <a:rPr lang="en-US" sz="1200" dirty="0">
                <a:solidFill>
                  <a:srgbClr val="FFFFFF"/>
                </a:solidFill>
              </a:rPr>
              <a:t>   開展更多關於結合放射治療和免疫療法的新輔助療法的臨床試驗，可能會產生有價值的療效和安全性數據。</a:t>
            </a:r>
            <a:endParaRPr lang="en-US" sz="1200" dirty="0"/>
          </a:p>
          <a:p>
            <a:pPr indent="0" marL="0">
              <a:lnSpc>
                <a:spcPct val="160000"/>
              </a:lnSpc>
              <a:buNone/>
            </a:pPr>
            <a:endParaRPr lang="en-US" sz="1200" dirty="0"/>
          </a:p>
          <a:p>
            <a:pPr indent="0" marL="0">
              <a:lnSpc>
                <a:spcPct val="160000"/>
              </a:lnSpc>
              <a:buNone/>
            </a:pPr>
            <a:r>
              <a:rPr lang="en-US" sz="1200" dirty="0">
                <a:solidFill>
                  <a:srgbClr val="FFFFFF"/>
                </a:solidFill>
              </a:rPr>
              <a:t>4. **個體化治療策略的發展**  </a:t>
            </a:r>
            <a:endParaRPr lang="en-US" sz="1200" dirty="0"/>
          </a:p>
          <a:p>
            <a:pPr indent="0" marL="0">
              <a:lnSpc>
                <a:spcPct val="160000"/>
              </a:lnSpc>
              <a:buNone/>
            </a:pPr>
            <a:r>
              <a:rPr lang="en-US" sz="1200" dirty="0">
                <a:solidFill>
                  <a:srgbClr val="FFFFFF"/>
                </a:solidFill>
              </a:rPr>
              <a:t>   Developing personalized treatment strategies based on genetic and molecular profiling of HCC tumors will enhance treatment efficacy and reduce adverse effects.  </a:t>
            </a:r>
            <a:endParaRPr lang="en-US" sz="1200" dirty="0"/>
          </a:p>
          <a:p>
            <a:pPr indent="0" marL="0">
              <a:lnSpc>
                <a:spcPct val="160000"/>
              </a:lnSpc>
              <a:buNone/>
            </a:pPr>
            <a:r>
              <a:rPr lang="en-US" sz="1200" dirty="0">
                <a:solidFill>
                  <a:srgbClr val="FFFFFF"/>
                </a:solidFill>
              </a:rPr>
              <a:t>   根據肝癌腫瘤的基因和分子特徵發展個體化治療策略，將提高治療效果並減少不良反應。</a:t>
            </a:r>
            <a:endParaRPr lang="en-US" sz="1200" dirty="0"/>
          </a:p>
          <a:p>
            <a:pPr indent="0" marL="0">
              <a:lnSpc>
                <a:spcPct val="160000"/>
              </a:lnSpc>
              <a:buNone/>
            </a:pPr>
            <a:endParaRPr lang="en-US" sz="1200" dirty="0"/>
          </a:p>
          <a:p>
            <a:pPr indent="0" marL="0">
              <a:lnSpc>
                <a:spcPct val="160000"/>
              </a:lnSpc>
              <a:buNone/>
            </a:pPr>
            <a:r>
              <a:rPr lang="en-US" sz="1200" dirty="0">
                <a:solidFill>
                  <a:srgbClr val="FFFFFF"/>
                </a:solidFill>
              </a:rPr>
              <a:t>5. **多模態治療的整合研究**  </a:t>
            </a:r>
            <a:endParaRPr lang="en-US" sz="1200" dirty="0"/>
          </a:p>
          <a:p>
            <a:pPr indent="0" marL="0">
              <a:lnSpc>
                <a:spcPct val="160000"/>
              </a:lnSpc>
              <a:buNone/>
            </a:pPr>
            <a:r>
              <a:rPr lang="en-US" sz="1200" dirty="0">
                <a:solidFill>
                  <a:srgbClr val="FFFFFF"/>
                </a:solidFill>
              </a:rPr>
              <a:t>   Future studies should focus on the integration of multimodal therapies, assessing their synergistic effects and optimizing treatment protocols for HCC.  </a:t>
            </a:r>
            <a:endParaRPr lang="en-US" sz="1200" dirty="0"/>
          </a:p>
          <a:p>
            <a:pPr indent="0" marL="0">
              <a:lnSpc>
                <a:spcPct val="160000"/>
              </a:lnSpc>
              <a:buNone/>
            </a:pPr>
            <a:r>
              <a:rPr lang="en-US" sz="1200" dirty="0">
                <a:solidFill>
                  <a:srgbClr val="FFFFFF"/>
                </a:solidFill>
              </a:rPr>
              <a:t>   未來的研究應專注於多模態治療的整合，評估其協同效應並優化肝癌的治療方案。</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731520" y="2286000"/>
            <a:ext cx="10058400" cy="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3" name="Text 1"/>
          <p:cNvSpPr/>
          <p:nvPr/>
        </p:nvSpPr>
        <p:spPr>
          <a:xfrm>
            <a:off x="731520" y="3749040"/>
            <a:ext cx="10058400" cy="0"/>
          </a:xfrm>
          <a:prstGeom prst="rect">
            <a:avLst/>
          </a:prstGeom>
          <a:noFill/>
          <a:ln/>
        </p:spPr>
        <p:txBody>
          <a:bodyPr wrap="square" lIns="0" tIns="0" rIns="0" bIns="0" rtlCol="0" anchor="ctr"/>
          <a:lstStyle/>
          <a:p>
            <a:pPr indent="0" marL="0">
              <a:buNone/>
            </a:pPr>
            <a:r>
              <a:rPr lang="en-US" sz="2400" dirty="0">
                <a:solidFill>
                  <a:srgbClr val="888888"/>
                </a:solidFill>
                <a:latin typeface="Microsoft JhengHei" pitchFamily="34" charset="0"/>
                <a:ea typeface="Microsoft JhengHei" pitchFamily="34" charset="-122"/>
                <a:cs typeface="Microsoft JhengHei" pitchFamily="34" charset="-120"/>
              </a:rPr>
              <a:t>謝謝</a:t>
            </a:r>
            <a:endParaRPr lang="en-US" sz="2400" dirty="0"/>
          </a:p>
        </p:txBody>
      </p:sp>
      <p:sp>
        <p:nvSpPr>
          <p:cNvPr id="4" name="Text 2"/>
          <p:cNvSpPr/>
          <p:nvPr/>
        </p:nvSpPr>
        <p:spPr>
          <a:xfrm>
            <a:off x="731520" y="4572000"/>
            <a:ext cx="10058400" cy="0"/>
          </a:xfrm>
          <a:prstGeom prst="rect">
            <a:avLst/>
          </a:prstGeom>
          <a:noFill/>
          <a:ln/>
        </p:spPr>
        <p:txBody>
          <a:bodyPr wrap="square" lIns="0" tIns="0" rIns="0" bIns="0" rtlCol="0" anchor="ctr"/>
          <a:lstStyle/>
          <a:p>
            <a:pPr indent="0" marL="0">
              <a:buNone/>
            </a:pPr>
            <a:r>
              <a:rPr lang="en-US" sz="1100" dirty="0">
                <a:solidFill>
                  <a:srgbClr val="888888"/>
                </a:solidFill>
              </a:rPr>
              <a:t>HCC Weekly Digest · 呂大教授 敬啟</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肝癌免疫治療與局部消融文獻週報</dc:title>
  <dc:subject>PptxGenJS Presentation</dc:subject>
  <dc:creator>HCC Weekly Digest</dc:creator>
  <cp:lastModifiedBy>HCC Weekly Digest</cp:lastModifiedBy>
  <cp:revision>1</cp:revision>
  <dcterms:created xsi:type="dcterms:W3CDTF">2026-04-19T09:50:02Z</dcterms:created>
  <dcterms:modified xsi:type="dcterms:W3CDTF">2026-04-19T09:50:02Z</dcterms:modified>
</cp:coreProperties>
</file>