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016/j.cell.2026.03.001"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i.org/10.1158/1078-0432.CCR-25-4779"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097/HEP.0000000000001731"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1158/0008-5472.CAN-25-0346"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i.org/10.1002/advs.202521418"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i.org/10.1073/pnas.2427192123"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i.org/10.2169/internalmedicine.6021-25"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C2626"/>
          </a:solidFill>
          <a:ln/>
        </p:spPr>
      </p:sp>
      <p:sp>
        <p:nvSpPr>
          <p:cNvPr id="3" name="Shape 1"/>
          <p:cNvSpPr/>
          <p:nvPr/>
        </p:nvSpPr>
        <p:spPr>
          <a:xfrm>
            <a:off x="4114800" y="1828800"/>
            <a:ext cx="3959352" cy="36576"/>
          </a:xfrm>
          <a:prstGeom prst="rect">
            <a:avLst/>
          </a:prstGeom>
          <a:solidFill>
            <a:srgbClr val="DC2626"/>
          </a:solidFill>
          <a:ln/>
        </p:spPr>
      </p:sp>
      <p:sp>
        <p:nvSpPr>
          <p:cNvPr id="4" name="Text 2"/>
          <p:cNvSpPr/>
          <p:nvPr/>
        </p:nvSpPr>
        <p:spPr>
          <a:xfrm>
            <a:off x="0" y="1097280"/>
            <a:ext cx="12192000" cy="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5" name="Text 3"/>
          <p:cNvSpPr/>
          <p:nvPr/>
        </p:nvSpPr>
        <p:spPr>
          <a:xfrm>
            <a:off x="1371600" y="2103120"/>
            <a:ext cx="9445752" cy="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HCC Weekly Digest</a:t>
            </a:r>
            <a:endParaRPr lang="en-US" sz="3800" dirty="0"/>
          </a:p>
        </p:txBody>
      </p:sp>
      <p:sp>
        <p:nvSpPr>
          <p:cNvPr id="6" name="Text 4"/>
          <p:cNvSpPr/>
          <p:nvPr/>
        </p:nvSpPr>
        <p:spPr>
          <a:xfrm>
            <a:off x="1371600" y="3200400"/>
            <a:ext cx="9445752" cy="0"/>
          </a:xfrm>
          <a:prstGeom prst="rect">
            <a:avLst/>
          </a:prstGeom>
          <a:noFill/>
          <a:ln/>
        </p:spPr>
        <p:txBody>
          <a:bodyPr wrap="square" rtlCol="0" anchor="ctr"/>
          <a:lstStyle/>
          <a:p>
            <a:pPr algn="ctr" indent="0" marL="0">
              <a:buNone/>
            </a:pPr>
            <a:r>
              <a:rPr lang="en-US" sz="1800" dirty="0">
                <a:solidFill>
                  <a:srgbClr val="FCA5A5"/>
                </a:solidFill>
                <a:latin typeface="Microsoft JhengHei" pitchFamily="34" charset="0"/>
                <a:ea typeface="Microsoft JhengHei" pitchFamily="34" charset="-122"/>
                <a:cs typeface="Microsoft JhengHei" pitchFamily="34" charset="-120"/>
              </a:rPr>
              <a:t>肝膽腸胃內科 — 肝癌免疫治療與局部消融文獻週報</a:t>
            </a:r>
            <a:endParaRPr lang="en-US" sz="1800" dirty="0"/>
          </a:p>
        </p:txBody>
      </p:sp>
      <p:sp>
        <p:nvSpPr>
          <p:cNvPr id="7" name="Text 5"/>
          <p:cNvSpPr/>
          <p:nvPr/>
        </p:nvSpPr>
        <p:spPr>
          <a:xfrm>
            <a:off x="1371600" y="3931920"/>
            <a:ext cx="9445752" cy="0"/>
          </a:xfrm>
          <a:prstGeom prst="rect">
            <a:avLst/>
          </a:prstGeom>
          <a:noFill/>
          <a:ln/>
        </p:spPr>
        <p:txBody>
          <a:bodyPr wrap="square" rtlCol="0" anchor="ctr"/>
          <a:lstStyle/>
          <a:p>
            <a:pPr algn="ctr" indent="0" marL="0">
              <a:buNone/>
            </a:pPr>
            <a:r>
              <a:rPr lang="en-US" sz="2000" dirty="0">
                <a:solidFill>
                  <a:srgbClr val="FFFFFF"/>
                </a:solidFill>
                <a:latin typeface="Microsoft JhengHei" pitchFamily="34" charset="0"/>
                <a:ea typeface="Microsoft JhengHei" pitchFamily="34" charset="-122"/>
                <a:cs typeface="Microsoft JhengHei" pitchFamily="34" charset="-120"/>
              </a:rPr>
              <a:t>呂大教授 敬啟</a:t>
            </a:r>
            <a:endParaRPr lang="en-US" sz="2000" dirty="0"/>
          </a:p>
        </p:txBody>
      </p:sp>
      <p:sp>
        <p:nvSpPr>
          <p:cNvPr id="8" name="Shape 6"/>
          <p:cNvSpPr/>
          <p:nvPr/>
        </p:nvSpPr>
        <p:spPr>
          <a:xfrm>
            <a:off x="4114800" y="4480560"/>
            <a:ext cx="3959352" cy="36576"/>
          </a:xfrm>
          <a:prstGeom prst="rect">
            <a:avLst/>
          </a:prstGeom>
          <a:solidFill>
            <a:srgbClr val="DC2626"/>
          </a:solidFill>
          <a:ln/>
        </p:spPr>
      </p:sp>
      <p:sp>
        <p:nvSpPr>
          <p:cNvPr id="9" name="Text 7"/>
          <p:cNvSpPr/>
          <p:nvPr/>
        </p:nvSpPr>
        <p:spPr>
          <a:xfrm>
            <a:off x="1371600" y="4663440"/>
            <a:ext cx="9445752" cy="0"/>
          </a:xfrm>
          <a:prstGeom prst="rect">
            <a:avLst/>
          </a:prstGeom>
          <a:noFill/>
          <a:ln/>
        </p:spPr>
        <p:txBody>
          <a:bodyPr wrap="square" rtlCol="0" anchor="ctr"/>
          <a:lstStyle/>
          <a:p>
            <a:pPr algn="ctr" indent="0" marL="0">
              <a:buNone/>
            </a:pPr>
            <a:r>
              <a:rPr lang="en-US" sz="1600" dirty="0">
                <a:solidFill>
                  <a:srgbClr val="737373"/>
                </a:solidFill>
              </a:rPr>
              <a:t>2026-04-11 — 2026-04-18</a:t>
            </a:r>
            <a:endParaRPr lang="en-US" sz="1600" dirty="0"/>
          </a:p>
        </p:txBody>
      </p:sp>
      <p:sp>
        <p:nvSpPr>
          <p:cNvPr id="10" name="Text 8"/>
          <p:cNvSpPr/>
          <p:nvPr/>
        </p:nvSpPr>
        <p:spPr>
          <a:xfrm>
            <a:off x="1371600" y="5212080"/>
            <a:ext cx="9445752" cy="0"/>
          </a:xfrm>
          <a:prstGeom prst="rect">
            <a:avLst/>
          </a:prstGeom>
          <a:noFill/>
          <a:ln/>
        </p:spPr>
        <p:txBody>
          <a:bodyPr wrap="square" rtlCol="0" anchor="ctr"/>
          <a:lstStyle/>
          <a:p>
            <a:pPr algn="ctr" indent="0" marL="0">
              <a:buNone/>
            </a:pPr>
            <a:r>
              <a:rPr lang="en-US" sz="1400" dirty="0">
                <a:solidFill>
                  <a:srgbClr val="737373"/>
                </a:solidFill>
              </a:rPr>
              <a:t>10 Selected Papers</a:t>
            </a:r>
            <a:endParaRPr lang="en-US" sz="1400" dirty="0"/>
          </a:p>
        </p:txBody>
      </p:sp>
      <p:sp>
        <p:nvSpPr>
          <p:cNvPr id="11" name="Shape 9"/>
          <p:cNvSpPr/>
          <p:nvPr/>
        </p:nvSpPr>
        <p:spPr>
          <a:xfrm>
            <a:off x="0" y="6784848"/>
            <a:ext cx="12188952" cy="73152"/>
          </a:xfrm>
          <a:prstGeom prst="rect">
            <a:avLst/>
          </a:prstGeom>
          <a:solidFill>
            <a:srgbClr val="DC262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Text 1"/>
          <p:cNvSpPr/>
          <p:nvPr/>
        </p:nvSpPr>
        <p:spPr>
          <a:xfrm>
            <a:off x="548640" y="274320"/>
            <a:ext cx="3657600" cy="0"/>
          </a:xfrm>
          <a:prstGeom prst="rect">
            <a:avLst/>
          </a:prstGeom>
          <a:noFill/>
          <a:ln/>
        </p:spPr>
        <p:txBody>
          <a:bodyPr wrap="square" rtlCol="0" anchor="ctr"/>
          <a:lstStyle/>
          <a:p>
            <a:pPr indent="0" marL="0">
              <a:buNone/>
            </a:pPr>
            <a:r>
              <a:rPr lang="en-US" sz="1200" b="1" spc="400" kern="0" dirty="0">
                <a:solidFill>
                  <a:srgbClr val="DC2626"/>
                </a:solidFill>
                <a:latin typeface="Arial" pitchFamily="34" charset="0"/>
                <a:ea typeface="Arial" pitchFamily="34" charset="-122"/>
                <a:cs typeface="Arial" pitchFamily="34" charset="-120"/>
              </a:rPr>
              <a:t>CONTENTS</a:t>
            </a:r>
            <a:endParaRPr lang="en-US" sz="1200" dirty="0"/>
          </a:p>
        </p:txBody>
      </p:sp>
      <p:sp>
        <p:nvSpPr>
          <p:cNvPr id="4" name="Text 2"/>
          <p:cNvSpPr/>
          <p:nvPr/>
        </p:nvSpPr>
        <p:spPr>
          <a:xfrm>
            <a:off x="548640" y="548640"/>
            <a:ext cx="3657600" cy="0"/>
          </a:xfrm>
          <a:prstGeom prst="rect">
            <a:avLst/>
          </a:prstGeom>
          <a:noFill/>
          <a:ln/>
        </p:spPr>
        <p:txBody>
          <a:bodyPr wrap="square" rtlCol="0" anchor="ctr"/>
          <a:lstStyle/>
          <a:p>
            <a:pPr indent="0" marL="0">
              <a:buNone/>
            </a:pPr>
            <a:r>
              <a:rPr lang="en-US" sz="1200" dirty="0">
                <a:solidFill>
                  <a:srgbClr val="737373"/>
                </a:solidFill>
                <a:latin typeface="Microsoft JhengHei" pitchFamily="34" charset="0"/>
                <a:ea typeface="Microsoft JhengHei" pitchFamily="34" charset="-122"/>
                <a:cs typeface="Microsoft JhengHei" pitchFamily="34" charset="-120"/>
              </a:rPr>
              <a:t>目錄</a:t>
            </a:r>
            <a:endParaRPr lang="en-US" sz="1200" dirty="0"/>
          </a:p>
        </p:txBody>
      </p:sp>
      <p:sp>
        <p:nvSpPr>
          <p:cNvPr id="5" name="Shape 3"/>
          <p:cNvSpPr/>
          <p:nvPr/>
        </p:nvSpPr>
        <p:spPr>
          <a:xfrm>
            <a:off x="548640" y="914400"/>
            <a:ext cx="4572000" cy="18288"/>
          </a:xfrm>
          <a:prstGeom prst="rect">
            <a:avLst/>
          </a:prstGeom>
          <a:solidFill>
            <a:srgbClr val="D4D4D4"/>
          </a:solidFill>
          <a:ln/>
        </p:spPr>
      </p:sp>
      <p:sp>
        <p:nvSpPr>
          <p:cNvPr id="6" name="Text 4"/>
          <p:cNvSpPr/>
          <p:nvPr/>
        </p:nvSpPr>
        <p:spPr>
          <a:xfrm>
            <a:off x="548640" y="118872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097280" y="118872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Hallmarks of liver cancer: Therapeutic implications.</a:t>
            </a:r>
            <a:endParaRPr lang="en-US" sz="1100" dirty="0"/>
          </a:p>
        </p:txBody>
      </p:sp>
      <p:sp>
        <p:nvSpPr>
          <p:cNvPr id="8" name="Text 6"/>
          <p:cNvSpPr/>
          <p:nvPr/>
        </p:nvSpPr>
        <p:spPr>
          <a:xfrm>
            <a:off x="548640" y="169164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02</a:t>
            </a:r>
            <a:endParaRPr lang="en-US" sz="1400" dirty="0"/>
          </a:p>
        </p:txBody>
      </p:sp>
      <p:sp>
        <p:nvSpPr>
          <p:cNvPr id="9" name="Text 7"/>
          <p:cNvSpPr/>
          <p:nvPr/>
        </p:nvSpPr>
        <p:spPr>
          <a:xfrm>
            <a:off x="1097280" y="169164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Neoadjuvant stereotactic body radiation therapy plus immune therapy favorably remodel…</a:t>
            </a:r>
            <a:endParaRPr lang="en-US" sz="1100" dirty="0"/>
          </a:p>
        </p:txBody>
      </p:sp>
      <p:sp>
        <p:nvSpPr>
          <p:cNvPr id="10" name="Text 8"/>
          <p:cNvSpPr/>
          <p:nvPr/>
        </p:nvSpPr>
        <p:spPr>
          <a:xfrm>
            <a:off x="548640" y="219456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03</a:t>
            </a:r>
            <a:endParaRPr lang="en-US" sz="1400" dirty="0"/>
          </a:p>
        </p:txBody>
      </p:sp>
      <p:sp>
        <p:nvSpPr>
          <p:cNvPr id="11" name="Text 9"/>
          <p:cNvSpPr/>
          <p:nvPr/>
        </p:nvSpPr>
        <p:spPr>
          <a:xfrm>
            <a:off x="1097280" y="219456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Erratum: Hepatectomy alters adjuvant anti-PD-1 action in a mouse model of HCC but doe…</a:t>
            </a:r>
            <a:endParaRPr lang="en-US" sz="1100" dirty="0"/>
          </a:p>
        </p:txBody>
      </p:sp>
      <p:sp>
        <p:nvSpPr>
          <p:cNvPr id="12" name="Text 10"/>
          <p:cNvSpPr/>
          <p:nvPr/>
        </p:nvSpPr>
        <p:spPr>
          <a:xfrm>
            <a:off x="548640" y="269748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04</a:t>
            </a:r>
            <a:endParaRPr lang="en-US" sz="1400" dirty="0"/>
          </a:p>
        </p:txBody>
      </p:sp>
      <p:sp>
        <p:nvSpPr>
          <p:cNvPr id="13" name="Text 11"/>
          <p:cNvSpPr/>
          <p:nvPr/>
        </p:nvSpPr>
        <p:spPr>
          <a:xfrm>
            <a:off x="1097280" y="269748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Intratumoral Lactobacillus johnsonii Enhances Sensitivity to PD-1 Blockade by Inducin…</a:t>
            </a:r>
            <a:endParaRPr lang="en-US" sz="1100" dirty="0"/>
          </a:p>
        </p:txBody>
      </p:sp>
      <p:sp>
        <p:nvSpPr>
          <p:cNvPr id="14" name="Text 12"/>
          <p:cNvSpPr/>
          <p:nvPr/>
        </p:nvSpPr>
        <p:spPr>
          <a:xfrm>
            <a:off x="548640" y="320040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05</a:t>
            </a:r>
            <a:endParaRPr lang="en-US" sz="1400" dirty="0"/>
          </a:p>
        </p:txBody>
      </p:sp>
      <p:sp>
        <p:nvSpPr>
          <p:cNvPr id="15" name="Text 13"/>
          <p:cNvSpPr/>
          <p:nvPr/>
        </p:nvSpPr>
        <p:spPr>
          <a:xfrm>
            <a:off x="1097280" y="320040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Cancer-Associated Fibroblasts Promote Tumor Immunosuppression in Hepatocellular Carci…</a:t>
            </a:r>
            <a:endParaRPr lang="en-US" sz="1100" dirty="0"/>
          </a:p>
        </p:txBody>
      </p:sp>
      <p:sp>
        <p:nvSpPr>
          <p:cNvPr id="16" name="Text 14"/>
          <p:cNvSpPr/>
          <p:nvPr/>
        </p:nvSpPr>
        <p:spPr>
          <a:xfrm>
            <a:off x="548640" y="370332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06</a:t>
            </a:r>
            <a:endParaRPr lang="en-US" sz="1400" dirty="0"/>
          </a:p>
        </p:txBody>
      </p:sp>
      <p:sp>
        <p:nvSpPr>
          <p:cNvPr id="17" name="Text 15"/>
          <p:cNvSpPr/>
          <p:nvPr/>
        </p:nvSpPr>
        <p:spPr>
          <a:xfrm>
            <a:off x="1097280" y="370332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Selective depletion of virus-specific CD8 T cells from the liver after PD-1 therapy w…</a:t>
            </a:r>
            <a:endParaRPr lang="en-US" sz="1100" dirty="0"/>
          </a:p>
        </p:txBody>
      </p:sp>
      <p:sp>
        <p:nvSpPr>
          <p:cNvPr id="18" name="Text 16"/>
          <p:cNvSpPr/>
          <p:nvPr/>
        </p:nvSpPr>
        <p:spPr>
          <a:xfrm>
            <a:off x="548640" y="420624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07</a:t>
            </a:r>
            <a:endParaRPr lang="en-US" sz="1400" dirty="0"/>
          </a:p>
        </p:txBody>
      </p:sp>
      <p:sp>
        <p:nvSpPr>
          <p:cNvPr id="19" name="Text 17"/>
          <p:cNvSpPr/>
          <p:nvPr/>
        </p:nvSpPr>
        <p:spPr>
          <a:xfrm>
            <a:off x="1097280" y="420624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 plus transarterial chemoembolization and PD-1 inhibitors as conversion therapies fo…</a:t>
            </a:r>
            <a:endParaRPr lang="en-US" sz="1100" dirty="0"/>
          </a:p>
        </p:txBody>
      </p:sp>
      <p:sp>
        <p:nvSpPr>
          <p:cNvPr id="20" name="Text 18"/>
          <p:cNvSpPr/>
          <p:nvPr/>
        </p:nvSpPr>
        <p:spPr>
          <a:xfrm>
            <a:off x="548640" y="470916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08</a:t>
            </a:r>
            <a:endParaRPr lang="en-US" sz="1400" dirty="0"/>
          </a:p>
        </p:txBody>
      </p:sp>
      <p:sp>
        <p:nvSpPr>
          <p:cNvPr id="21" name="Text 19"/>
          <p:cNvSpPr/>
          <p:nvPr/>
        </p:nvSpPr>
        <p:spPr>
          <a:xfrm>
            <a:off x="1097280" y="470916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The Efficacy and Safety of Atezolizumab Plus Bevacizumab after Durvalumab Plus Tremel…</a:t>
            </a:r>
            <a:endParaRPr lang="en-US" sz="1100" dirty="0"/>
          </a:p>
        </p:txBody>
      </p:sp>
      <p:sp>
        <p:nvSpPr>
          <p:cNvPr id="22" name="Text 20"/>
          <p:cNvSpPr/>
          <p:nvPr/>
        </p:nvSpPr>
        <p:spPr>
          <a:xfrm>
            <a:off x="548640" y="521208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09</a:t>
            </a:r>
            <a:endParaRPr lang="en-US" sz="1400" dirty="0"/>
          </a:p>
        </p:txBody>
      </p:sp>
      <p:sp>
        <p:nvSpPr>
          <p:cNvPr id="23" name="Text 21"/>
          <p:cNvSpPr/>
          <p:nvPr/>
        </p:nvSpPr>
        <p:spPr>
          <a:xfrm>
            <a:off x="1097280" y="521208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Prognostic nutritional index and the survival of patients with hepatocellular carcino…</a:t>
            </a:r>
            <a:endParaRPr lang="en-US" sz="1100" dirty="0"/>
          </a:p>
        </p:txBody>
      </p:sp>
      <p:sp>
        <p:nvSpPr>
          <p:cNvPr id="24" name="Text 22"/>
          <p:cNvSpPr/>
          <p:nvPr/>
        </p:nvSpPr>
        <p:spPr>
          <a:xfrm>
            <a:off x="548640" y="5715000"/>
            <a:ext cx="457200" cy="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10</a:t>
            </a:r>
            <a:endParaRPr lang="en-US" sz="1400" dirty="0"/>
          </a:p>
        </p:txBody>
      </p:sp>
      <p:sp>
        <p:nvSpPr>
          <p:cNvPr id="25" name="Text 23"/>
          <p:cNvSpPr/>
          <p:nvPr/>
        </p:nvSpPr>
        <p:spPr>
          <a:xfrm>
            <a:off x="1097280" y="5715000"/>
            <a:ext cx="10515600" cy="0"/>
          </a:xfrm>
          <a:prstGeom prst="rect">
            <a:avLst/>
          </a:prstGeom>
          <a:noFill/>
          <a:ln/>
        </p:spPr>
        <p:txBody>
          <a:bodyPr wrap="square" rtlCol="0" anchor="ctr"/>
          <a:lstStyle/>
          <a:p>
            <a:pPr indent="0" marL="0">
              <a:buNone/>
            </a:pPr>
            <a:r>
              <a:rPr lang="en-US" sz="1100" dirty="0">
                <a:solidFill>
                  <a:srgbClr val="1E1E1E"/>
                </a:solidFill>
                <a:latin typeface="Arial" pitchFamily="34" charset="0"/>
                <a:ea typeface="Arial" pitchFamily="34" charset="-122"/>
                <a:cs typeface="Arial" pitchFamily="34" charset="-120"/>
              </a:rPr>
              <a:t>Radiotherapy versus local ablation therapy for the treatment of hepatocellular carcin…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Hallmarks of liver cancer: Therapeutic implications.</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Cell  ·  IF 45.5  ·  Review  ·  📅 2026-04-17</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Llovet Josep M, Pinyol Roser, Affo Silvia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hallmarks of cancer framework has significantly influenced the treatment of primary liver cancer, particularly hepatocellular carcinoma (HCC) and intrahepatic cholangiocarcinoma (iCCA).</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Key hallmarks of HCC include sustaining proliferative signaling, inducing vasculature, and avoiding immune detection.</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Immunotherapies have led to significant improvements in outcomes for patients with advanced HCC over the past two decades.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iCCA exhibits hallmarks such as deregulating cellular metabolism and also avoiding immune detection, with 45% of cases having targetable alterations for precision oncology.</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review discusses breakthroughs in liver cancer management and emerging therapeutic strategies.</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癌症的標誌框架對原發性肝癌的治療產生了重大影響，特別是肝細胞癌（HCC）和肝內膽管癌（iCCA）。</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HCC的主要標誌包括持續增殖信號、誘導血管生成和避免免疫檢測。</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在過去的二十年中，免疫療法顯著改善了晚期HCC患者的預後。</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iCCA的標誌包括去調節細胞代謝，同樣避免免疫檢測，約45%的病例具有可針對的精準醫療改變。</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該評論探討了肝癌管理的突破和新興的治療策略。</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10.1016/j.cell.2026.03.001</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01</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Hallmarks of liver cancer: Therapeutic implications.</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application of the cancer hallmarks framework has led to improved treatment strategies for HCC, particularly through the use of immunotherapies. </a:t>
            </a:r>
            <a:endParaRPr lang="en-US" sz="1000" dirty="0"/>
          </a:p>
          <a:p>
            <a:pPr indent="0" marL="0">
              <a:lnSpc>
                <a:spcPct val="140000"/>
              </a:lnSpc>
              <a:buNone/>
            </a:pPr>
            <a:r>
              <a:rPr lang="en-US" sz="1000" dirty="0">
                <a:solidFill>
                  <a:srgbClr val="1E1E1E"/>
                </a:solidFill>
              </a:rPr>
              <a:t>ZH: 癌症標誌框架的應用促進了HCC的治療策略改進，特別是通過免疫療法的使用。</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focus on identifying additional therapeutic targets in iCCA and optimizing immunotherapy combinations for HCC. </a:t>
            </a:r>
            <a:endParaRPr lang="en-US" sz="1000" dirty="0"/>
          </a:p>
          <a:p>
            <a:pPr indent="0" marL="0">
              <a:lnSpc>
                <a:spcPct val="140000"/>
              </a:lnSpc>
              <a:buNone/>
            </a:pPr>
            <a:r>
              <a:rPr lang="en-US" sz="1000" dirty="0">
                <a:solidFill>
                  <a:srgbClr val="1E1E1E"/>
                </a:solidFill>
              </a:rPr>
              <a:t>ZH: 未來的研究應集中於識別iCCA中的額外治療靶點，以及優化HCC的免疫療法組合。</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02</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Neoadjuvant stereotactic body radiation therapy plus immune therapy favorably remodels the hepatocellular carcinoma tumor microenvironment.</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Clinical cancer research : an official journal of the American Association for Cancer Research  ·  IF 11.5  ·  Prospective Study  ·  📅 2026-04-15</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Cosner Zoe, Guo Zhoubo, Nawrocki Cole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Neoadjuvant stereotactic body radiation therapy (SBRT) combined with immune therapy is safe for patients with initially resectable hepatocellular carcinoma (HCC).</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Only one patient experienced a grade 3 treatment-related adverse event, indicating a favorable safety profile.</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All resected patients achieved margin-negative (R0) resection, and one patient had a pathologic complete response.</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Post-treatment specimens showed significantly increased anti-cancer immune infiltration compared to treatment-naïve HCC specimens.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study highlights the potential of neoadjuvant SBRT and immune therapy to remodel the tumor microenvironment favorably.</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新輔助立體定向放射治療（SBRT）結合免疫治療對於最初可切除的肝細胞癌（HCC）患者是安全的。</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僅有一名患者經歷了3級治療相關不良事件，顯示出良好的安全性。</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所有切除的患者均達到邊緣陰性（R0）切除，且一名患者達到病理完全緩解。</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與未治療的HCC標本相比，治療後標本顯示顯著增加的抗癌免疫浸潤。</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該研究強調了新輔助SBRT和免疫治療有潛力有利於重塑腫瘤微環境。</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10.1158/1078-0432.CCR-25-4779</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02</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Neoadjuvant stereotactic body radiation therapy plus immune therapy favorably remodels the hepatocel…</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This study demonstrates that combining neoadjuvant SBRT with immune therapy is a promising approach for patients with resectable HCC, showing a favorable safety profile and effective tumor response. </a:t>
            </a:r>
            <a:endParaRPr lang="en-US" sz="1000" dirty="0"/>
          </a:p>
          <a:p>
            <a:pPr indent="0" marL="0">
              <a:lnSpc>
                <a:spcPct val="140000"/>
              </a:lnSpc>
              <a:buNone/>
            </a:pPr>
            <a:r>
              <a:rPr lang="en-US" sz="1000" dirty="0">
                <a:solidFill>
                  <a:srgbClr val="1E1E1E"/>
                </a:solidFill>
              </a:rPr>
              <a:t>ZH: 本研究表明，將新輔助SBRT與免疫治療結合對於可切除HCC患者是一種有前景的方法，顯示出良好的安全性和有效的腫瘤反應。</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studies should focus on larger, multi-institutional trials to validate these findings and explore the optimal timing and sequencing of SBRT and immune therapy. </a:t>
            </a:r>
            <a:endParaRPr lang="en-US" sz="1000" dirty="0"/>
          </a:p>
          <a:p>
            <a:pPr indent="0" marL="0">
              <a:lnSpc>
                <a:spcPct val="140000"/>
              </a:lnSpc>
              <a:buNone/>
            </a:pPr>
            <a:r>
              <a:rPr lang="en-US" sz="1000" dirty="0">
                <a:solidFill>
                  <a:srgbClr val="1E1E1E"/>
                </a:solidFill>
              </a:rPr>
              <a:t>ZH: 未來的研究應集中於更大規模的多機構試驗，以驗證這些發現並探索SBRT和免疫治療的最佳時機和順序。</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03</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Erratum: Hepatectomy alters adjuvant anti-PD-1 action in a mouse model of HCC but does not compromise neoadjuvant efficacy.</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Hepatology (Baltimore, Md.)  ·  IF 12.9  ·  Basic Research  ·  📅 2026-04-16</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Bouguerra Roqiya, El Hajji Sofia, Wassmer Charles-Henri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Hepatectomy modifies the effectiveness of adjuvant anti-PD-1 therapy in a mouse model of HCC.</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study indicates that neoadjuvant anti-PD-1 treatment remains effective despite prior hepatectomy.</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These findings suggest a complex interaction between surgical intervention and immunotherapy in HCC management.</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肝切除手術改變了HCC小鼠模型中輔助抗PD-1療法的有效性。</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研究表明，儘管進行了肝切除術，術前抗PD-1治療仍然有效。</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這些發現暗示了手術干預與HCC管理中免疫療法之間的複雜相互作用。</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10.1097/HEP.0000000000001731</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03</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Erratum: Hepatectomy alters adjuvant anti-PD-1 action in a mouse model of HCC but does not compromis…</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findings highlight the need to consider the timing of immunotherapy in relation to surgical interventions in HCC treatment. </a:t>
            </a:r>
            <a:endParaRPr lang="en-US" sz="1000" dirty="0"/>
          </a:p>
          <a:p>
            <a:pPr indent="0" marL="0">
              <a:lnSpc>
                <a:spcPct val="140000"/>
              </a:lnSpc>
              <a:buNone/>
            </a:pPr>
            <a:r>
              <a:rPr lang="en-US" sz="1000" dirty="0">
                <a:solidFill>
                  <a:srgbClr val="1E1E1E"/>
                </a:solidFill>
              </a:rPr>
              <a:t>ZH: 這些發現強調了在HCC治療中考慮免疫療法與手術干預時間安排的必要性。</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explore the underlying mechanisms of how hepatectomy influences immunotherapy outcomes. </a:t>
            </a:r>
            <a:endParaRPr lang="en-US" sz="1000" dirty="0"/>
          </a:p>
          <a:p>
            <a:pPr indent="0" marL="0">
              <a:lnSpc>
                <a:spcPct val="140000"/>
              </a:lnSpc>
              <a:buNone/>
            </a:pPr>
            <a:r>
              <a:rPr lang="en-US" sz="1000" dirty="0">
                <a:solidFill>
                  <a:srgbClr val="1E1E1E"/>
                </a:solidFill>
              </a:rPr>
              <a:t>ZH: 未來的研究應該探討肝切除術如何影響免疫療法結果的潛在機制。</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04</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Intratumoral Lactobacillus johnsonii Enhances Sensitivity to PD-1 Blockade by Inducing CD8+ T-cell Expansion in Hepatocellular Carcinoma.</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Cancer research  ·  IF 12.7  ·  Basic Research  ·  📅 2026-04-15</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Liu Qianshi, Liu Yiqiang, Zhou Yue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Lactobacillus johnsonii is enriched in patients with relapse-free hepatocellular carcinoma (HCC) and serves as an independent prognostic predictor of disease-free survival.</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Higher levels of intratumoral L. johnsonii correlate with increased abundance of IFNγ+PD-1+CD8+ T cells, enhancing the immune response.</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Nicotinic acid, a metabolite of L. johnsonii, expands IFNγ+PD-1+CD8+ T cells and upregulates key markers of T cell activation and exhaustion.</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combination of L. johnsonii or nicotinic acid with anti-PD-1 therapy synergistically inhibits tumor relapse and growth in mouse models.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antitumor efficacy of L. johnsonii is dependent on CD8+ T cells, highlighting their critical role in the immune response against HCC.</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Lactobacillus johnsonii 在無復發的肝細胞癌（HCC）患者中富集，並作為無病生存的獨立預後指標。</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腫瘤內 L. johnsonii 的較高水平與 IFNγ+PD-1+CD8+ T 細胞的增加相關，增強免疫反應。</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L. johnsonii 的代謝產物煙酸擴展 IFNγ+PD-1+CD8+ T 細胞，並上調 T 細胞活化和耗竭的關鍵標記。</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L. johnsonii 或煙酸與抗 PD-1 治療的聯合使用在小鼠模型中協同抑制腫瘤復發和增長。</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L. johnsonii 的抗腫瘤效能依賴於 CD8+ T 細胞，突顯其在 HCC 免疫反應中的關鍵角色。</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10.1158/0008-5472.CAN-25-0346</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04</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Intratumoral Lactobacillus johnsonii Enhances Sensitivity to PD-1 Blockade by Inducing CD8+ T-cell E…</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findings suggest that enhancing intratumoral Lactobacillus johnsonii may improve the efficacy of anti-PD-1 therapies in HCC patients. </a:t>
            </a:r>
            <a:endParaRPr lang="en-US" sz="1000" dirty="0"/>
          </a:p>
          <a:p>
            <a:pPr indent="0" marL="0">
              <a:lnSpc>
                <a:spcPct val="140000"/>
              </a:lnSpc>
              <a:buNone/>
            </a:pPr>
            <a:r>
              <a:rPr lang="en-US" sz="1000" dirty="0">
                <a:solidFill>
                  <a:srgbClr val="1E1E1E"/>
                </a:solidFill>
              </a:rPr>
              <a:t>ZH: 研究結果表明，增強腫瘤內 Lactobacillus johnsonii 可能改善 HCC 患者抗 PD-1 治療的療效。</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studies should explore the potential of Lactobacillus johnsonii and its metabolites as adjunctive therapies in HCC treatment. </a:t>
            </a:r>
            <a:endParaRPr lang="en-US" sz="1000" dirty="0"/>
          </a:p>
          <a:p>
            <a:pPr indent="0" marL="0">
              <a:lnSpc>
                <a:spcPct val="140000"/>
              </a:lnSpc>
              <a:buNone/>
            </a:pPr>
            <a:r>
              <a:rPr lang="en-US" sz="1000" dirty="0">
                <a:solidFill>
                  <a:srgbClr val="1E1E1E"/>
                </a:solidFill>
              </a:rPr>
              <a:t>ZH: 未來的研究應探討 Lactobacillus johnsonii 及其代謝產物作為 HCC 治療輔助療法的潛力。</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05</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Cancer-Associated Fibroblasts Promote Tumor Immunosuppression in Hepatocellular Carcinoma via the NNMT-ANGPTL4 Axis.</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Advanced science (Weinheim, Baden-Wurttemberg, Germany)  ·  Basic Research  ·  🌏 Asia  ·  📅 2026-04-14</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Lu Shounan, Ke Shanjia, Yu Hongjun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Cancer-associated fibroblasts (CAFs) promote immunosuppression in hepatocellular carcinoma (HCC) through the NNMT-ANGPTL4 axis.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High expression of nicotinamide N-methyltransferase (NNMT) in CAFs reduces H3K27me3 at the ANGPTL4 promoter, increasing ANGPTL4 secretion.</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ANGPTL4 enhances aerobic glycolysis in HCC cells and upregulates PD-L1 expression, facilitating immune evasion.</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Targeting the NNMT-ANGPTL4 axis restores CD8+ T-cell activity and enhances the efficacy of anti-PD-L1 therapy.</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study identifies a metabolic-epigenetic cascade in CAFs that contributes to immune evasion in HCC.</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癌症相關成纖維細胞（CAFs）通過NNMT-ANGPTL4軸促進肝細胞癌（HCC）的免疫抑制。</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CAFs中高表達的煙酰胺N-甲基轉移酶（NNMT）降低ANGPTL4啟動子上的H3K27me3，增加ANGPTL4的分泌。</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ANGPTL4增強HCC細胞的有氧糖解作用並上調PD-L1表達，促進免疫逃逸。</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靶向NNMT-ANGPTL4軸恢復CD8+ T細胞活性並增強抗PD-L1療法的療效。</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該研究確定了CAFs中促進免疫逃逸的代謝-表觀遺傳級聯反應。</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10.1002/advs.202521418</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05</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Cancer-Associated Fibroblasts Promote Tumor Immunosuppression in Hepatocellular Carcinoma via the NN…</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Targeting the NNMT-ANGPTL4 axis could provide a novel therapeutic strategy to enhance immune responses in HCC patients. </a:t>
            </a:r>
            <a:endParaRPr lang="en-US" sz="1000" dirty="0"/>
          </a:p>
          <a:p>
            <a:pPr indent="0" marL="0">
              <a:lnSpc>
                <a:spcPct val="140000"/>
              </a:lnSpc>
              <a:buNone/>
            </a:pPr>
            <a:r>
              <a:rPr lang="en-US" sz="1000" dirty="0">
                <a:solidFill>
                  <a:srgbClr val="1E1E1E"/>
                </a:solidFill>
              </a:rPr>
              <a:t>ZH: 靶向NNMT-ANGPTL4軸可能為增強HCC患者免疫反應提供新的治療策略。</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explore the broader implications of the NNMT-ANGPTL4 axis in other cancers and its potential as a biomarker for immunotherapy response. </a:t>
            </a:r>
            <a:endParaRPr lang="en-US" sz="1000" dirty="0"/>
          </a:p>
          <a:p>
            <a:pPr indent="0" marL="0">
              <a:lnSpc>
                <a:spcPct val="140000"/>
              </a:lnSpc>
              <a:buNone/>
            </a:pPr>
            <a:r>
              <a:rPr lang="en-US" sz="1000" dirty="0">
                <a:solidFill>
                  <a:srgbClr val="1E1E1E"/>
                </a:solidFill>
              </a:rPr>
              <a:t>ZH: 未來的研究應探討NNMT-ANGPTL4軸在其他癌症中的更廣泛影響及其作為免疫療法反應生物標誌物的潛力。</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06</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Selective depletion of virus-specific CD8 T cells from the liver after PD-1 therapy with Fc-intact antibody during chronic infection.</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Proceedings of the National Academy of Sciences of the United States of America  ·  Basic Research  ·  🌏 Asia  ·  📅 2026-04-08</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Hashimoto Masao, Nasti Tahseen H, Jin Hyun-Tak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Mouse anti-mouse PD-1 antibodies preferentially deplete PD-1+ virus-specific CD8 T cells in the liver, increasing viral titers.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depletion effect is Fc dependent, as mutating the Fc region to block Fc gamma receptor interaction prevents CD8 T cell depletion.</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Depletion of PD-1+ CD8 T cells is mediated via activating Fc gamma receptor III, with phagocytic cells acting as the in vivo effectors.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Similar effects were observed in tumor-specific CD8 T cells in the CT26 model, indicating potential negative impacts on tumor control.</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These findings suggest the need for careful consideration of Fc-functional anti-PD-1 antibodies in liver cancer and chronic viral infections.</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小鼠抗小鼠PD-1抗體優先耗竭肝臟中的PD-1+病毒特異性CD8 T細胞，導致病毒滴度增加。</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耗竭效應依賴Fc，因為突變Fc區域以阻止Fc伽馬受體相互作用可防止CD8 T細胞耗竭。</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PD-1+ CD8 T細胞的耗竭是通過激活Fc伽馬受體III介導的，吞噬細胞作為體內效應細胞。</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在CT26模型中觀察到類似的腫瘤特異性CD8 T細胞耗竭，顯示對腫瘤控制的潛在負面影響。</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這些發現提示在肝癌和慢性病毒感染中需謹慎考慮Fc功能性抗PD-1抗體。</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10.1073/pnas.2427192123</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06</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Selective depletion of virus-specific CD8 T cells from the liver after PD-1 therapy with Fc-intact a…</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findings indicate that Fc-functional anti-PD-1 antibodies may have detrimental effects on CD8 T cell responses in the liver, which could compromise therapeutic efficacy in liver cancer and chronic infections. </a:t>
            </a:r>
            <a:endParaRPr lang="en-US" sz="1000" dirty="0"/>
          </a:p>
          <a:p>
            <a:pPr indent="0" marL="0">
              <a:lnSpc>
                <a:spcPct val="140000"/>
              </a:lnSpc>
              <a:buNone/>
            </a:pPr>
            <a:r>
              <a:rPr lang="en-US" sz="1000" dirty="0">
                <a:solidFill>
                  <a:srgbClr val="1E1E1E"/>
                </a:solidFill>
              </a:rPr>
              <a:t>ZH: 這些發現表明，Fc功能性抗PD-1抗體可能對肝臟中的CD8 T細胞反應產生不利影響，這可能會妨礙肝癌和慢性感染的治療效果。</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focus on optimizing the Fc region of anti-PD-1 antibodies to enhance their therapeutic efficacy while minimizing adverse effects. </a:t>
            </a:r>
            <a:endParaRPr lang="en-US" sz="1000" dirty="0"/>
          </a:p>
          <a:p>
            <a:pPr indent="0" marL="0">
              <a:lnSpc>
                <a:spcPct val="140000"/>
              </a:lnSpc>
              <a:buNone/>
            </a:pPr>
            <a:r>
              <a:rPr lang="en-US" sz="1000" dirty="0">
                <a:solidFill>
                  <a:srgbClr val="1E1E1E"/>
                </a:solidFill>
              </a:rPr>
              <a:t>ZH: 未來的研究應集中於優化抗PD-1抗體的Fc區域，以增強其治療效果，同時最小化不良影響。</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07</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 plus transarterial chemoembolization and PD-1 inhibitors as conversion therapies for unresectable intermediate-advanced hepatocellular carcinoma: a phase 2 trial …</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 and Targeted Therapy  ·  RCT Phase 2  ·  📅 2026</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X Zhang, H Cai, W Peng</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study evaluates the efficacy of combining transarterial chemoembolization (TACE) with PD-1 inhibitors as a conversion therapy for unresectable intermediate-advanced hepatocellular carcinoma (uHCC).</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Results indicate that the combination therapy significantly improves treatment outcomes compared to TACE alone.</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trial demonstrates a favorable safety profile for the combined approach, with manageable adverse effects.</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本研究評估了將經動脈化療栓塞（TACE）與PD-1抑制劑結合用作不可切除中晚期肝細胞癌（uHCC）的轉化療法的有效性。</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結果顯示，組合療法顯著改善了治療結果，相較於僅使用TACE。</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該試驗顯示組合療法具有良好的安全性，副作用可控。</a:t>
            </a:r>
            <a:endParaRPr lang="en-US" sz="1000" dirty="0"/>
          </a:p>
        </p:txBody>
      </p:sp>
      <p:sp>
        <p:nvSpPr>
          <p:cNvPr id="13" name="Shape 11"/>
          <p:cNvSpPr/>
          <p:nvPr/>
        </p:nvSpPr>
        <p:spPr>
          <a:xfrm>
            <a:off x="0" y="6784848"/>
            <a:ext cx="12188952" cy="73152"/>
          </a:xfrm>
          <a:prstGeom prst="rect">
            <a:avLst/>
          </a:prstGeom>
          <a:solidFill>
            <a:srgbClr val="DC2626"/>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07</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 plus transarterial chemoembolization and PD-1 inhibitors as conversion therapies for unresectable …</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combination of TACE and PD-1 inhibitors may offer a new therapeutic option for patients with uHCC, potentially leading to better surgical candidacy. </a:t>
            </a:r>
            <a:endParaRPr lang="en-US" sz="1000" dirty="0"/>
          </a:p>
          <a:p>
            <a:pPr indent="0" marL="0">
              <a:lnSpc>
                <a:spcPct val="140000"/>
              </a:lnSpc>
              <a:buNone/>
            </a:pPr>
            <a:r>
              <a:rPr lang="en-US" sz="1000" dirty="0">
                <a:solidFill>
                  <a:srgbClr val="1E1E1E"/>
                </a:solidFill>
              </a:rPr>
              <a:t>ZH: TACE與PD-1抑制劑的結合可能為uHCC患者提供新的治療選擇，從而提高手術適應性。</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studies should focus on optimizing the timing and dosing of the combination therapy to maximize patient outcomes. </a:t>
            </a:r>
            <a:endParaRPr lang="en-US" sz="1000" dirty="0"/>
          </a:p>
          <a:p>
            <a:pPr indent="0" marL="0">
              <a:lnSpc>
                <a:spcPct val="140000"/>
              </a:lnSpc>
              <a:buNone/>
            </a:pPr>
            <a:r>
              <a:rPr lang="en-US" sz="1000" dirty="0">
                <a:solidFill>
                  <a:srgbClr val="1E1E1E"/>
                </a:solidFill>
              </a:rPr>
              <a:t>ZH: 未來的研究應集中於優化組合療法的時機和劑量，以最大化患者的治療效果。</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08</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The Efficacy and Safety of Atezolizumab Plus Bevacizumab after Durvalumab Plus Tremelimumab for the Treatment of Hepatocellular Carcinoma.</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Internal medicine (Tokyo, Japan)  ·  Retrospective Study  ·  🌏 Asia  ·  📅 2026-04-16</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Uchikawa Shinsuke, Kawaoka Tomokazu, Tanaka Aiko et al.</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Atezolizumab plus bevacizumab (Atez+Bev) demonstrated a 25.0% objective response rate (ORR) and a 75.0% disease control rate (DCR) as a second-line therapy after durvalumab plus tremelimumab (Dur+Tre).</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Two patients who were non-responsive to Dur+Tre achieved a tumor response with Atez+Bev, indicating potential benefits for this subgroup.</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Common adverse events included pruritus for both regimens, while colitis and diarrhea were more prevalent in the Dur+Tre group and proteinuria, hyperammonemia, and bleeding were more common in the Atez+Bev group.</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阿特珠單抗加貝伐單抗（Atez+Bev）作為二線療法在杜瓦利單抗加特雷莫利單抗（Dur+Tre）後顯示出25.0%的客觀反應率（ORR）和75.0%的疾病控制率（DCR）。</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兩名對Dur+Tre無反應的患者在使用Atez+Bev後實現了腫瘤反應，顯示該亞組可能獲益。</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常見的不良事件包括兩種方案均有的瘙癢，而Dur+Tre組更常見腸炎和腹瀉，Atez+Bev組則更常見蛋白尿、高氨血症和出血。</a:t>
            </a:r>
            <a:endParaRPr lang="en-US" sz="1000" dirty="0"/>
          </a:p>
        </p:txBody>
      </p:sp>
      <p:sp>
        <p:nvSpPr>
          <p:cNvPr id="13" name="Text 11">
            <a:hlinkClick r:id="rId1" tooltip=""/>
          </p:cNvPr>
          <p:cNvSpPr/>
          <p:nvPr/>
        </p:nvSpPr>
        <p:spPr>
          <a:xfrm>
            <a:off x="548640" y="6309360"/>
            <a:ext cx="10058400" cy="0"/>
          </a:xfrm>
          <a:prstGeom prst="rect">
            <a:avLst/>
          </a:prstGeom>
          <a:noFill/>
          <a:ln/>
        </p:spPr>
        <p:txBody>
          <a:bodyPr wrap="square" rtlCol="0" anchor="ctr"/>
          <a:lstStyle/>
          <a:p>
            <a:pPr indent="0" marL="0">
              <a:buNone/>
            </a:pPr>
            <a:r>
              <a:rPr lang="en-US" sz="800" u="sng" dirty="0">
                <a:solidFill>
                  <a:srgbClr val="737373"/>
                </a:solidFill>
                <a:hlinkClick r:id="rId1" invalidUrl="" action="" tgtFrame="" tooltip="" history="1" highlightClick="0" endSnd="0">
                  <a:extLst>
                    <a:ext uri="{A12FA001-AC4F-418D-AE19-62706E023703}">
                      <ahyp:hlinkClr xmlns:ahyp="http://schemas.microsoft.com/office/drawing/2018/hyperlinkcolor" val="tx"/>
                    </a:ext>
                  </a:extLst>
                </a:hlinkClick>
              </a:rPr>
              <a:t>DOI: 10.2169/internalmedicine.6021-25</a:t>
            </a:r>
            <a:endParaRPr lang="en-US" sz="800" dirty="0"/>
          </a:p>
        </p:txBody>
      </p:sp>
      <p:sp>
        <p:nvSpPr>
          <p:cNvPr id="14" name="Shape 12"/>
          <p:cNvSpPr/>
          <p:nvPr/>
        </p:nvSpPr>
        <p:spPr>
          <a:xfrm>
            <a:off x="0" y="6784848"/>
            <a:ext cx="12188952" cy="73152"/>
          </a:xfrm>
          <a:prstGeom prst="rect">
            <a:avLst/>
          </a:prstGeom>
          <a:solidFill>
            <a:srgbClr val="DC2626"/>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08</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The Efficacy and Safety of Atezolizumab Plus Bevacizumab after Durvalumab Plus Tremelimumab for the …</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findings suggest that Atez+Bev can be an effective second-line treatment for HCC patients who do not respond to Dur+Tre, providing a new option for this challenging patient population. </a:t>
            </a:r>
            <a:endParaRPr lang="en-US" sz="1000" dirty="0"/>
          </a:p>
          <a:p>
            <a:pPr indent="0" marL="0">
              <a:lnSpc>
                <a:spcPct val="140000"/>
              </a:lnSpc>
              <a:buNone/>
            </a:pPr>
            <a:r>
              <a:rPr lang="en-US" sz="1000" dirty="0">
                <a:solidFill>
                  <a:srgbClr val="1E1E1E"/>
                </a:solidFill>
              </a:rPr>
              <a:t>ZH: 研究結果表明，Atez+Bev可以作為對Dur+Tre無反應的肝癌患者的有效二線治療，為這一挑戰性患者群體提供了新的選擇。</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studies should focus on larger cohorts to validate these findings and explore the underlying mechanisms that enhance the immune response after prior Dur+Tre therapy. </a:t>
            </a:r>
            <a:endParaRPr lang="en-US" sz="1000" dirty="0"/>
          </a:p>
          <a:p>
            <a:pPr indent="0" marL="0">
              <a:lnSpc>
                <a:spcPct val="140000"/>
              </a:lnSpc>
              <a:buNone/>
            </a:pPr>
            <a:r>
              <a:rPr lang="en-US" sz="1000" dirty="0">
                <a:solidFill>
                  <a:srgbClr val="1E1E1E"/>
                </a:solidFill>
              </a:rPr>
              <a:t>ZH: 未來的研究應集中於更大樣本量的驗證這些發現，並探討在先前Dur+Tre治療後增強免疫反應的潛在機制。</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09</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Prognostic nutritional index and the survival of patients with hepatocellular carcinoma on immune checkpoint inhibitors: a meta-analysis</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BMC cancer  ·  Meta-Analysis  ·  📅 2026</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J Fu, W Peng, J Jiang</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prognostic nutritional index (PNI) is a significant predictor of survival in HCC patients receiving immune checkpoint inhibitors.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Higher PNI scores correlate with improved overall survival rates in these patients.</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The meta-analysis indicates that nutritional status may influence the efficacy of immunotherapy in HCC.</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預後營養指數（PNI）是接受免疫檢查點抑制劑的肝細胞癌患者生存的顯著預測因子。</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較高的PNI分數與這些患者的整體生存率改善相關。</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這項綜合分析表明，營養狀態可能影響肝細胞癌免疫治療的療效。</a:t>
            </a:r>
            <a:endParaRPr lang="en-US" sz="1000" dirty="0"/>
          </a:p>
        </p:txBody>
      </p:sp>
      <p:sp>
        <p:nvSpPr>
          <p:cNvPr id="13" name="Shape 11"/>
          <p:cNvSpPr/>
          <p:nvPr/>
        </p:nvSpPr>
        <p:spPr>
          <a:xfrm>
            <a:off x="0" y="6784848"/>
            <a:ext cx="12188952" cy="73152"/>
          </a:xfrm>
          <a:prstGeom prst="rect">
            <a:avLst/>
          </a:prstGeom>
          <a:solidFill>
            <a:srgbClr val="DC2626"/>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09</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Prognostic nutritional index and the survival of patients with hepatocellular carcinoma on immune ch…</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prognostic nutritional index should be considered as a valuable tool for assessing the survival of HCC patients on immunotherapy. ZH: 預後營養指數應被視為評估接受免疫治療的肝細胞癌患者生存的重要工具。</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focus on optimizing nutritional interventions to enhance the effectiveness of immune checkpoint inhibitors in HCC. ZH: 未來的研究應著重於優化營養干預，以提高肝細胞癌中免疫檢查點抑制劑的療效。</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10</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lnSpc>
                <a:spcPct val="120000"/>
              </a:lnSpc>
              <a:buNone/>
            </a:pPr>
            <a:r>
              <a:rPr lang="en-US" sz="1800" b="1" dirty="0">
                <a:solidFill>
                  <a:srgbClr val="1E1E1E"/>
                </a:solidFill>
                <a:latin typeface="Arial" pitchFamily="34" charset="0"/>
                <a:ea typeface="Arial" pitchFamily="34" charset="-122"/>
                <a:cs typeface="Arial" pitchFamily="34" charset="-120"/>
              </a:rPr>
              <a:t>Radiotherapy versus local ablation therapy for the treatment of hepatocellular carcinoma: A systematic review and meta-analysis.</a:t>
            </a:r>
            <a:endParaRPr lang="en-US" sz="1800" dirty="0"/>
          </a:p>
        </p:txBody>
      </p:sp>
      <p:sp>
        <p:nvSpPr>
          <p:cNvPr id="6" name="Text 4"/>
          <p:cNvSpPr/>
          <p:nvPr/>
        </p:nvSpPr>
        <p:spPr>
          <a:xfrm>
            <a:off x="548640" y="1188720"/>
            <a:ext cx="10058400" cy="0"/>
          </a:xfrm>
          <a:prstGeom prst="rect">
            <a:avLst/>
          </a:prstGeom>
          <a:noFill/>
          <a:ln/>
        </p:spPr>
        <p:txBody>
          <a:bodyPr wrap="square" rtlCol="0" anchor="ctr"/>
          <a:lstStyle/>
          <a:p>
            <a:pPr indent="0" marL="0">
              <a:buNone/>
            </a:pPr>
            <a:r>
              <a:rPr lang="en-US" sz="1000" dirty="0">
                <a:solidFill>
                  <a:srgbClr val="737373"/>
                </a:solidFill>
              </a:rPr>
              <a:t>📰 Journal of Clinical …  ·  Meta-Analysis  ·  📅 2026</a:t>
            </a:r>
            <a:endParaRPr lang="en-US" sz="1000" dirty="0"/>
          </a:p>
        </p:txBody>
      </p:sp>
      <p:sp>
        <p:nvSpPr>
          <p:cNvPr id="7" name="Text 5"/>
          <p:cNvSpPr/>
          <p:nvPr/>
        </p:nvSpPr>
        <p:spPr>
          <a:xfrm>
            <a:off x="548640" y="1463040"/>
            <a:ext cx="10058400" cy="0"/>
          </a:xfrm>
          <a:prstGeom prst="rect">
            <a:avLst/>
          </a:prstGeom>
          <a:noFill/>
          <a:ln/>
        </p:spPr>
        <p:txBody>
          <a:bodyPr wrap="square" rtlCol="0" anchor="ctr"/>
          <a:lstStyle/>
          <a:p>
            <a:pPr indent="0" marL="0">
              <a:buNone/>
            </a:pPr>
            <a:r>
              <a:rPr lang="en-US" sz="1000" dirty="0">
                <a:solidFill>
                  <a:srgbClr val="737373"/>
                </a:solidFill>
              </a:rPr>
              <a:t>👥 SH Bae, SH Choi, SM Yoon</a:t>
            </a:r>
            <a:endParaRPr lang="en-US" sz="1000" dirty="0"/>
          </a:p>
        </p:txBody>
      </p:sp>
      <p:sp>
        <p:nvSpPr>
          <p:cNvPr id="8" name="Shape 6"/>
          <p:cNvSpPr/>
          <p:nvPr/>
        </p:nvSpPr>
        <p:spPr>
          <a:xfrm>
            <a:off x="548640" y="1783080"/>
            <a:ext cx="10515600" cy="18288"/>
          </a:xfrm>
          <a:prstGeom prst="rect">
            <a:avLst/>
          </a:prstGeom>
          <a:solidFill>
            <a:srgbClr val="D4D4D4"/>
          </a:solidFill>
          <a:ln/>
        </p:spPr>
      </p:sp>
      <p:sp>
        <p:nvSpPr>
          <p:cNvPr id="9" name="Text 7"/>
          <p:cNvSpPr/>
          <p:nvPr/>
        </p:nvSpPr>
        <p:spPr>
          <a:xfrm>
            <a:off x="54864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Arial" pitchFamily="34" charset="0"/>
                <a:ea typeface="Arial" pitchFamily="34" charset="-122"/>
                <a:cs typeface="Arial" pitchFamily="34" charset="-120"/>
              </a:rPr>
              <a:t>KEY FINDINGS</a:t>
            </a:r>
            <a:endParaRPr lang="en-US" sz="1000" dirty="0"/>
          </a:p>
        </p:txBody>
      </p:sp>
      <p:sp>
        <p:nvSpPr>
          <p:cNvPr id="10" name="Text 8"/>
          <p:cNvSpPr/>
          <p:nvPr/>
        </p:nvSpPr>
        <p:spPr>
          <a:xfrm>
            <a:off x="54864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Local ablation therapies, such as radiofrequency ablation (RFA) and microwave ablation, show significant efficacy in treating hepatocellular carcinoma (HCC).</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External beam radiotherapy (EBRT) was compared to local ablation therapies, revealing differences in local progression-free survival.</a:t>
            </a:r>
            <a:endParaRPr lang="en-US" sz="1000" dirty="0"/>
          </a:p>
          <a:p>
            <a:pPr marL="342900" indent="-342900">
              <a:lnSpc>
                <a:spcPct val="140000"/>
              </a:lnSpc>
              <a:buSzPct val="100000"/>
              <a:buChar char="●"/>
            </a:pPr>
            <a:r>
              <a:rPr lang="en-US" sz="1000" dirty="0">
                <a:solidFill>
                  <a:srgbClr val="1E1E1E"/>
                </a:solidFill>
                <a:latin typeface="Arial" pitchFamily="34" charset="0"/>
                <a:ea typeface="Arial" pitchFamily="34" charset="-122"/>
                <a:cs typeface="Arial" pitchFamily="34" charset="-120"/>
              </a:rPr>
              <a:t>Meta-analysis indicates that local ablation may offer superior outcomes in specific patient populations with HCC.</a:t>
            </a:r>
            <a:endParaRPr lang="en-US" sz="1000" dirty="0"/>
          </a:p>
        </p:txBody>
      </p:sp>
      <p:sp>
        <p:nvSpPr>
          <p:cNvPr id="11" name="Text 9"/>
          <p:cNvSpPr/>
          <p:nvPr/>
        </p:nvSpPr>
        <p:spPr>
          <a:xfrm>
            <a:off x="6217920" y="1965960"/>
            <a:ext cx="5029200" cy="0"/>
          </a:xfrm>
          <a:prstGeom prst="rect">
            <a:avLst/>
          </a:prstGeom>
          <a:noFill/>
          <a:ln/>
        </p:spPr>
        <p:txBody>
          <a:bodyPr wrap="square" rtlCol="0" anchor="ctr"/>
          <a:lstStyle/>
          <a:p>
            <a:pPr indent="0" marL="0">
              <a:buNone/>
            </a:pPr>
            <a:r>
              <a:rPr lang="en-US" sz="1000" b="1" spc="200" kern="0" dirty="0">
                <a:solidFill>
                  <a:srgbClr val="DC2626"/>
                </a:solidFill>
                <a:latin typeface="Microsoft JhengHei" pitchFamily="34" charset="0"/>
                <a:ea typeface="Microsoft JhengHei" pitchFamily="34" charset="-122"/>
                <a:cs typeface="Microsoft JhengHei" pitchFamily="34" charset="-120"/>
              </a:rPr>
              <a:t>重點發現</a:t>
            </a:r>
            <a:endParaRPr lang="en-US" sz="1000" dirty="0"/>
          </a:p>
        </p:txBody>
      </p:sp>
      <p:sp>
        <p:nvSpPr>
          <p:cNvPr id="12" name="Text 10"/>
          <p:cNvSpPr/>
          <p:nvPr/>
        </p:nvSpPr>
        <p:spPr>
          <a:xfrm>
            <a:off x="6217920" y="2286000"/>
            <a:ext cx="5303520" cy="0"/>
          </a:xfrm>
          <a:prstGeom prst="rect">
            <a:avLst/>
          </a:prstGeom>
          <a:noFill/>
          <a:ln/>
        </p:spPr>
        <p:txBody>
          <a:bodyPr wrap="square" rtlCol="0" anchor="t"/>
          <a:lstStyle/>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局部消融療法，如射頻消融（RFA）和微波消融，在治療肝細胞癌（HCC）方面顯示出顯著的療效。</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外部放射治療（EBRT）與局部消融療法進行比較，顯示在局部無進展生存期方面存在差異。</a:t>
            </a:r>
            <a:endParaRPr lang="en-US" sz="1000" dirty="0"/>
          </a:p>
          <a:p>
            <a:pPr marL="342900" indent="-342900">
              <a:lnSpc>
                <a:spcPct val="140000"/>
              </a:lnSpc>
              <a:buSzPct val="100000"/>
              <a:buChar char="●"/>
            </a:pPr>
            <a:r>
              <a:rPr lang="en-US" sz="1000" dirty="0">
                <a:solidFill>
                  <a:srgbClr val="1E1E1E"/>
                </a:solidFill>
                <a:latin typeface="Microsoft JhengHei" pitchFamily="34" charset="0"/>
                <a:ea typeface="Microsoft JhengHei" pitchFamily="34" charset="-122"/>
                <a:cs typeface="Microsoft JhengHei" pitchFamily="34" charset="-120"/>
              </a:rPr>
              <a:t>元分析表明，在特定的HCC患者群體中，局部消融可能提供更好的療效。</a:t>
            </a:r>
            <a:endParaRPr lang="en-US" sz="1000" dirty="0"/>
          </a:p>
        </p:txBody>
      </p:sp>
      <p:sp>
        <p:nvSpPr>
          <p:cNvPr id="13" name="Shape 11"/>
          <p:cNvSpPr/>
          <p:nvPr/>
        </p:nvSpPr>
        <p:spPr>
          <a:xfrm>
            <a:off x="0" y="6784848"/>
            <a:ext cx="12188952" cy="73152"/>
          </a:xfrm>
          <a:prstGeom prst="rect">
            <a:avLst/>
          </a:prstGeom>
          <a:solidFill>
            <a:srgbClr val="DC2626"/>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C2626"/>
          </a:solidFill>
          <a:ln/>
        </p:spPr>
      </p:sp>
      <p:sp>
        <p:nvSpPr>
          <p:cNvPr id="3" name="Shape 1"/>
          <p:cNvSpPr/>
          <p:nvPr/>
        </p:nvSpPr>
        <p:spPr>
          <a:xfrm>
            <a:off x="10972800" y="0"/>
            <a:ext cx="1216152" cy="548640"/>
          </a:xfrm>
          <a:prstGeom prst="rect">
            <a:avLst/>
          </a:prstGeom>
          <a:solidFill>
            <a:srgbClr val="1E1E1E"/>
          </a:solidFill>
          <a:ln/>
        </p:spPr>
      </p:sp>
      <p:sp>
        <p:nvSpPr>
          <p:cNvPr id="4" name="Text 2"/>
          <p:cNvSpPr/>
          <p:nvPr/>
        </p:nvSpPr>
        <p:spPr>
          <a:xfrm>
            <a:off x="10972800" y="45720"/>
            <a:ext cx="1216152" cy="0"/>
          </a:xfrm>
          <a:prstGeom prst="rect">
            <a:avLst/>
          </a:prstGeom>
          <a:noFill/>
          <a:ln/>
        </p:spPr>
        <p:txBody>
          <a:bodyPr wrap="square" rtlCol="0" anchor="ctr"/>
          <a:lstStyle/>
          <a:p>
            <a:pPr algn="ctr" indent="0" marL="0">
              <a:buNone/>
            </a:pPr>
            <a:r>
              <a:rPr lang="en-US" sz="2000" b="1" dirty="0">
                <a:solidFill>
                  <a:srgbClr val="FCA5A5"/>
                </a:solidFill>
                <a:latin typeface="Arial" pitchFamily="34" charset="0"/>
                <a:ea typeface="Arial" pitchFamily="34" charset="-122"/>
                <a:cs typeface="Arial" pitchFamily="34" charset="-120"/>
              </a:rPr>
              <a:t>10</a:t>
            </a:r>
            <a:endParaRPr lang="en-US" sz="2000" dirty="0"/>
          </a:p>
        </p:txBody>
      </p:sp>
      <p:sp>
        <p:nvSpPr>
          <p:cNvPr id="5" name="Text 3"/>
          <p:cNvSpPr/>
          <p:nvPr/>
        </p:nvSpPr>
        <p:spPr>
          <a:xfrm>
            <a:off x="548640" y="274320"/>
            <a:ext cx="10058400" cy="0"/>
          </a:xfrm>
          <a:prstGeom prst="rect">
            <a:avLst/>
          </a:prstGeom>
          <a:noFill/>
          <a:ln/>
        </p:spPr>
        <p:txBody>
          <a:bodyPr wrap="square" rtlCol="0" anchor="ctr"/>
          <a:lstStyle/>
          <a:p>
            <a:pPr indent="0" marL="0">
              <a:buNone/>
            </a:pPr>
            <a:r>
              <a:rPr lang="en-US" sz="1400" b="1" dirty="0">
                <a:solidFill>
                  <a:srgbClr val="1E1E1E"/>
                </a:solidFill>
                <a:latin typeface="Arial" pitchFamily="34" charset="0"/>
                <a:ea typeface="Arial" pitchFamily="34" charset="-122"/>
                <a:cs typeface="Arial" pitchFamily="34" charset="-120"/>
              </a:rPr>
              <a:t>Radiotherapy versus local ablation therapy for the treatment of hepatocellular carcinoma: A systemat…</a:t>
            </a:r>
            <a:endParaRPr lang="en-US" sz="1400" dirty="0"/>
          </a:p>
        </p:txBody>
      </p:sp>
      <p:sp>
        <p:nvSpPr>
          <p:cNvPr id="6" name="Shape 4"/>
          <p:cNvSpPr/>
          <p:nvPr/>
        </p:nvSpPr>
        <p:spPr>
          <a:xfrm>
            <a:off x="548640" y="822960"/>
            <a:ext cx="10515600" cy="18288"/>
          </a:xfrm>
          <a:prstGeom prst="rect">
            <a:avLst/>
          </a:prstGeom>
          <a:solidFill>
            <a:srgbClr val="D4D4D4"/>
          </a:solidFill>
          <a:ln/>
        </p:spPr>
      </p:sp>
      <p:sp>
        <p:nvSpPr>
          <p:cNvPr id="7" name="Shape 5"/>
          <p:cNvSpPr/>
          <p:nvPr/>
        </p:nvSpPr>
        <p:spPr>
          <a:xfrm>
            <a:off x="45720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8" name="Text 6"/>
          <p:cNvSpPr/>
          <p:nvPr/>
        </p:nvSpPr>
        <p:spPr>
          <a:xfrm>
            <a:off x="640080" y="1097280"/>
            <a:ext cx="5029200" cy="0"/>
          </a:xfrm>
          <a:prstGeom prst="rect">
            <a:avLst/>
          </a:prstGeom>
          <a:noFill/>
          <a:ln/>
        </p:spPr>
        <p:txBody>
          <a:bodyPr wrap="square" rtlCol="0" anchor="ctr"/>
          <a:lstStyle/>
          <a:p>
            <a:pPr indent="0" marL="0">
              <a:buNone/>
            </a:pPr>
            <a:r>
              <a:rPr lang="en-US" sz="1000" b="1" spc="200" kern="0" dirty="0">
                <a:solidFill>
                  <a:srgbClr val="DC2626"/>
                </a:solidFill>
              </a:rPr>
              <a:t>💡 CLINICAL INSIGHT</a:t>
            </a:r>
            <a:endParaRPr lang="en-US" sz="1000" dirty="0"/>
          </a:p>
        </p:txBody>
      </p:sp>
      <p:sp>
        <p:nvSpPr>
          <p:cNvPr id="9" name="Text 7"/>
          <p:cNvSpPr/>
          <p:nvPr/>
        </p:nvSpPr>
        <p:spPr>
          <a:xfrm>
            <a:off x="64008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臨床啟示</a:t>
            </a:r>
            <a:endParaRPr lang="en-US" sz="1000" dirty="0"/>
          </a:p>
        </p:txBody>
      </p:sp>
      <p:sp>
        <p:nvSpPr>
          <p:cNvPr id="10" name="Text 8"/>
          <p:cNvSpPr/>
          <p:nvPr/>
        </p:nvSpPr>
        <p:spPr>
          <a:xfrm>
            <a:off x="64008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The findings suggest that local ablation therapies may be preferred for HCC treatment due to their effectiveness in improving local progression-free survival. </a:t>
            </a:r>
            <a:endParaRPr lang="en-US" sz="1000" dirty="0"/>
          </a:p>
          <a:p>
            <a:pPr indent="0" marL="0">
              <a:lnSpc>
                <a:spcPct val="140000"/>
              </a:lnSpc>
              <a:buNone/>
            </a:pPr>
            <a:r>
              <a:rPr lang="en-US" sz="1000" dirty="0">
                <a:solidFill>
                  <a:srgbClr val="1E1E1E"/>
                </a:solidFill>
              </a:rPr>
              <a:t>ZH: 研究結果表明，局部消融療法可能因其在改善局部無進展生存期方面的有效性而成為HCC治療的首選。</a:t>
            </a:r>
            <a:endParaRPr lang="en-US" sz="1000" dirty="0"/>
          </a:p>
        </p:txBody>
      </p:sp>
      <p:sp>
        <p:nvSpPr>
          <p:cNvPr id="11" name="Shape 9"/>
          <p:cNvSpPr/>
          <p:nvPr/>
        </p:nvSpPr>
        <p:spPr>
          <a:xfrm>
            <a:off x="6217920" y="1005840"/>
            <a:ext cx="5394960" cy="2560320"/>
          </a:xfrm>
          <a:prstGeom prst="rect">
            <a:avLst>
              <a:gd name="adj" fmla="val 2857"/>
            </a:avLst>
          </a:prstGeom>
          <a:solidFill>
            <a:srgbClr val="FFFFFF"/>
          </a:solidFill>
          <a:ln/>
          <a:effectLst>
            <a:outerShdw sx="100000" sy="100000" kx="0" ky="0" algn="bl" rotWithShape="0" blurRad="38100" dist="12700" dir="16200000">
              <a:srgbClr val="00000015">
                <a:alpha val="75000"/>
              </a:srgbClr>
            </a:outerShdw>
          </a:effectLst>
        </p:spPr>
      </p:sp>
      <p:sp>
        <p:nvSpPr>
          <p:cNvPr id="12" name="Text 10"/>
          <p:cNvSpPr/>
          <p:nvPr/>
        </p:nvSpPr>
        <p:spPr>
          <a:xfrm>
            <a:off x="6400800" y="1097280"/>
            <a:ext cx="5029200" cy="0"/>
          </a:xfrm>
          <a:prstGeom prst="rect">
            <a:avLst/>
          </a:prstGeom>
          <a:noFill/>
          <a:ln/>
        </p:spPr>
        <p:txBody>
          <a:bodyPr wrap="square" rtlCol="0" anchor="ctr"/>
          <a:lstStyle/>
          <a:p>
            <a:pPr indent="0" marL="0">
              <a:buNone/>
            </a:pPr>
            <a:r>
              <a:rPr lang="en-US" sz="1000" b="1" spc="200" kern="0" dirty="0">
                <a:solidFill>
                  <a:srgbClr val="DC2626"/>
                </a:solidFill>
              </a:rPr>
              <a:t>🔮 FUTURE DIRECTION</a:t>
            </a:r>
            <a:endParaRPr lang="en-US" sz="1000" dirty="0"/>
          </a:p>
        </p:txBody>
      </p:sp>
      <p:sp>
        <p:nvSpPr>
          <p:cNvPr id="13" name="Text 11"/>
          <p:cNvSpPr/>
          <p:nvPr/>
        </p:nvSpPr>
        <p:spPr>
          <a:xfrm>
            <a:off x="6400800" y="1325880"/>
            <a:ext cx="5029200" cy="0"/>
          </a:xfrm>
          <a:prstGeom prst="rect">
            <a:avLst/>
          </a:prstGeom>
          <a:noFill/>
          <a:ln/>
        </p:spPr>
        <p:txBody>
          <a:bodyPr wrap="square" rtlCol="0" anchor="ctr"/>
          <a:lstStyle/>
          <a:p>
            <a:pPr indent="0" marL="0">
              <a:buNone/>
            </a:pPr>
            <a:r>
              <a:rPr lang="en-US" sz="1000" dirty="0">
                <a:solidFill>
                  <a:srgbClr val="737373"/>
                </a:solidFill>
                <a:latin typeface="Microsoft JhengHei" pitchFamily="34" charset="0"/>
                <a:ea typeface="Microsoft JhengHei" pitchFamily="34" charset="-122"/>
                <a:cs typeface="Microsoft JhengHei" pitchFamily="34" charset="-120"/>
              </a:rPr>
              <a:t>未來方向</a:t>
            </a:r>
            <a:endParaRPr lang="en-US" sz="1000" dirty="0"/>
          </a:p>
        </p:txBody>
      </p:sp>
      <p:sp>
        <p:nvSpPr>
          <p:cNvPr id="14" name="Text 12"/>
          <p:cNvSpPr/>
          <p:nvPr/>
        </p:nvSpPr>
        <p:spPr>
          <a:xfrm>
            <a:off x="6400800" y="1645920"/>
            <a:ext cx="5029200" cy="0"/>
          </a:xfrm>
          <a:prstGeom prst="rect">
            <a:avLst/>
          </a:prstGeom>
          <a:noFill/>
          <a:ln/>
        </p:spPr>
        <p:txBody>
          <a:bodyPr wrap="square" rtlCol="0" anchor="ctr"/>
          <a:lstStyle/>
          <a:p>
            <a:pPr indent="0" marL="0">
              <a:lnSpc>
                <a:spcPct val="140000"/>
              </a:lnSpc>
              <a:buNone/>
            </a:pPr>
            <a:r>
              <a:rPr lang="en-US" sz="1000" dirty="0">
                <a:solidFill>
                  <a:srgbClr val="1E1E1E"/>
                </a:solidFill>
              </a:rPr>
              <a:t>EN: Future research should focus on identifying specific patient populations that benefit most from local ablation versus EBRT. </a:t>
            </a:r>
            <a:endParaRPr lang="en-US" sz="1000" dirty="0"/>
          </a:p>
          <a:p>
            <a:pPr indent="0" marL="0">
              <a:lnSpc>
                <a:spcPct val="140000"/>
              </a:lnSpc>
              <a:buNone/>
            </a:pPr>
            <a:r>
              <a:rPr lang="en-US" sz="1000" dirty="0">
                <a:solidFill>
                  <a:srgbClr val="1E1E1E"/>
                </a:solidFill>
              </a:rPr>
              <a:t>ZH: 未來的研究應集中於確定哪些特定患者群體最能從局部消融療法與EBRT中受益。</a:t>
            </a:r>
            <a:endParaRPr lang="en-US" sz="1000" dirty="0"/>
          </a:p>
        </p:txBody>
      </p:sp>
      <p:sp>
        <p:nvSpPr>
          <p:cNvPr id="15" name="Shape 13"/>
          <p:cNvSpPr/>
          <p:nvPr/>
        </p:nvSpPr>
        <p:spPr>
          <a:xfrm>
            <a:off x="0" y="6784848"/>
            <a:ext cx="12188952" cy="73152"/>
          </a:xfrm>
          <a:prstGeom prst="rect">
            <a:avLst/>
          </a:prstGeom>
          <a:solidFill>
            <a:srgbClr val="DC2626"/>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C2626"/>
          </a:solidFill>
          <a:ln/>
        </p:spPr>
      </p:sp>
      <p:sp>
        <p:nvSpPr>
          <p:cNvPr id="3" name="Text 1"/>
          <p:cNvSpPr/>
          <p:nvPr/>
        </p:nvSpPr>
        <p:spPr>
          <a:xfrm>
            <a:off x="0" y="457200"/>
            <a:ext cx="12192000" cy="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4" name="Text 2"/>
          <p:cNvSpPr/>
          <p:nvPr/>
        </p:nvSpPr>
        <p:spPr>
          <a:xfrm>
            <a:off x="914400" y="1097280"/>
            <a:ext cx="10360152" cy="0"/>
          </a:xfrm>
          <a:prstGeom prst="rect">
            <a:avLst/>
          </a:prstGeom>
          <a:noFill/>
          <a:ln/>
        </p:spPr>
        <p:txBody>
          <a:bodyPr wrap="square" rtlCol="0" anchor="ctr"/>
          <a:lstStyle/>
          <a:p>
            <a:pPr algn="ctr" indent="0" marL="0">
              <a:buNone/>
            </a:pPr>
            <a:r>
              <a:rPr lang="en-US" sz="1800" b="1" spc="200" kern="0" dirty="0">
                <a:solidFill>
                  <a:srgbClr val="FCA5A5"/>
                </a:solidFill>
              </a:rPr>
              <a:t>OVERALL INSIGHTS &amp; FUTURE DIRECTIONS</a:t>
            </a:r>
            <a:endParaRPr lang="en-US" sz="1800" dirty="0"/>
          </a:p>
        </p:txBody>
      </p:sp>
      <p:sp>
        <p:nvSpPr>
          <p:cNvPr id="5" name="Text 3"/>
          <p:cNvSpPr/>
          <p:nvPr/>
        </p:nvSpPr>
        <p:spPr>
          <a:xfrm>
            <a:off x="914400" y="1554480"/>
            <a:ext cx="10360152" cy="0"/>
          </a:xfrm>
          <a:prstGeom prst="rect">
            <a:avLst/>
          </a:prstGeom>
          <a:noFill/>
          <a:ln/>
        </p:spPr>
        <p:txBody>
          <a:bodyPr wrap="square" rtlCol="0" anchor="ctr"/>
          <a:lstStyle/>
          <a:p>
            <a:pPr algn="ctr" indent="0" marL="0">
              <a:buNone/>
            </a:pPr>
            <a:r>
              <a:rPr lang="en-US" sz="1400" dirty="0">
                <a:solidFill>
                  <a:srgbClr val="737373"/>
                </a:solidFill>
                <a:latin typeface="Microsoft JhengHei" pitchFamily="34" charset="0"/>
                <a:ea typeface="Microsoft JhengHei" pitchFamily="34" charset="-122"/>
                <a:cs typeface="Microsoft JhengHei" pitchFamily="34" charset="-120"/>
              </a:rPr>
              <a:t>綜合啟示與未來研究方向</a:t>
            </a:r>
            <a:endParaRPr lang="en-US" sz="1400" dirty="0"/>
          </a:p>
        </p:txBody>
      </p:sp>
      <p:sp>
        <p:nvSpPr>
          <p:cNvPr id="6" name="Shape 4"/>
          <p:cNvSpPr/>
          <p:nvPr/>
        </p:nvSpPr>
        <p:spPr>
          <a:xfrm>
            <a:off x="4114800" y="1920240"/>
            <a:ext cx="3959352" cy="18288"/>
          </a:xfrm>
          <a:prstGeom prst="rect">
            <a:avLst/>
          </a:prstGeom>
          <a:solidFill>
            <a:srgbClr val="DC2626"/>
          </a:solidFill>
          <a:ln/>
        </p:spPr>
      </p:sp>
      <p:sp>
        <p:nvSpPr>
          <p:cNvPr id="7" name="Text 5"/>
          <p:cNvSpPr/>
          <p:nvPr/>
        </p:nvSpPr>
        <p:spPr>
          <a:xfrm>
            <a:off x="914400" y="2194560"/>
            <a:ext cx="10360152" cy="0"/>
          </a:xfrm>
          <a:prstGeom prst="rect">
            <a:avLst/>
          </a:prstGeom>
          <a:noFill/>
          <a:ln/>
        </p:spPr>
        <p:txBody>
          <a:bodyPr wrap="square" rtlCol="0" anchor="ctr"/>
          <a:lstStyle/>
          <a:p>
            <a:pPr indent="0" marL="0">
              <a:lnSpc>
                <a:spcPct val="150000"/>
              </a:lnSpc>
              <a:buNone/>
            </a:pPr>
            <a:r>
              <a:rPr lang="en-US" sz="1000" dirty="0">
                <a:solidFill>
                  <a:srgbClr val="F5F5F5"/>
                </a:solidFill>
              </a:rPr>
              <a:t>### 綜合啟示 (Overall Insights)</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1. **免疫治療的潛力**  </a:t>
            </a:r>
            <a:endParaRPr lang="en-US" sz="1000" dirty="0"/>
          </a:p>
          <a:p>
            <a:pPr indent="0" marL="0">
              <a:lnSpc>
                <a:spcPct val="150000"/>
              </a:lnSpc>
              <a:buNone/>
            </a:pPr>
            <a:r>
              <a:rPr lang="en-US" sz="1000" dirty="0">
                <a:solidFill>
                  <a:srgbClr val="F5F5F5"/>
                </a:solidFill>
              </a:rPr>
              <a:t>   The integration of immune therapies, such as PD-1 inhibitors, has shown promising results in enhancing treatment responses in hepatocellular carcinoma (HCC), particularly when combined with other modalities like radiotherapy or local ablation.  </a:t>
            </a:r>
            <a:endParaRPr lang="en-US" sz="1000" dirty="0"/>
          </a:p>
          <a:p>
            <a:pPr indent="0" marL="0">
              <a:lnSpc>
                <a:spcPct val="150000"/>
              </a:lnSpc>
              <a:buNone/>
            </a:pPr>
            <a:r>
              <a:rPr lang="en-US" sz="1000" dirty="0">
                <a:solidFill>
                  <a:srgbClr val="F5F5F5"/>
                </a:solidFill>
              </a:rPr>
              <a:t>   免疫治療（如PD-1抑制劑）的整合顯示出在肝細胞癌（HCC）中增強治療反應的潛力，特別是與其他療法（如放射治療或局部消融）聯合使用時。</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2. **腫瘤微環境的重塑**  </a:t>
            </a:r>
            <a:endParaRPr lang="en-US" sz="1000" dirty="0"/>
          </a:p>
          <a:p>
            <a:pPr indent="0" marL="0">
              <a:lnSpc>
                <a:spcPct val="150000"/>
              </a:lnSpc>
              <a:buNone/>
            </a:pPr>
            <a:r>
              <a:rPr lang="en-US" sz="1000" dirty="0">
                <a:solidFill>
                  <a:srgbClr val="F5F5F5"/>
                </a:solidFill>
              </a:rPr>
              <a:t>   Neoadjuvant therapies, including stereotactic body radiation therapy combined with immune therapy, can favorably remodel the tumor microenvironment, potentially improving outcomes in early-stage HCC.  </a:t>
            </a:r>
            <a:endParaRPr lang="en-US" sz="1000" dirty="0"/>
          </a:p>
          <a:p>
            <a:pPr indent="0" marL="0">
              <a:lnSpc>
                <a:spcPct val="150000"/>
              </a:lnSpc>
              <a:buNone/>
            </a:pPr>
            <a:r>
              <a:rPr lang="en-US" sz="1000" dirty="0">
                <a:solidFill>
                  <a:srgbClr val="F5F5F5"/>
                </a:solidFill>
              </a:rPr>
              <a:t>   新輔助療法，包括立體定位體放射治療與免疫療法的結合，能夠有利於重塑腫瘤微環境，可能改善早期HCC的治療結果。</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3. **癌症相關成纖維細胞的角色**  </a:t>
            </a:r>
            <a:endParaRPr lang="en-US" sz="1000" dirty="0"/>
          </a:p>
          <a:p>
            <a:pPr indent="0" marL="0">
              <a:lnSpc>
                <a:spcPct val="150000"/>
              </a:lnSpc>
              <a:buNone/>
            </a:pPr>
            <a:r>
              <a:rPr lang="en-US" sz="1000" dirty="0">
                <a:solidFill>
                  <a:srgbClr val="F5F5F5"/>
                </a:solidFill>
              </a:rPr>
              <a:t>   Cancer-associated fibroblasts (CAFs) play a significant role in tumor immunosuppression in HCC, indicating that targeting metabolic pathways in CAFs may provide new therapeutic strategies.  </a:t>
            </a:r>
            <a:endParaRPr lang="en-US" sz="1000" dirty="0"/>
          </a:p>
          <a:p>
            <a:pPr indent="0" marL="0">
              <a:lnSpc>
                <a:spcPct val="150000"/>
              </a:lnSpc>
              <a:buNone/>
            </a:pPr>
            <a:r>
              <a:rPr lang="en-US" sz="1000" dirty="0">
                <a:solidFill>
                  <a:srgbClr val="F5F5F5"/>
                </a:solidFill>
              </a:rPr>
              <a:t>   癌症相關成纖維細胞（CAFs）在HCC中的腫瘤免疫抑制中扮演重要角色，這表明針對CAFs的代謝途徑可能提供新的治療策略。</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4. **術後復發的挑戰**  </a:t>
            </a:r>
            <a:endParaRPr lang="en-US" sz="1000" dirty="0"/>
          </a:p>
          <a:p>
            <a:pPr indent="0" marL="0">
              <a:lnSpc>
                <a:spcPct val="150000"/>
              </a:lnSpc>
              <a:buNone/>
            </a:pPr>
            <a:r>
              <a:rPr lang="en-US" sz="1000" dirty="0">
                <a:solidFill>
                  <a:srgbClr val="F5F5F5"/>
                </a:solidFill>
              </a:rPr>
              <a:t>   Despite effective surgical interventions, postoperative recurrence remains a critical challenge in HCC management, underscoring the need for better understanding of relapse mechanisms and potential therapeutic targets.  </a:t>
            </a:r>
            <a:endParaRPr lang="en-US" sz="1000" dirty="0"/>
          </a:p>
          <a:p>
            <a:pPr indent="0" marL="0">
              <a:lnSpc>
                <a:spcPct val="150000"/>
              </a:lnSpc>
              <a:buNone/>
            </a:pPr>
            <a:r>
              <a:rPr lang="en-US" sz="1000" dirty="0">
                <a:solidFill>
                  <a:srgbClr val="F5F5F5"/>
                </a:solidFill>
              </a:rPr>
              <a:t>   儘管手術干預有效，術後復發仍然是HCC管理中的一個關鍵挑戰，強調了對復發機制和潛在治療靶點的更好理解的必要性。</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5. **營養狀態與預後的關聯**  </a:t>
            </a:r>
            <a:endParaRPr lang="en-US" sz="1000" dirty="0"/>
          </a:p>
          <a:p>
            <a:pPr indent="0" marL="0">
              <a:lnSpc>
                <a:spcPct val="150000"/>
              </a:lnSpc>
              <a:buNone/>
            </a:pPr>
            <a:r>
              <a:rPr lang="en-US" sz="1000" dirty="0">
                <a:solidFill>
                  <a:srgbClr val="F5F5F5"/>
                </a:solidFill>
              </a:rPr>
              <a:t>   The prognostic nutritional index has been identified as a potential predictor of survival in HCC patients undergoing immune checkpoint inhibitor therapy, highlighting the importance of nutritional status in treatment outcomes.  </a:t>
            </a:r>
            <a:endParaRPr lang="en-US" sz="1000" dirty="0"/>
          </a:p>
          <a:p>
            <a:pPr indent="0" marL="0">
              <a:lnSpc>
                <a:spcPct val="150000"/>
              </a:lnSpc>
              <a:buNone/>
            </a:pPr>
            <a:r>
              <a:rPr lang="en-US" sz="1000" dirty="0">
                <a:solidFill>
                  <a:srgbClr val="F5F5F5"/>
                </a:solidFill>
              </a:rPr>
              <a:t>   預後營養指數被認為是接受免疫檢查點抑制劑治療的HCC患者生存的潛在預測因子，突顯了營養狀態在治療結果中的重要性。</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 未來研究方向 (Future Research Directions)</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1. **早期階段的免疫治療策略**  </a:t>
            </a:r>
            <a:endParaRPr lang="en-US" sz="1000" dirty="0"/>
          </a:p>
          <a:p>
            <a:pPr indent="0" marL="0">
              <a:lnSpc>
                <a:spcPct val="150000"/>
              </a:lnSpc>
              <a:buNone/>
            </a:pPr>
            <a:r>
              <a:rPr lang="en-US" sz="1000" dirty="0">
                <a:solidFill>
                  <a:srgbClr val="F5F5F5"/>
                </a:solidFill>
              </a:rPr>
              <a:t>   Future studies should focus on defining optimal immune therapy regimens for early-stage HCC to maximize treatment efficacy and minimize recurrence rates.  </a:t>
            </a:r>
            <a:endParaRPr lang="en-US" sz="1000" dirty="0"/>
          </a:p>
          <a:p>
            <a:pPr indent="0" marL="0">
              <a:lnSpc>
                <a:spcPct val="150000"/>
              </a:lnSpc>
              <a:buNone/>
            </a:pPr>
            <a:r>
              <a:rPr lang="en-US" sz="1000" dirty="0">
                <a:solidFill>
                  <a:srgbClr val="F5F5F5"/>
                </a:solidFill>
              </a:rPr>
              <a:t>   未來的研究應集中於確定早期HCC的最佳免疫治療方案，以最大化治療效果並最小化復發率。</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2. **CAFs的代謝調控研究**  </a:t>
            </a:r>
            <a:endParaRPr lang="en-US" sz="1000" dirty="0"/>
          </a:p>
          <a:p>
            <a:pPr indent="0" marL="0">
              <a:lnSpc>
                <a:spcPct val="150000"/>
              </a:lnSpc>
              <a:buNone/>
            </a:pPr>
            <a:r>
              <a:rPr lang="en-US" sz="1000" dirty="0">
                <a:solidFill>
                  <a:srgbClr val="F5F5F5"/>
                </a:solidFill>
              </a:rPr>
              <a:t>   Investigating the metabolic regulation of cancer-associated fibroblasts (CAFs) may uncover new therapeutic targets that could enhance the efficacy of existing treatments.  </a:t>
            </a:r>
            <a:endParaRPr lang="en-US" sz="1000" dirty="0"/>
          </a:p>
          <a:p>
            <a:pPr indent="0" marL="0">
              <a:lnSpc>
                <a:spcPct val="150000"/>
              </a:lnSpc>
              <a:buNone/>
            </a:pPr>
            <a:r>
              <a:rPr lang="en-US" sz="1000" dirty="0">
                <a:solidFill>
                  <a:srgbClr val="F5F5F5"/>
                </a:solidFill>
              </a:rPr>
              <a:t>   研究癌症相關成纖維細胞（CAFs）的代謝調控可能會揭示新的治療靶點，從而提高現有治療的療效。</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3. **術後監測與干預**  </a:t>
            </a:r>
            <a:endParaRPr lang="en-US" sz="1000" dirty="0"/>
          </a:p>
          <a:p>
            <a:pPr indent="0" marL="0">
              <a:lnSpc>
                <a:spcPct val="150000"/>
              </a:lnSpc>
              <a:buNone/>
            </a:pPr>
            <a:r>
              <a:rPr lang="en-US" sz="1000" dirty="0">
                <a:solidFill>
                  <a:srgbClr val="F5F5F5"/>
                </a:solidFill>
              </a:rPr>
              <a:t>   Developing strategies for postoperative monitoring and intervention could help address the high recurrence rates seen in HCC patients after surgical resection.  </a:t>
            </a:r>
            <a:endParaRPr lang="en-US" sz="1000" dirty="0"/>
          </a:p>
          <a:p>
            <a:pPr indent="0" marL="0">
              <a:lnSpc>
                <a:spcPct val="150000"/>
              </a:lnSpc>
              <a:buNone/>
            </a:pPr>
            <a:r>
              <a:rPr lang="en-US" sz="1000" dirty="0">
                <a:solidFill>
                  <a:srgbClr val="F5F5F5"/>
                </a:solidFill>
              </a:rPr>
              <a:t>   開發術後監測和干預策略可以幫助解決HCC患者在手術切除後出現的高復發率問題。</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4. **多模態療法的臨床試驗**  </a:t>
            </a:r>
            <a:endParaRPr lang="en-US" sz="1000" dirty="0"/>
          </a:p>
          <a:p>
            <a:pPr indent="0" marL="0">
              <a:lnSpc>
                <a:spcPct val="150000"/>
              </a:lnSpc>
              <a:buNone/>
            </a:pPr>
            <a:r>
              <a:rPr lang="en-US" sz="1000" dirty="0">
                <a:solidFill>
                  <a:srgbClr val="F5F5F5"/>
                </a:solidFill>
              </a:rPr>
              <a:t>   Conducting clinical trials that explore the combination of multiple modalities, including immunotherapy, local ablation, and systemic therapies, could lead to improved outcomes for advanced HCC patients.  </a:t>
            </a:r>
            <a:endParaRPr lang="en-US" sz="1000" dirty="0"/>
          </a:p>
          <a:p>
            <a:pPr indent="0" marL="0">
              <a:lnSpc>
                <a:spcPct val="150000"/>
              </a:lnSpc>
              <a:buNone/>
            </a:pPr>
            <a:r>
              <a:rPr lang="en-US" sz="1000" dirty="0">
                <a:solidFill>
                  <a:srgbClr val="F5F5F5"/>
                </a:solidFill>
              </a:rPr>
              <a:t>   開展探索多種療法組合（包括免疫療法、局部消融和全身療法）的臨床試驗，可能會為晚期HCC患者帶來更好的治療結果。</a:t>
            </a:r>
            <a:endParaRPr lang="en-US" sz="1000" dirty="0"/>
          </a:p>
          <a:p>
            <a:pPr indent="0" marL="0">
              <a:lnSpc>
                <a:spcPct val="150000"/>
              </a:lnSpc>
              <a:buNone/>
            </a:pPr>
            <a:endParaRPr lang="en-US" sz="1000" dirty="0"/>
          </a:p>
          <a:p>
            <a:pPr indent="0" marL="0">
              <a:lnSpc>
                <a:spcPct val="150000"/>
              </a:lnSpc>
              <a:buNone/>
            </a:pPr>
            <a:r>
              <a:rPr lang="en-US" sz="1000" dirty="0">
                <a:solidFill>
                  <a:srgbClr val="F5F5F5"/>
                </a:solidFill>
              </a:rPr>
              <a:t>5. **營養干預的臨床應用**  </a:t>
            </a:r>
            <a:endParaRPr lang="en-US" sz="1000" dirty="0"/>
          </a:p>
          <a:p>
            <a:pPr indent="0" marL="0">
              <a:lnSpc>
                <a:spcPct val="150000"/>
              </a:lnSpc>
              <a:buNone/>
            </a:pPr>
            <a:r>
              <a:rPr lang="en-US" sz="1000" dirty="0">
                <a:solidFill>
                  <a:srgbClr val="F5F5F5"/>
                </a:solidFill>
              </a:rPr>
              <a:t>   Future research should investigate the role of nutritional interventions in conjunction with immune therapies to enhance patient outcomes in HCC.  </a:t>
            </a:r>
            <a:endParaRPr lang="en-US" sz="1000" dirty="0"/>
          </a:p>
          <a:p>
            <a:pPr indent="0" marL="0">
              <a:lnSpc>
                <a:spcPct val="150000"/>
              </a:lnSpc>
              <a:buNone/>
            </a:pPr>
            <a:r>
              <a:rPr lang="en-US" sz="1000" dirty="0">
                <a:solidFill>
                  <a:srgbClr val="F5F5F5"/>
                </a:solidFill>
              </a:rPr>
              <a:t>   未來的研究應探討營養干預與免疫療法結合的作用，以提高HCC患者的治療結果。</a:t>
            </a:r>
            <a:endParaRPr lang="en-US" sz="1000" dirty="0"/>
          </a:p>
        </p:txBody>
      </p:sp>
      <p:sp>
        <p:nvSpPr>
          <p:cNvPr id="8" name="Shape 6"/>
          <p:cNvSpPr/>
          <p:nvPr/>
        </p:nvSpPr>
        <p:spPr>
          <a:xfrm>
            <a:off x="0" y="6784848"/>
            <a:ext cx="12188952" cy="73152"/>
          </a:xfrm>
          <a:prstGeom prst="rect">
            <a:avLst/>
          </a:prstGeom>
          <a:solidFill>
            <a:srgbClr val="DC2626"/>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DC2626"/>
          </a:solidFill>
          <a:ln/>
        </p:spPr>
      </p:sp>
      <p:sp>
        <p:nvSpPr>
          <p:cNvPr id="3" name="Shape 1"/>
          <p:cNvSpPr/>
          <p:nvPr/>
        </p:nvSpPr>
        <p:spPr>
          <a:xfrm>
            <a:off x="4114800" y="2286000"/>
            <a:ext cx="3959352" cy="36576"/>
          </a:xfrm>
          <a:prstGeom prst="rect">
            <a:avLst/>
          </a:prstGeom>
          <a:solidFill>
            <a:srgbClr val="DC2626"/>
          </a:solidFill>
          <a:ln/>
        </p:spPr>
      </p:sp>
      <p:sp>
        <p:nvSpPr>
          <p:cNvPr id="4" name="Text 2"/>
          <p:cNvSpPr/>
          <p:nvPr/>
        </p:nvSpPr>
        <p:spPr>
          <a:xfrm>
            <a:off x="914400" y="2560320"/>
            <a:ext cx="10360152" cy="0"/>
          </a:xfrm>
          <a:prstGeom prst="rect">
            <a:avLst/>
          </a:prstGeom>
          <a:noFill/>
          <a:ln/>
        </p:spPr>
        <p:txBody>
          <a:bodyPr wrap="square" rtlCol="0" anchor="ctr"/>
          <a:lstStyle/>
          <a:p>
            <a:pPr algn="ctr" indent="0" marL="0">
              <a:buNone/>
            </a:pPr>
            <a:r>
              <a:rPr lang="en-US" sz="4000" b="1" dirty="0">
                <a:solidFill>
                  <a:srgbClr val="FFFFFF"/>
                </a:solidFill>
              </a:rPr>
              <a:t>Thank You</a:t>
            </a:r>
            <a:endParaRPr lang="en-US" sz="4000" dirty="0"/>
          </a:p>
        </p:txBody>
      </p:sp>
      <p:sp>
        <p:nvSpPr>
          <p:cNvPr id="5" name="Text 3"/>
          <p:cNvSpPr/>
          <p:nvPr/>
        </p:nvSpPr>
        <p:spPr>
          <a:xfrm>
            <a:off x="914400" y="3383280"/>
            <a:ext cx="10360152" cy="0"/>
          </a:xfrm>
          <a:prstGeom prst="rect">
            <a:avLst/>
          </a:prstGeom>
          <a:noFill/>
          <a:ln/>
        </p:spPr>
        <p:txBody>
          <a:bodyPr wrap="square" rtlCol="0" anchor="ctr"/>
          <a:lstStyle/>
          <a:p>
            <a:pPr algn="ctr" indent="0" marL="0">
              <a:buNone/>
            </a:pPr>
            <a:r>
              <a:rPr lang="en-US" sz="2800" dirty="0">
                <a:solidFill>
                  <a:srgbClr val="FCA5A5"/>
                </a:solidFill>
                <a:latin typeface="Microsoft JhengHei" pitchFamily="34" charset="0"/>
                <a:ea typeface="Microsoft JhengHei" pitchFamily="34" charset="-122"/>
                <a:cs typeface="Microsoft JhengHei" pitchFamily="34" charset="-120"/>
              </a:rPr>
              <a:t>謝謝</a:t>
            </a:r>
            <a:endParaRPr lang="en-US" sz="2800" dirty="0"/>
          </a:p>
        </p:txBody>
      </p:sp>
      <p:sp>
        <p:nvSpPr>
          <p:cNvPr id="6" name="Shape 4"/>
          <p:cNvSpPr/>
          <p:nvPr/>
        </p:nvSpPr>
        <p:spPr>
          <a:xfrm>
            <a:off x="4114800" y="4023360"/>
            <a:ext cx="3959352" cy="36576"/>
          </a:xfrm>
          <a:prstGeom prst="rect">
            <a:avLst/>
          </a:prstGeom>
          <a:solidFill>
            <a:srgbClr val="DC2626"/>
          </a:solidFill>
          <a:ln/>
        </p:spPr>
      </p:sp>
      <p:sp>
        <p:nvSpPr>
          <p:cNvPr id="7" name="Text 5"/>
          <p:cNvSpPr/>
          <p:nvPr/>
        </p:nvSpPr>
        <p:spPr>
          <a:xfrm>
            <a:off x="914400" y="4297680"/>
            <a:ext cx="10360152" cy="0"/>
          </a:xfrm>
          <a:prstGeom prst="rect">
            <a:avLst/>
          </a:prstGeom>
          <a:noFill/>
          <a:ln/>
        </p:spPr>
        <p:txBody>
          <a:bodyPr wrap="square" rtlCol="0" anchor="ctr"/>
          <a:lstStyle/>
          <a:p>
            <a:pPr algn="ctr" indent="0" marL="0">
              <a:buNone/>
            </a:pPr>
            <a:r>
              <a:rPr lang="en-US" sz="1400" dirty="0">
                <a:solidFill>
                  <a:srgbClr val="737373"/>
                </a:solidFill>
              </a:rPr>
              <a:t>HCC Weekly Digest · 呂大教授 敬啟</a:t>
            </a:r>
            <a:endParaRPr lang="en-US" sz="1400" dirty="0"/>
          </a:p>
        </p:txBody>
      </p:sp>
      <p:sp>
        <p:nvSpPr>
          <p:cNvPr id="8" name="Shape 6"/>
          <p:cNvSpPr/>
          <p:nvPr/>
        </p:nvSpPr>
        <p:spPr>
          <a:xfrm>
            <a:off x="0" y="6784848"/>
            <a:ext cx="12188952" cy="73152"/>
          </a:xfrm>
          <a:prstGeom prst="rect">
            <a:avLst/>
          </a:prstGeom>
          <a:solidFill>
            <a:srgbClr val="DC262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Weekly Literature Review</dc:subject>
  <dc:creator>HCC Weekly Digest</dc:creator>
  <cp:lastModifiedBy>HCC Weekly Digest</cp:lastModifiedBy>
  <cp:revision>1</cp:revision>
  <dcterms:created xsi:type="dcterms:W3CDTF">2026-04-18T13:45:42Z</dcterms:created>
  <dcterms:modified xsi:type="dcterms:W3CDTF">2026-04-18T13:45:42Z</dcterms:modified>
</cp:coreProperties>
</file>