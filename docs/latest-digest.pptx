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DC2626"/>
          </a:solidFill>
          <a:ln/>
        </p:spPr>
      </p:sp>
      <p:sp>
        <p:nvSpPr>
          <p:cNvPr id="3" name="Shape 1"/>
          <p:cNvSpPr/>
          <p:nvPr/>
        </p:nvSpPr>
        <p:spPr>
          <a:xfrm>
            <a:off x="4114800" y="1828800"/>
            <a:ext cx="3959352" cy="36576"/>
          </a:xfrm>
          <a:prstGeom prst="rect">
            <a:avLst/>
          </a:prstGeom>
          <a:solidFill>
            <a:srgbClr val="DC2626"/>
          </a:solidFill>
          <a:ln/>
        </p:spPr>
      </p:sp>
      <p:sp>
        <p:nvSpPr>
          <p:cNvPr id="4" name="Text 2"/>
          <p:cNvSpPr/>
          <p:nvPr/>
        </p:nvSpPr>
        <p:spPr>
          <a:xfrm>
            <a:off x="0" y="1097280"/>
            <a:ext cx="12192000" cy="0"/>
          </a:xfrm>
          <a:prstGeom prst="rect">
            <a:avLst/>
          </a:prstGeom>
          <a:noFill/>
          <a:ln/>
        </p:spPr>
        <p:txBody>
          <a:bodyPr wrap="square" rtlCol="0" anchor="ctr"/>
          <a:lstStyle/>
          <a:p>
            <a:pPr algn="ctr" indent="0" marL="0">
              <a:buNone/>
            </a:pPr>
            <a:r>
              <a:rPr lang="en-US" sz="4800" dirty="0">
                <a:solidFill>
                  <a:srgbClr val="000000"/>
                </a:solidFill>
              </a:rPr>
              <a:t>🔬</a:t>
            </a:r>
            <a:endParaRPr lang="en-US" sz="4800" dirty="0"/>
          </a:p>
        </p:txBody>
      </p:sp>
      <p:sp>
        <p:nvSpPr>
          <p:cNvPr id="5" name="Text 3"/>
          <p:cNvSpPr/>
          <p:nvPr/>
        </p:nvSpPr>
        <p:spPr>
          <a:xfrm>
            <a:off x="1371600" y="2103120"/>
            <a:ext cx="9445752" cy="0"/>
          </a:xfrm>
          <a:prstGeom prst="rect">
            <a:avLst/>
          </a:prstGeom>
          <a:noFill/>
          <a:ln/>
        </p:spPr>
        <p:txBody>
          <a:bodyPr wrap="square" rtlCol="0" anchor="ctr"/>
          <a:lstStyle/>
          <a:p>
            <a:pPr algn="ctr" indent="0" marL="0">
              <a:buNone/>
            </a:pPr>
            <a:r>
              <a:rPr lang="en-US" sz="3800" b="1" dirty="0">
                <a:solidFill>
                  <a:srgbClr val="FFFFFF"/>
                </a:solidFill>
                <a:latin typeface="Arial" pitchFamily="34" charset="0"/>
                <a:ea typeface="Arial" pitchFamily="34" charset="-122"/>
                <a:cs typeface="Arial" pitchFamily="34" charset="-120"/>
              </a:rPr>
              <a:t>HCC Weekly Digest</a:t>
            </a:r>
            <a:endParaRPr lang="en-US" sz="3800" dirty="0"/>
          </a:p>
        </p:txBody>
      </p:sp>
      <p:sp>
        <p:nvSpPr>
          <p:cNvPr id="6" name="Text 4"/>
          <p:cNvSpPr/>
          <p:nvPr/>
        </p:nvSpPr>
        <p:spPr>
          <a:xfrm>
            <a:off x="1371600" y="3200400"/>
            <a:ext cx="9445752" cy="0"/>
          </a:xfrm>
          <a:prstGeom prst="rect">
            <a:avLst/>
          </a:prstGeom>
          <a:noFill/>
          <a:ln/>
        </p:spPr>
        <p:txBody>
          <a:bodyPr wrap="square" rtlCol="0" anchor="ctr"/>
          <a:lstStyle/>
          <a:p>
            <a:pPr algn="ctr" indent="0" marL="0">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肝癌免疫治療與局部消融文獻週報</a:t>
            </a:r>
            <a:endParaRPr lang="en-US" sz="1800" dirty="0"/>
          </a:p>
        </p:txBody>
      </p:sp>
      <p:sp>
        <p:nvSpPr>
          <p:cNvPr id="7" name="Text 5"/>
          <p:cNvSpPr/>
          <p:nvPr/>
        </p:nvSpPr>
        <p:spPr>
          <a:xfrm>
            <a:off x="1371600" y="3931920"/>
            <a:ext cx="9445752" cy="0"/>
          </a:xfrm>
          <a:prstGeom prst="rect">
            <a:avLst/>
          </a:prstGeom>
          <a:noFill/>
          <a:ln/>
        </p:spPr>
        <p:txBody>
          <a:bodyPr wrap="square" rtlCol="0" anchor="ctr"/>
          <a:lstStyle/>
          <a:p>
            <a:pPr algn="ctr" indent="0" marL="0">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2000" dirty="0"/>
          </a:p>
        </p:txBody>
      </p:sp>
      <p:sp>
        <p:nvSpPr>
          <p:cNvPr id="8" name="Shape 6"/>
          <p:cNvSpPr/>
          <p:nvPr/>
        </p:nvSpPr>
        <p:spPr>
          <a:xfrm>
            <a:off x="4114800" y="4480560"/>
            <a:ext cx="3959352" cy="36576"/>
          </a:xfrm>
          <a:prstGeom prst="rect">
            <a:avLst/>
          </a:prstGeom>
          <a:solidFill>
            <a:srgbClr val="DC2626"/>
          </a:solidFill>
          <a:ln/>
        </p:spPr>
      </p:sp>
      <p:sp>
        <p:nvSpPr>
          <p:cNvPr id="9" name="Text 7"/>
          <p:cNvSpPr/>
          <p:nvPr/>
        </p:nvSpPr>
        <p:spPr>
          <a:xfrm>
            <a:off x="1371600" y="4663440"/>
            <a:ext cx="9445752" cy="0"/>
          </a:xfrm>
          <a:prstGeom prst="rect">
            <a:avLst/>
          </a:prstGeom>
          <a:noFill/>
          <a:ln/>
        </p:spPr>
        <p:txBody>
          <a:bodyPr wrap="square" rtlCol="0" anchor="ctr"/>
          <a:lstStyle/>
          <a:p>
            <a:pPr algn="ctr" indent="0" marL="0">
              <a:buNone/>
            </a:pPr>
            <a:r>
              <a:rPr lang="en-US" sz="1600" dirty="0">
                <a:solidFill>
                  <a:srgbClr val="737373"/>
                </a:solidFill>
              </a:rPr>
              <a:t>2026-04-11 — 2026-04-18</a:t>
            </a:r>
            <a:endParaRPr lang="en-US" sz="1600" dirty="0"/>
          </a:p>
        </p:txBody>
      </p:sp>
      <p:sp>
        <p:nvSpPr>
          <p:cNvPr id="10" name="Text 8"/>
          <p:cNvSpPr/>
          <p:nvPr/>
        </p:nvSpPr>
        <p:spPr>
          <a:xfrm>
            <a:off x="1371600" y="5212080"/>
            <a:ext cx="9445752" cy="0"/>
          </a:xfrm>
          <a:prstGeom prst="rect">
            <a:avLst/>
          </a:prstGeom>
          <a:noFill/>
          <a:ln/>
        </p:spPr>
        <p:txBody>
          <a:bodyPr wrap="square" rtlCol="0" anchor="ctr"/>
          <a:lstStyle/>
          <a:p>
            <a:pPr algn="ctr" indent="0" marL="0">
              <a:buNone/>
            </a:pPr>
            <a:r>
              <a:rPr lang="en-US" sz="1400" dirty="0">
                <a:solidFill>
                  <a:srgbClr val="737373"/>
                </a:solidFill>
              </a:rPr>
              <a:t>10 Selected Papers</a:t>
            </a:r>
            <a:endParaRPr lang="en-US" sz="1400" dirty="0"/>
          </a:p>
        </p:txBody>
      </p:sp>
      <p:sp>
        <p:nvSpPr>
          <p:cNvPr id="11" name="Shape 9"/>
          <p:cNvSpPr/>
          <p:nvPr/>
        </p:nvSpPr>
        <p:spPr>
          <a:xfrm>
            <a:off x="0" y="6784848"/>
            <a:ext cx="12188952" cy="73152"/>
          </a:xfrm>
          <a:prstGeom prst="rect">
            <a:avLst/>
          </a:prstGeom>
          <a:solidFill>
            <a:srgbClr val="DC262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Text 1"/>
          <p:cNvSpPr/>
          <p:nvPr/>
        </p:nvSpPr>
        <p:spPr>
          <a:xfrm>
            <a:off x="548640" y="274320"/>
            <a:ext cx="3657600" cy="0"/>
          </a:xfrm>
          <a:prstGeom prst="rect">
            <a:avLst/>
          </a:prstGeom>
          <a:noFill/>
          <a:ln/>
        </p:spPr>
        <p:txBody>
          <a:bodyPr wrap="square" rtlCol="0" anchor="ctr"/>
          <a:lstStyle/>
          <a:p>
            <a:pPr indent="0" marL="0">
              <a:buNone/>
            </a:pPr>
            <a:r>
              <a:rPr lang="en-US" sz="1200" b="1" spc="400" kern="0" dirty="0">
                <a:solidFill>
                  <a:srgbClr val="DC2626"/>
                </a:solidFill>
                <a:latin typeface="Arial" pitchFamily="34" charset="0"/>
                <a:ea typeface="Arial" pitchFamily="34" charset="-122"/>
                <a:cs typeface="Arial" pitchFamily="34" charset="-120"/>
              </a:rPr>
              <a:t>CONTENTS</a:t>
            </a:r>
            <a:endParaRPr lang="en-US" sz="1200" dirty="0"/>
          </a:p>
        </p:txBody>
      </p:sp>
      <p:sp>
        <p:nvSpPr>
          <p:cNvPr id="4" name="Text 2"/>
          <p:cNvSpPr/>
          <p:nvPr/>
        </p:nvSpPr>
        <p:spPr>
          <a:xfrm>
            <a:off x="548640" y="548640"/>
            <a:ext cx="3657600" cy="0"/>
          </a:xfrm>
          <a:prstGeom prst="rect">
            <a:avLst/>
          </a:prstGeom>
          <a:noFill/>
          <a:ln/>
        </p:spPr>
        <p:txBody>
          <a:bodyPr wrap="square" rtlCol="0" anchor="ctr"/>
          <a:lstStyle/>
          <a:p>
            <a:pPr indent="0" marL="0">
              <a:buNone/>
            </a:pPr>
            <a:r>
              <a:rPr lang="en-US" sz="1200" dirty="0">
                <a:solidFill>
                  <a:srgbClr val="737373"/>
                </a:solidFill>
                <a:latin typeface="Microsoft JhengHei" pitchFamily="34" charset="0"/>
                <a:ea typeface="Microsoft JhengHei" pitchFamily="34" charset="-122"/>
                <a:cs typeface="Microsoft JhengHei" pitchFamily="34" charset="-120"/>
              </a:rPr>
              <a:t>目錄</a:t>
            </a:r>
            <a:endParaRPr lang="en-US" sz="1200" dirty="0"/>
          </a:p>
        </p:txBody>
      </p:sp>
      <p:sp>
        <p:nvSpPr>
          <p:cNvPr id="5" name="Shape 3"/>
          <p:cNvSpPr/>
          <p:nvPr/>
        </p:nvSpPr>
        <p:spPr>
          <a:xfrm>
            <a:off x="548640" y="914400"/>
            <a:ext cx="4572000" cy="18288"/>
          </a:xfrm>
          <a:prstGeom prst="rect">
            <a:avLst/>
          </a:prstGeom>
          <a:solidFill>
            <a:srgbClr val="D4D4D4"/>
          </a:solidFill>
          <a:ln/>
        </p:spPr>
      </p:sp>
      <p:sp>
        <p:nvSpPr>
          <p:cNvPr id="6" name="Text 4"/>
          <p:cNvSpPr/>
          <p:nvPr/>
        </p:nvSpPr>
        <p:spPr>
          <a:xfrm>
            <a:off x="548640" y="118872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01</a:t>
            </a:r>
            <a:endParaRPr lang="en-US" sz="1400" dirty="0"/>
          </a:p>
        </p:txBody>
      </p:sp>
      <p:sp>
        <p:nvSpPr>
          <p:cNvPr id="7" name="Text 5"/>
          <p:cNvSpPr/>
          <p:nvPr/>
        </p:nvSpPr>
        <p:spPr>
          <a:xfrm>
            <a:off x="1097280" y="118872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Hallmarks of liver cancer: Therapeutic implications.</a:t>
            </a:r>
            <a:endParaRPr lang="en-US" sz="1100" dirty="0"/>
          </a:p>
        </p:txBody>
      </p:sp>
      <p:sp>
        <p:nvSpPr>
          <p:cNvPr id="8" name="Text 6"/>
          <p:cNvSpPr/>
          <p:nvPr/>
        </p:nvSpPr>
        <p:spPr>
          <a:xfrm>
            <a:off x="548640" y="169164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02</a:t>
            </a:r>
            <a:endParaRPr lang="en-US" sz="1400" dirty="0"/>
          </a:p>
        </p:txBody>
      </p:sp>
      <p:sp>
        <p:nvSpPr>
          <p:cNvPr id="9" name="Text 7"/>
          <p:cNvSpPr/>
          <p:nvPr/>
        </p:nvSpPr>
        <p:spPr>
          <a:xfrm>
            <a:off x="1097280" y="169164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Neoadjuvant stereotactic body radiation therapy plus immune therapy favorably remodel…</a:t>
            </a:r>
            <a:endParaRPr lang="en-US" sz="1100" dirty="0"/>
          </a:p>
        </p:txBody>
      </p:sp>
      <p:sp>
        <p:nvSpPr>
          <p:cNvPr id="10" name="Text 8"/>
          <p:cNvSpPr/>
          <p:nvPr/>
        </p:nvSpPr>
        <p:spPr>
          <a:xfrm>
            <a:off x="548640" y="219456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03</a:t>
            </a:r>
            <a:endParaRPr lang="en-US" sz="1400" dirty="0"/>
          </a:p>
        </p:txBody>
      </p:sp>
      <p:sp>
        <p:nvSpPr>
          <p:cNvPr id="11" name="Text 9"/>
          <p:cNvSpPr/>
          <p:nvPr/>
        </p:nvSpPr>
        <p:spPr>
          <a:xfrm>
            <a:off x="1097280" y="219456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Erratum: Hepatectomy alters adjuvant anti-PD-1 action in a mouse model of HCC but doe…</a:t>
            </a:r>
            <a:endParaRPr lang="en-US" sz="1100" dirty="0"/>
          </a:p>
        </p:txBody>
      </p:sp>
      <p:sp>
        <p:nvSpPr>
          <p:cNvPr id="12" name="Text 10"/>
          <p:cNvSpPr/>
          <p:nvPr/>
        </p:nvSpPr>
        <p:spPr>
          <a:xfrm>
            <a:off x="548640" y="269748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04</a:t>
            </a:r>
            <a:endParaRPr lang="en-US" sz="1400" dirty="0"/>
          </a:p>
        </p:txBody>
      </p:sp>
      <p:sp>
        <p:nvSpPr>
          <p:cNvPr id="13" name="Text 11"/>
          <p:cNvSpPr/>
          <p:nvPr/>
        </p:nvSpPr>
        <p:spPr>
          <a:xfrm>
            <a:off x="1097280" y="269748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Intratumoral Lactobacillus johnsonii Enhances Sensitivity to PD-1 Blockade by Inducin…</a:t>
            </a:r>
            <a:endParaRPr lang="en-US" sz="1100" dirty="0"/>
          </a:p>
        </p:txBody>
      </p:sp>
      <p:sp>
        <p:nvSpPr>
          <p:cNvPr id="14" name="Text 12"/>
          <p:cNvSpPr/>
          <p:nvPr/>
        </p:nvSpPr>
        <p:spPr>
          <a:xfrm>
            <a:off x="548640" y="320040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05</a:t>
            </a:r>
            <a:endParaRPr lang="en-US" sz="1400" dirty="0"/>
          </a:p>
        </p:txBody>
      </p:sp>
      <p:sp>
        <p:nvSpPr>
          <p:cNvPr id="15" name="Text 13"/>
          <p:cNvSpPr/>
          <p:nvPr/>
        </p:nvSpPr>
        <p:spPr>
          <a:xfrm>
            <a:off x="1097280" y="320040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Cancer-Associated Fibroblasts Promote Tumor Immunosuppression in Hepatocellular Carci…</a:t>
            </a:r>
            <a:endParaRPr lang="en-US" sz="1100" dirty="0"/>
          </a:p>
        </p:txBody>
      </p:sp>
      <p:sp>
        <p:nvSpPr>
          <p:cNvPr id="16" name="Text 14"/>
          <p:cNvSpPr/>
          <p:nvPr/>
        </p:nvSpPr>
        <p:spPr>
          <a:xfrm>
            <a:off x="548640" y="370332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06</a:t>
            </a:r>
            <a:endParaRPr lang="en-US" sz="1400" dirty="0"/>
          </a:p>
        </p:txBody>
      </p:sp>
      <p:sp>
        <p:nvSpPr>
          <p:cNvPr id="17" name="Text 15"/>
          <p:cNvSpPr/>
          <p:nvPr/>
        </p:nvSpPr>
        <p:spPr>
          <a:xfrm>
            <a:off x="1097280" y="370332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Selective depletion of virus-specific CD8 T cells from the liver after PD-1 therapy w…</a:t>
            </a:r>
            <a:endParaRPr lang="en-US" sz="1100" dirty="0"/>
          </a:p>
        </p:txBody>
      </p:sp>
      <p:sp>
        <p:nvSpPr>
          <p:cNvPr id="18" name="Text 16"/>
          <p:cNvSpPr/>
          <p:nvPr/>
        </p:nvSpPr>
        <p:spPr>
          <a:xfrm>
            <a:off x="548640" y="420624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07</a:t>
            </a:r>
            <a:endParaRPr lang="en-US" sz="1400" dirty="0"/>
          </a:p>
        </p:txBody>
      </p:sp>
      <p:sp>
        <p:nvSpPr>
          <p:cNvPr id="19" name="Text 17"/>
          <p:cNvSpPr/>
          <p:nvPr/>
        </p:nvSpPr>
        <p:spPr>
          <a:xfrm>
            <a:off x="1097280" y="420624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 plus transarterial chemoembolization and PD-1 inhibitors as conversion therapies fo…</a:t>
            </a:r>
            <a:endParaRPr lang="en-US" sz="1100" dirty="0"/>
          </a:p>
        </p:txBody>
      </p:sp>
      <p:sp>
        <p:nvSpPr>
          <p:cNvPr id="20" name="Text 18"/>
          <p:cNvSpPr/>
          <p:nvPr/>
        </p:nvSpPr>
        <p:spPr>
          <a:xfrm>
            <a:off x="548640" y="470916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08</a:t>
            </a:r>
            <a:endParaRPr lang="en-US" sz="1400" dirty="0"/>
          </a:p>
        </p:txBody>
      </p:sp>
      <p:sp>
        <p:nvSpPr>
          <p:cNvPr id="21" name="Text 19"/>
          <p:cNvSpPr/>
          <p:nvPr/>
        </p:nvSpPr>
        <p:spPr>
          <a:xfrm>
            <a:off x="1097280" y="470916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The Efficacy and Safety of Atezolizumab Plus Bevacizumab after Durvalumab Plus Tremel…</a:t>
            </a:r>
            <a:endParaRPr lang="en-US" sz="1100" dirty="0"/>
          </a:p>
        </p:txBody>
      </p:sp>
      <p:sp>
        <p:nvSpPr>
          <p:cNvPr id="22" name="Text 20"/>
          <p:cNvSpPr/>
          <p:nvPr/>
        </p:nvSpPr>
        <p:spPr>
          <a:xfrm>
            <a:off x="548640" y="521208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09</a:t>
            </a:r>
            <a:endParaRPr lang="en-US" sz="1400" dirty="0"/>
          </a:p>
        </p:txBody>
      </p:sp>
      <p:sp>
        <p:nvSpPr>
          <p:cNvPr id="23" name="Text 21"/>
          <p:cNvSpPr/>
          <p:nvPr/>
        </p:nvSpPr>
        <p:spPr>
          <a:xfrm>
            <a:off x="1097280" y="521208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Prognostic nutritional index and the survival of patients with hepatocellular carcino…</a:t>
            </a:r>
            <a:endParaRPr lang="en-US" sz="1100" dirty="0"/>
          </a:p>
        </p:txBody>
      </p:sp>
      <p:sp>
        <p:nvSpPr>
          <p:cNvPr id="24" name="Text 22"/>
          <p:cNvSpPr/>
          <p:nvPr/>
        </p:nvSpPr>
        <p:spPr>
          <a:xfrm>
            <a:off x="548640" y="5715000"/>
            <a:ext cx="457200" cy="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10</a:t>
            </a:r>
            <a:endParaRPr lang="en-US" sz="1400" dirty="0"/>
          </a:p>
        </p:txBody>
      </p:sp>
      <p:sp>
        <p:nvSpPr>
          <p:cNvPr id="25" name="Text 23"/>
          <p:cNvSpPr/>
          <p:nvPr/>
        </p:nvSpPr>
        <p:spPr>
          <a:xfrm>
            <a:off x="1097280" y="5715000"/>
            <a:ext cx="10515600" cy="0"/>
          </a:xfrm>
          <a:prstGeom prst="rect">
            <a:avLst/>
          </a:prstGeom>
          <a:noFill/>
          <a:ln/>
        </p:spPr>
        <p:txBody>
          <a:bodyPr wrap="square" rtlCol="0" anchor="ctr"/>
          <a:lstStyle/>
          <a:p>
            <a:pPr indent="0" marL="0">
              <a:buNone/>
            </a:pPr>
            <a:r>
              <a:rPr lang="en-US" sz="1100" dirty="0">
                <a:solidFill>
                  <a:srgbClr val="1E1E1E"/>
                </a:solidFill>
                <a:latin typeface="Arial" pitchFamily="34" charset="0"/>
                <a:ea typeface="Arial" pitchFamily="34" charset="-122"/>
                <a:cs typeface="Arial" pitchFamily="34" charset="-120"/>
              </a:rPr>
              <a:t>Radiotherapy versus local ablation therapy for the treatment of hepatocellular carcin…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Hallmarks of liver cancer: Therapeutic implications.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Cell  ·  IF 45.5  ·  Review  ·  📅 2026-04-17</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Llovet Josep M, Pinyol Roser, Affo Silvia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hallmarks of cancer provide a framework for understanding liver cancer, particularly HCC and iCCA.</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HCC exhibits key hallmarks such as sustaining proliferative signaling, inducing vasculature, and avoiding immune detection.</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Immunotherapies have significantly improved outcomes for patients with advanced HCC over the past two decades.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iCCA shows hallmarks like deregulating cellular metabolism and has specific alterations suitable for precision oncology.</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Emerging therapeutic strategies are being developed to enhance liver cancer management based on these hallmarks.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癌症的特徵為理解肝癌，尤其是HCC和iCCA，提供了框架。</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HCC的主要特徵包括持續增殖信號、誘導血管形成和避免免疫檢測。</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在過去二十年中，免疫治療顯著改善了晚期HCC患者的預後。</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iCCA顯示出如去調節細胞代謝等特徵，並具有適合精準醫療的特定變化。</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基於這些特徵，正在開發新興的治療策略以增強肝癌管理。</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10.1016/j.cell.2026.03.001</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Hallmarks of liver cancer: Therapeutic implications.</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identification of key hallmarks in liver cancer has led to improved therapeutic strategies, particularly with the advent of immunotherapies for HCC. </a:t>
            </a:r>
            <a:endParaRPr lang="en-US" sz="1000" dirty="0"/>
          </a:p>
          <a:p>
            <a:pPr indent="0" marL="0">
              <a:lnSpc>
                <a:spcPct val="140000"/>
              </a:lnSpc>
              <a:buNone/>
            </a:pPr>
            <a:r>
              <a:rPr lang="en-US" sz="1000" dirty="0">
                <a:solidFill>
                  <a:srgbClr val="1E1E1E"/>
                </a:solidFill>
              </a:rPr>
              <a:t>ZH: 肝癌關鍵特徵的識別促進了治療策略的改善，特別是HCC的免疫治療的出現。</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research should focus on further elucidating the molecular mechanisms underlying these hallmarks to develop targeted therapies. </a:t>
            </a:r>
            <a:endParaRPr lang="en-US" sz="1000" dirty="0"/>
          </a:p>
          <a:p>
            <a:pPr indent="0" marL="0">
              <a:lnSpc>
                <a:spcPct val="140000"/>
              </a:lnSpc>
              <a:buNone/>
            </a:pPr>
            <a:r>
              <a:rPr lang="en-US" sz="1000" dirty="0">
                <a:solidFill>
                  <a:srgbClr val="1E1E1E"/>
                </a:solidFill>
              </a:rPr>
              <a:t>ZH: 未來的研究應集中於進一步闡明這些特徵背後的分子機制，以開發靶向療法。</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Neoadjuvant stereotactic body radiation therapy plus immune therapy favorably remodels the hepatocellular carcinoma tumor microenvironment.</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Clinical cancer research : an official journal of the American Association for Cancer Research  ·  IF 11.5  ·  Prospective Study  ·  📅 2026-04-15</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Cosner Zoe, Guo Zhoubo, Nawrocki Cole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Neoadjuvant stereotactic body radiation therapy (SBRT) combined with immune therapy is safe for patients with initially resectable hepatocellular carcinoma (HCC).</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Only one patient experienced a grade 3 treatment-related adverse event, demonstrating a favorable safety profile.</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All patients who underwent surgery achieved margin-negative (R0) resection, with one patient achieving a pathologic complete response.</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Post-treatment tumor specimens exhibited significantly increased anti-cancer immune infiltration compared to treatment-naïve specimens.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level of immune infiltration correlated with pre-operative radiographic response, indicating potential predictive value.</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新輔助立體定向放射治療（SBRT）結合免疫治療對於最初可切除的肝細胞癌（HCC）患者是安全的。</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僅有一名患者經歷了3級治療相關不良事件，顯示出良好的安全性。</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所有接受手術的患者均達到邊緣陰性（R0）切除，其中一名患者達到病理完全緩解。</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與未治療的腫瘤樣本相比，治療後的腫瘤樣本顯示出顯著增加的抗癌免疫浸潤。</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免疫浸潤的程度與術前影像學反應相關，顯示出潛在的預測價值。</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10.1158/1078-0432.CCR-25-4779</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Neoadjuvant stereotactic body radiation therapy plus immune therapy favorably remodels the hepatocel…</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This study highlights the potential of combining neoadjuvant SBRT with immune therapy to enhance treatment outcomes in HCC patients. </a:t>
            </a:r>
            <a:endParaRPr lang="en-US" sz="1000" dirty="0"/>
          </a:p>
          <a:p>
            <a:pPr indent="0" marL="0">
              <a:lnSpc>
                <a:spcPct val="140000"/>
              </a:lnSpc>
              <a:buNone/>
            </a:pPr>
            <a:r>
              <a:rPr lang="en-US" sz="1000" dirty="0">
                <a:solidFill>
                  <a:srgbClr val="1E1E1E"/>
                </a:solidFill>
              </a:rPr>
              <a:t>ZH: 本研究突顯了將新輔助SBRT與免疫治療結合的潛力，以改善HCC患者的治療結果。</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studies should focus on larger cohorts to validate these findings and explore the mechanisms underlying immune remodeling. </a:t>
            </a:r>
            <a:endParaRPr lang="en-US" sz="1000" dirty="0"/>
          </a:p>
          <a:p>
            <a:pPr indent="0" marL="0">
              <a:lnSpc>
                <a:spcPct val="140000"/>
              </a:lnSpc>
              <a:buNone/>
            </a:pPr>
            <a:r>
              <a:rPr lang="en-US" sz="1000" dirty="0">
                <a:solidFill>
                  <a:srgbClr val="1E1E1E"/>
                </a:solidFill>
              </a:rPr>
              <a:t>ZH: 未來的研究應集中於更大樣本量以驗證這些發現，並探討免疫重塑的機制。</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03</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Erratum: Hepatectomy alters adjuvant anti-PD-1 action in a mouse model of HCC but does not compromise neoadjuvant efficacy.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Hepatology (Baltimore, Md.)  ·  IF 12.9  ·  Basic Research  ·  📅 2026-04-16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Bouguerra Roqiya, El Hajji Sofia, Wassmer Charles-Henri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Hepatectomy changes the effectiveness of adjuvant anti-PD-1 therapy in mouse models of HCC.</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Neoadjuvant anti-PD-1 therapy remains effective even after hepatectomy.</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study highlights the need to consider surgical interventions when evaluating immunotherapy outcomes.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肝切除手術改變了HCC小鼠模型中輔助抗PD-1療法的有效性。</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即使在肝切除後，術前抗PD-1療法仍然有效。</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這項研究強調在評估免疫療法效果時需要考慮手術干預。</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10.1097/HEP.0000000000001731</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03</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Erratum: Hepatectomy alters adjuvant anti-PD-1 action in a mouse model of HCC but does not compromis…</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findings suggest that surgical interventions can significantly impact the efficacy of adjuvant immunotherapy in HCC patients. Clinicians should consider the timing and type of immunotherapy in relation to surgical procedures. </a:t>
            </a:r>
            <a:endParaRPr lang="en-US" sz="1000" dirty="0"/>
          </a:p>
          <a:p>
            <a:pPr indent="0" marL="0">
              <a:lnSpc>
                <a:spcPct val="140000"/>
              </a:lnSpc>
              <a:buNone/>
            </a:pPr>
            <a:r>
              <a:rPr lang="en-US" sz="1000" dirty="0">
                <a:solidFill>
                  <a:srgbClr val="1E1E1E"/>
                </a:solidFill>
              </a:rPr>
              <a:t>ZH: 研究結果表明，手術干預可能會顯著影響HCC患者輔助免疫療法的有效性。臨床醫生應考慮免疫療法的時間和類型與手術程序的關係。</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research should focus on the mechanisms by which hepatectomy alters immunotherapy responses. Additionally, clinical trials are needed to optimize treatment strategies combining surgery and immunotherapy. </a:t>
            </a:r>
            <a:endParaRPr lang="en-US" sz="1000" dirty="0"/>
          </a:p>
          <a:p>
            <a:pPr indent="0" marL="0">
              <a:lnSpc>
                <a:spcPct val="140000"/>
              </a:lnSpc>
              <a:buNone/>
            </a:pPr>
            <a:r>
              <a:rPr lang="en-US" sz="1000" dirty="0">
                <a:solidFill>
                  <a:srgbClr val="1E1E1E"/>
                </a:solidFill>
              </a:rPr>
              <a:t>ZH: 未來的研究應著重於肝切除手術如何改變免疫療法反應的機制。此外，需要進行臨床試驗以優化結合手術和免疫療法的治療策略。</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04</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Intratumoral Lactobacillus johnsonii Enhances Sensitivity to PD-1 Blockade by Inducing CD8+ T-cell Expansion in Hepatocellular Carcinoma.</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Cancer research  ·  IF 12.7  ·  Basic Research  ·  📅 2026-04-15</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Liu Qianshi, Liu Yiqiang, Zhou Yue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Lactobacillus johnsonii is enriched in patients with relapse-free hepatocellular carcinoma (HCC) and serves as an independent prognostic predictor of disease-free survival.</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Higher levels of intratumoral L. johnsonii correlate with increased abundance of IFNγ+PD-1+CD8+ T cells.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Nicotinic acid, a metabolite from L. johnsonii, expands IFNγ+PD-1+CD8+ T cells and enhances effector and exhaustion markers.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L. johnsonii and nicotinic acid activate the NF-κB pathway, leading to increased IFNγ production and sustained PD-1 expression on CD8+ T cells.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Combining L. johnsonii or nicotinic acid with anti-PD-1 therapy synergistically inhibits tumor relapse and growth.</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Lactobacillus johnsonii 在無復發的肝細胞癌（HCC）患者中豐富，並作為無病生存的獨立預後指標。</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腫瘤內 L. johnsonii 的較高水平與 IFNγ+PD-1+CD8+ T 細胞的增加相關。</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L. johnsonii 的代謝產物煙酸擴展 IFNγ+PD-1+CD8+ T 細胞並增強效應和耗竭標記。</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L. johnsonii 和煙酸激活 NF-κB 通路，導致 IFNγ 產生增加和 CD8+ T 細胞上持續的 PD-1 表達。</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將 L. johnsonii 或煙酸與抗 PD-1 治療結合可協同抑制腫瘤復發和生長。</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10.1158/0008-5472.CAN-25-0346</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04</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Intratumoral Lactobacillus johnsonii Enhances Sensitivity to PD-1 Blockade by Inducing CD8+ T-cell E…</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presence of Lactobacillus johnsonii in HCC patients may serve as a novel biomarker for predicting disease-free survival, suggesting potential therapeutic implications. </a:t>
            </a:r>
            <a:endParaRPr lang="en-US" sz="1000" dirty="0"/>
          </a:p>
          <a:p>
            <a:pPr indent="0" marL="0">
              <a:lnSpc>
                <a:spcPct val="140000"/>
              </a:lnSpc>
              <a:buNone/>
            </a:pPr>
            <a:r>
              <a:rPr lang="en-US" sz="1000" dirty="0">
                <a:solidFill>
                  <a:srgbClr val="1E1E1E"/>
                </a:solidFill>
              </a:rPr>
              <a:t>ZH: Lactobacillus johnsonii 在 HCC 患者中的存在可能作為預測無病生存的新型生物標誌物，暗示潛在的治療意義。</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research should explore the clinical application of Lactobacillus johnsonii and its metabolites in combination with immunotherapies for HCC. </a:t>
            </a:r>
            <a:endParaRPr lang="en-US" sz="1000" dirty="0"/>
          </a:p>
          <a:p>
            <a:pPr indent="0" marL="0">
              <a:lnSpc>
                <a:spcPct val="140000"/>
              </a:lnSpc>
              <a:buNone/>
            </a:pPr>
            <a:r>
              <a:rPr lang="en-US" sz="1000" dirty="0">
                <a:solidFill>
                  <a:srgbClr val="1E1E1E"/>
                </a:solidFill>
              </a:rPr>
              <a:t>ZH: 未來的研究應探索 Lactobacillus johnsonii 及其代謝產物與 HCC 免疫療法結合的臨床應用。</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05</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Cancer-Associated Fibroblasts Promote Tumor Immunosuppression in Hepatocellular Carcinoma via the NNMT-ANGPTL4 Axis.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Advanced science (Weinheim, Baden-Wurttemberg, Germany)  ·  Basic Research  ·  🌏 Asia  ·  📅 2026-04-14</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Lu Shounan, Ke Shanjia, Yu Hongjun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Cancer-associated fibroblasts (CAFs) promote immunosuppression in hepatocellular carcinoma (HCC) through the NNMT-ANGPTL4 axis.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High expression of nicotinamide N-methyltransferase (NNMT) in CAFs reduces H3K27me3 enrichment at the ANGPTL4 promoter, leading to increased ANGPTL4 secretion.</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ANGPTL4 enhances aerobic glycolysis in HCC cells and upregulates PD-L1 expression, facilitating tumor immune evasion.</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Targeting the NNMT-ANGPTL4 axis restores CD8+ T-cell activity and enhances the efficacy of anti-PD-L1 therapy.</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This study uncovers a metabolic-epigenetic cascade in CAFs that contributes to immune evasion in HCC.</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癌症相關成纖維細胞（CAFs）通過NNMT-ANGPTL4軸促進肝細胞癌（HCC）的免疫抑制。</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CAFs中高表達的煙酰胺N-甲基轉移酶（NNMT）減少ANGPTL4啟動子處的H3K27me3富集，導致ANGPTL4分泌增加。</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ANGPTL4增強HCC細胞的有氧糖解作用並上調PD-L1表達，促進腫瘤免疫逃逸。</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針對NNMT-ANGPTL4軸可恢復CD8+ T細胞活性並增強抗PD-L1療法的療效。</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本研究揭示了CAFs中促進免疫逃逸的代謝-表觀遺傳級聯反應。</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10.1002/advs.202521418</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05</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Cancer-Associated Fibroblasts Promote Tumor Immunosuppression in Hepatocellular Carcinoma via the NN…</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Targeting the NNMT-ANGPTL4 axis may provide a novel therapeutic strategy to enhance immune responses in HCC patients. </a:t>
            </a:r>
            <a:endParaRPr lang="en-US" sz="1000" dirty="0"/>
          </a:p>
          <a:p>
            <a:pPr indent="0" marL="0">
              <a:lnSpc>
                <a:spcPct val="140000"/>
              </a:lnSpc>
              <a:buNone/>
            </a:pPr>
            <a:r>
              <a:rPr lang="en-US" sz="1000" dirty="0">
                <a:solidFill>
                  <a:srgbClr val="1E1E1E"/>
                </a:solidFill>
              </a:rPr>
              <a:t>ZH: 針對NNMT-ANGPTL4軸可能為增強HCC患者免疫反應提供新的治療策略。</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studies should explore the clinical implications of targeting the NNMT-ANGPTL4 axis in combination with existing immunotherapies. </a:t>
            </a:r>
            <a:endParaRPr lang="en-US" sz="1000" dirty="0"/>
          </a:p>
          <a:p>
            <a:pPr indent="0" marL="0">
              <a:lnSpc>
                <a:spcPct val="140000"/>
              </a:lnSpc>
              <a:buNone/>
            </a:pPr>
            <a:r>
              <a:rPr lang="en-US" sz="1000" dirty="0">
                <a:solidFill>
                  <a:srgbClr val="1E1E1E"/>
                </a:solidFill>
              </a:rPr>
              <a:t>ZH: 未來的研究應探討將NNMT-ANGPTL4軸作為與現有免疫療法聯合使用的臨床意義。</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06</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Selective depletion of virus-specific CD8 T cells from the liver after PD-1 therapy with Fc-intact antibody during chronic infection.</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Proceedings of the National Academy of Sciences of the United States of America  ·  Basic Research  ·  🌏 Asia  ·  📅 2026-04-08</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Hashimoto Masao, Nasti Tahseen H, Jin Hyun-Tak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Mouse anti-mouse PD-1 antibodies preferentially deplete PD-1+ virus-specific CD8 T cells in the liver, increasing viral titers.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depletion of CD8 T cells is Fc-dependent, with mutations in the Fc region preventing this effect and leading to effective immunotherapy.</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Depletion is mediated by activating Fc gamma receptor III and involves phagocytic cells rather than natural killer cells.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Similar effects were observed in tumor-specific CD8 T cells in the CT26 model, indicating potential negative impacts on tumor control.</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findings suggest that Fc-functional anti-PD-1 antibodies may have adverse effects in liver cancer and chronic viral infections.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小鼠抗小鼠PD-1抗體優先耗竭肝臟中的PD-1+病毒特異性CD8 T細胞，導致病毒滴度增加。</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CD8 T細胞的耗竭依賴於Fc區域，Fc區域的突變可防止此效應並導致有效的免疫療法。</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耗竭是通過激活Fc伽瑪受體III介導的，並涉及吞噬細胞而非自然殺手細胞。</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在CT26模型中觀察到類似的腫瘤特異性CD8 T細胞耗竭，表明對腫瘤控制的潛在負面影響。</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研究結果表明，Fc功能性抗PD-1抗體在肝癌和慢性病毒感染中可能具有不利影響。</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10.1073/pnas.2427192123</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06</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Selective depletion of virus-specific CD8 T cells from the liver after PD-1 therapy with Fc-intact a…</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study highlights the need to consider the Fc region of anti-PD-1 antibodies in clinical settings, particularly in liver cancer therapies. </a:t>
            </a:r>
            <a:endParaRPr lang="en-US" sz="1000" dirty="0"/>
          </a:p>
          <a:p>
            <a:pPr indent="0" marL="0">
              <a:lnSpc>
                <a:spcPct val="140000"/>
              </a:lnSpc>
              <a:buNone/>
            </a:pPr>
            <a:r>
              <a:rPr lang="en-US" sz="1000" dirty="0">
                <a:solidFill>
                  <a:srgbClr val="1E1E1E"/>
                </a:solidFill>
              </a:rPr>
              <a:t>ZH: 這項研究強調在臨床環境中考慮抗PD-1抗體的Fc區域的必要性，特別是在肝癌療法中。</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research should focus on optimizing the Fc region of PD-1 antibodies to enhance therapeutic efficacy while minimizing adverse effects. </a:t>
            </a:r>
            <a:endParaRPr lang="en-US" sz="1000" dirty="0"/>
          </a:p>
          <a:p>
            <a:pPr indent="0" marL="0">
              <a:lnSpc>
                <a:spcPct val="140000"/>
              </a:lnSpc>
              <a:buNone/>
            </a:pPr>
            <a:r>
              <a:rPr lang="en-US" sz="1000" dirty="0">
                <a:solidFill>
                  <a:srgbClr val="1E1E1E"/>
                </a:solidFill>
              </a:rPr>
              <a:t>ZH: 未來的研究應集中於優化PD-1抗體的Fc區域，以增強治療效果並最小化不良影響。</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07</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 plus transarterial chemoembolization and PD-1 inhibitors as conversion therapies for unresectable intermediate-advanced hepatocellular carcinoma: a phase 2 trial …</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 and Targeted Therapy  ·  RCT Phase 2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X Zhang, H Cai, W Peng</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study evaluates the efficacy of combining transarterial chemoembolization (TACE) with PD-1 inhibitors for patients with unresectable intermediate-advanced hepatocellular carcinoma (uHCC).</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Results indicate that the combination therapy significantly improves treatment outcomes compared to TACE alone.</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trial demonstrates a favorable safety profile for the combination therapy, with manageable adverse effects.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本研究評估了將經動脈化學栓塞（TACE）與PD-1抑制劑結合用於不可切除的中晚期肝細胞癌（uHCC）患者的療效。</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結果顯示，聯合療法顯著改善了治療結果，相較於僅使用TACE。</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該試驗顯示聯合療法具有良好的安全性，副作用可控。</a:t>
            </a:r>
            <a:endParaRPr lang="en-US" sz="1000" dirty="0"/>
          </a:p>
        </p:txBody>
      </p:sp>
      <p:sp>
        <p:nvSpPr>
          <p:cNvPr id="13" name="Shape 11"/>
          <p:cNvSpPr/>
          <p:nvPr/>
        </p:nvSpPr>
        <p:spPr>
          <a:xfrm>
            <a:off x="0" y="6784848"/>
            <a:ext cx="12188952" cy="73152"/>
          </a:xfrm>
          <a:prstGeom prst="rect">
            <a:avLst/>
          </a:prstGeom>
          <a:solidFill>
            <a:srgbClr val="DC2626"/>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07</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 plus transarterial chemoembolization and PD-1 inhibitors as conversion therapies for unresectable …</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combination of TACE and PD-1 inhibitors presents a promising treatment strategy for patients with uHCC, potentially leading to better clinical outcomes. </a:t>
            </a:r>
            <a:endParaRPr lang="en-US" sz="1000" dirty="0"/>
          </a:p>
          <a:p>
            <a:pPr indent="0" marL="0">
              <a:lnSpc>
                <a:spcPct val="140000"/>
              </a:lnSpc>
              <a:buNone/>
            </a:pPr>
            <a:r>
              <a:rPr lang="en-US" sz="1000" dirty="0">
                <a:solidFill>
                  <a:srgbClr val="1E1E1E"/>
                </a:solidFill>
              </a:rPr>
              <a:t>ZH: TACE與PD-1抑制劑的聯合療法為uHCC患者提供了一種有前景的治療策略，可能導致更好的臨床結果。</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research should focus on optimizing the timing and dosing of combination therapies to enhance efficacy. </a:t>
            </a:r>
            <a:endParaRPr lang="en-US" sz="1000" dirty="0"/>
          </a:p>
          <a:p>
            <a:pPr indent="0" marL="0">
              <a:lnSpc>
                <a:spcPct val="140000"/>
              </a:lnSpc>
              <a:buNone/>
            </a:pPr>
            <a:r>
              <a:rPr lang="en-US" sz="1000" dirty="0">
                <a:solidFill>
                  <a:srgbClr val="1E1E1E"/>
                </a:solidFill>
              </a:rPr>
              <a:t>ZH: 未來的研究應集中於優化聯合療法的時機和劑量，以提高療效。</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08</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The Efficacy and Safety of Atezolizumab Plus Bevacizumab after Durvalumab Plus Tremelimumab for the Treatment of Hepatocellular Carcinoma.</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Internal medicine (Tokyo, Japan)  ·  Retrospective Study  ·  🌏 Asia  ·  📅 2026-04-16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Uchikawa Shinsuke, Kawaoka Tomokazu, Tanaka Aiko et al.</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Atezolizumab plus bevacizumab (Atez+Bev) demonstrated an objective response rate (ORR) of 25.0% and a disease control rate (DCR) of 75.0% as a second-line therapy after durvalumab plus tremelimumab (Dur+Tre).</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Two patients who were non-responsive to Dur+Tre achieved a tumor response with Atez+Bev, indicating potential efficacy in previously treated patients.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Common adverse events included pruritus for both regimens, while colitis and diarrhea were more prevalent in the Dur+Tre group, and proteinuria, hyperammonemia, and bleeding were more common in the Atez+Bev group.</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阿特珠單抗加貝伐單抗（Atez+Bev）作為二線療法在接受過德瓦利單抗加特瑞利單抗（Dur+Tre）治療的患者中顯示出25.0%的客觀反應率（ORR）和75.0%的疾病控制率（DCR）。</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兩名對Dur+Tre無反應的患者在接受Atez+Bev後達到了腫瘤反應，顯示出在先前治療患者中的潛在療效。</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兩種方案的常見不良事件均包括瘙癢，而Dur+Tre組的結腸炎和腹瀉更為常見，Atez+Bev組則更常見蛋白尿、高氨血症和出血。</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737373"/>
                </a:solidFill>
                <a:hlinkClick r:id="rId1" invalidUrl="" action="" tgtFrame="" tooltip="" history="1" highlightClick="0" endSnd="0">
                  <a:extLst>
                    <a:ext uri="{A12FA001-AC4F-418D-AE19-62706E023703}">
                      <ahyp:hlinkClr xmlns:ahyp="http://schemas.microsoft.com/office/drawing/2018/hyperlinkcolor" val="tx"/>
                    </a:ext>
                  </a:extLst>
                </a:hlinkClick>
              </a:rPr>
              <a:t>DOI: 10.2169/internalmedicine.6021-25</a:t>
            </a:r>
            <a:endParaRPr lang="en-US" sz="800" dirty="0"/>
          </a:p>
        </p:txBody>
      </p:sp>
      <p:sp>
        <p:nvSpPr>
          <p:cNvPr id="14" name="Shape 12"/>
          <p:cNvSpPr/>
          <p:nvPr/>
        </p:nvSpPr>
        <p:spPr>
          <a:xfrm>
            <a:off x="0" y="6784848"/>
            <a:ext cx="12188952" cy="73152"/>
          </a:xfrm>
          <a:prstGeom prst="rect">
            <a:avLst/>
          </a:prstGeom>
          <a:solidFill>
            <a:srgbClr val="DC2626"/>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08</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The Efficacy and Safety of Atezolizumab Plus Bevacizumab after Durvalumab Plus Tremelimumab for the …</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Atez+Bev may provide a beneficial treatment option for HCC patients who do not respond to prior immunotherapy with Dur+Tre. Clinicians should be aware of the differing safety profiles when considering sequential therapies. </a:t>
            </a:r>
            <a:endParaRPr lang="en-US" sz="1000" dirty="0"/>
          </a:p>
          <a:p>
            <a:pPr indent="0" marL="0">
              <a:lnSpc>
                <a:spcPct val="140000"/>
              </a:lnSpc>
              <a:buNone/>
            </a:pPr>
            <a:r>
              <a:rPr lang="en-US" sz="1000" dirty="0">
                <a:solidFill>
                  <a:srgbClr val="1E1E1E"/>
                </a:solidFill>
              </a:rPr>
              <a:t>ZH: Atez+Bev可能為對先前Dur+Tre免疫治療無反應的肝癌患者提供有益的治療選擇。臨床醫生在考慮序貫治療時應注意不同的安全性特徵。</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studies should focus on larger cohorts to validate the efficacy of Atez+Bev following Dur+Tre and explore the underlying mechanisms enhancing immune response. Additionally, research into managing adverse events specific to each regimen will be essential. </a:t>
            </a:r>
            <a:endParaRPr lang="en-US" sz="1000" dirty="0"/>
          </a:p>
          <a:p>
            <a:pPr indent="0" marL="0">
              <a:lnSpc>
                <a:spcPct val="140000"/>
              </a:lnSpc>
              <a:buNone/>
            </a:pPr>
            <a:r>
              <a:rPr lang="en-US" sz="1000" dirty="0">
                <a:solidFill>
                  <a:srgbClr val="1E1E1E"/>
                </a:solidFill>
              </a:rPr>
              <a:t>ZH: 未來的研究應集中在更大規模的隊列上，以驗證Atez+Bev在Dur+Tre後的療效，並探討增強免疫反應的潛在機制。此外，針對每種方案特定的不良事件管理的研究將是必不可少的。</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09</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Prognostic nutritional index and the survival of patients with hepatocellular carcinoma on immune checkpoint inhibitors: a meta-analysis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BMC cancer  ·  Meta-Analysis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J Fu, W Peng, J Jiang</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prognostic nutritional index (PNI) is a significant predictor of survival in HCC patients receiving immune checkpoint inhibitors.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Higher PNI scores correlate with improved overall survival rates in these patients.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study emphasizes the importance of nutritional status in the management of HCC during immunotherapy.</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預後營養指數（PNI）是接受免疫檢查點抑制劑的肝細胞癌患者生存的重要預測因子。</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較高的PNI分數與這些患者的整體生存率改善相關。</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該研究強調了在免疫療法期間管理肝細胞癌患者營養狀況的重要性。</a:t>
            </a:r>
            <a:endParaRPr lang="en-US" sz="1000" dirty="0"/>
          </a:p>
        </p:txBody>
      </p:sp>
      <p:sp>
        <p:nvSpPr>
          <p:cNvPr id="13" name="Shape 11"/>
          <p:cNvSpPr/>
          <p:nvPr/>
        </p:nvSpPr>
        <p:spPr>
          <a:xfrm>
            <a:off x="0" y="6784848"/>
            <a:ext cx="12188952" cy="73152"/>
          </a:xfrm>
          <a:prstGeom prst="rect">
            <a:avLst/>
          </a:prstGeom>
          <a:solidFill>
            <a:srgbClr val="DC2626"/>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09</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Prognostic nutritional index and the survival of patients with hepatocellular carcinoma on immune ch…</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findings suggest that monitoring and improving nutritional status may enhance treatment outcomes for HCC patients on ICIs. </a:t>
            </a:r>
            <a:endParaRPr lang="en-US" sz="1000" dirty="0"/>
          </a:p>
          <a:p>
            <a:pPr indent="0" marL="0">
              <a:lnSpc>
                <a:spcPct val="140000"/>
              </a:lnSpc>
              <a:buNone/>
            </a:pPr>
            <a:r>
              <a:rPr lang="en-US" sz="1000" dirty="0">
                <a:solidFill>
                  <a:srgbClr val="1E1E1E"/>
                </a:solidFill>
              </a:rPr>
              <a:t>ZH: 研究結果表明，監測和改善營養狀況可能會提高接受免疫檢查點抑制劑的肝細胞癌患者的治療效果。</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research should explore the mechanisms linking nutritional status and immune response in HCC patients. </a:t>
            </a:r>
            <a:endParaRPr lang="en-US" sz="1000" dirty="0"/>
          </a:p>
          <a:p>
            <a:pPr indent="0" marL="0">
              <a:lnSpc>
                <a:spcPct val="140000"/>
              </a:lnSpc>
              <a:buNone/>
            </a:pPr>
            <a:r>
              <a:rPr lang="en-US" sz="1000" dirty="0">
                <a:solidFill>
                  <a:srgbClr val="1E1E1E"/>
                </a:solidFill>
              </a:rPr>
              <a:t>ZH: 未來的研究應該探討營養狀況與肝細胞癌患者免疫反應之間的聯繫機制。</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10</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E1E1E"/>
                </a:solidFill>
                <a:latin typeface="Arial" pitchFamily="34" charset="0"/>
                <a:ea typeface="Arial" pitchFamily="34" charset="-122"/>
                <a:cs typeface="Arial" pitchFamily="34" charset="-120"/>
              </a:rPr>
              <a:t>Radiotherapy versus local ablation therapy for the treatment of hepatocellular carcinoma: A systematic review and meta-analysis.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737373"/>
                </a:solidFill>
              </a:rPr>
              <a:t>📰 Journal of Clinical …  ·  Meta-Analysis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737373"/>
                </a:solidFill>
              </a:rPr>
              <a:t>👥 SH Bae, SH Choi, SM Yoon</a:t>
            </a:r>
            <a:endParaRPr lang="en-US" sz="1000" dirty="0"/>
          </a:p>
        </p:txBody>
      </p:sp>
      <p:sp>
        <p:nvSpPr>
          <p:cNvPr id="8" name="Shape 6"/>
          <p:cNvSpPr/>
          <p:nvPr/>
        </p:nvSpPr>
        <p:spPr>
          <a:xfrm>
            <a:off x="548640" y="1783080"/>
            <a:ext cx="10515600" cy="18288"/>
          </a:xfrm>
          <a:prstGeom prst="rect">
            <a:avLst/>
          </a:prstGeom>
          <a:solidFill>
            <a:srgbClr val="D4D4D4"/>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Local ablation therapies, such as radiofrequency ablation (RFA) and microwave ablation, show significant efficacy in treating hepatocellular carcinoma (HCC).</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External beam radiotherapy (EBRT) was compared to local ablation therapies, revealing differences in local progression-free survival rates.</a:t>
            </a:r>
            <a:endParaRPr lang="en-US" sz="1000" dirty="0"/>
          </a:p>
          <a:p>
            <a:pPr marL="342900" indent="-342900">
              <a:lnSpc>
                <a:spcPct val="140000"/>
              </a:lnSpc>
              <a:buSzPct val="100000"/>
              <a:buChar char="●"/>
            </a:pPr>
            <a:r>
              <a:rPr lang="en-US" sz="1000" dirty="0">
                <a:solidFill>
                  <a:srgbClr val="1E1E1E"/>
                </a:solidFill>
                <a:latin typeface="Arial" pitchFamily="34" charset="0"/>
                <a:ea typeface="Arial" pitchFamily="34" charset="-122"/>
                <a:cs typeface="Arial" pitchFamily="34" charset="-120"/>
              </a:rPr>
              <a:t>The systematic review and meta-analysis indicate that local ablation may offer superior outcomes in specific patient populations.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DC2626"/>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局部消融療法，如射頻消融（RFA）和微波消融，在治療肝細胞癌（HCC）方面顯示出顯著的療效。</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外部放射治療（EBRT）與局部消融療法進行比較，顯示局部無進展生存率存在差異。</a:t>
            </a:r>
            <a:endParaRPr lang="en-US" sz="1000" dirty="0"/>
          </a:p>
          <a:p>
            <a:pPr marL="342900" indent="-342900">
              <a:lnSpc>
                <a:spcPct val="140000"/>
              </a:lnSpc>
              <a:buSzPct val="100000"/>
              <a:buChar char="●"/>
            </a:pPr>
            <a:r>
              <a:rPr lang="en-US" sz="1000" dirty="0">
                <a:solidFill>
                  <a:srgbClr val="1E1E1E"/>
                </a:solidFill>
                <a:latin typeface="Microsoft JhengHei" pitchFamily="34" charset="0"/>
                <a:ea typeface="Microsoft JhengHei" pitchFamily="34" charset="-122"/>
                <a:cs typeface="Microsoft JhengHei" pitchFamily="34" charset="-120"/>
              </a:rPr>
              <a:t>系統評價和荟萃分析表明，局部消融在特定患者群體中可能提供更優的療效。</a:t>
            </a:r>
            <a:endParaRPr lang="en-US" sz="1000" dirty="0"/>
          </a:p>
        </p:txBody>
      </p:sp>
      <p:sp>
        <p:nvSpPr>
          <p:cNvPr id="13" name="Shape 11"/>
          <p:cNvSpPr/>
          <p:nvPr/>
        </p:nvSpPr>
        <p:spPr>
          <a:xfrm>
            <a:off x="0" y="6784848"/>
            <a:ext cx="12188952" cy="73152"/>
          </a:xfrm>
          <a:prstGeom prst="rect">
            <a:avLst/>
          </a:prstGeom>
          <a:solidFill>
            <a:srgbClr val="DC2626"/>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C2626"/>
          </a:solidFill>
          <a:ln/>
        </p:spPr>
      </p:sp>
      <p:sp>
        <p:nvSpPr>
          <p:cNvPr id="3" name="Shape 1"/>
          <p:cNvSpPr/>
          <p:nvPr/>
        </p:nvSpPr>
        <p:spPr>
          <a:xfrm>
            <a:off x="10972800" y="0"/>
            <a:ext cx="1216152" cy="548640"/>
          </a:xfrm>
          <a:prstGeom prst="rect">
            <a:avLst/>
          </a:prstGeom>
          <a:solidFill>
            <a:srgbClr val="1E1E1E"/>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FCA5A5"/>
                </a:solidFill>
                <a:latin typeface="Arial" pitchFamily="34" charset="0"/>
                <a:ea typeface="Arial" pitchFamily="34" charset="-122"/>
                <a:cs typeface="Arial" pitchFamily="34" charset="-120"/>
              </a:rPr>
              <a:t>10</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E1E1E"/>
                </a:solidFill>
                <a:latin typeface="Arial" pitchFamily="34" charset="0"/>
                <a:ea typeface="Arial" pitchFamily="34" charset="-122"/>
                <a:cs typeface="Arial" pitchFamily="34" charset="-120"/>
              </a:rPr>
              <a:t>Radiotherapy versus local ablation therapy for the treatment of hepatocellular carcinoma: A systemat…</a:t>
            </a:r>
            <a:endParaRPr lang="en-US" sz="1400" dirty="0"/>
          </a:p>
        </p:txBody>
      </p:sp>
      <p:sp>
        <p:nvSpPr>
          <p:cNvPr id="6" name="Shape 4"/>
          <p:cNvSpPr/>
          <p:nvPr/>
        </p:nvSpPr>
        <p:spPr>
          <a:xfrm>
            <a:off x="548640" y="822960"/>
            <a:ext cx="10515600" cy="18288"/>
          </a:xfrm>
          <a:prstGeom prst="rect">
            <a:avLst/>
          </a:prstGeom>
          <a:solidFill>
            <a:srgbClr val="D4D4D4"/>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DC2626"/>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The findings suggest that local ablation therapies may be preferred for certain HCC patients due to better local progression-free survival. </a:t>
            </a:r>
            <a:endParaRPr lang="en-US" sz="1000" dirty="0"/>
          </a:p>
          <a:p>
            <a:pPr indent="0" marL="0">
              <a:lnSpc>
                <a:spcPct val="140000"/>
              </a:lnSpc>
              <a:buNone/>
            </a:pPr>
            <a:r>
              <a:rPr lang="en-US" sz="1000" dirty="0">
                <a:solidFill>
                  <a:srgbClr val="1E1E1E"/>
                </a:solidFill>
              </a:rPr>
              <a:t>ZH: 研究結果表明，對於某些HCC患者，局部消融療法可能因更好的局部無進展生存率而更受青睞。</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DC2626"/>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737373"/>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E1E1E"/>
                </a:solidFill>
              </a:rPr>
              <a:t>EN: Future studies should focus on identifying specific patient characteristics that predict better outcomes with local ablation versus EBRT. </a:t>
            </a:r>
            <a:endParaRPr lang="en-US" sz="1000" dirty="0"/>
          </a:p>
          <a:p>
            <a:pPr indent="0" marL="0">
              <a:lnSpc>
                <a:spcPct val="140000"/>
              </a:lnSpc>
              <a:buNone/>
            </a:pPr>
            <a:r>
              <a:rPr lang="en-US" sz="1000" dirty="0">
                <a:solidFill>
                  <a:srgbClr val="1E1E1E"/>
                </a:solidFill>
              </a:rPr>
              <a:t>ZH: 未來的研究應著重於識別預測局部消融相較於EBRT能獲得更好療效的特定患者特徵。</a:t>
            </a:r>
            <a:endParaRPr lang="en-US" sz="1000" dirty="0"/>
          </a:p>
        </p:txBody>
      </p:sp>
      <p:sp>
        <p:nvSpPr>
          <p:cNvPr id="15" name="Shape 13"/>
          <p:cNvSpPr/>
          <p:nvPr/>
        </p:nvSpPr>
        <p:spPr>
          <a:xfrm>
            <a:off x="0" y="6784848"/>
            <a:ext cx="12188952" cy="73152"/>
          </a:xfrm>
          <a:prstGeom prst="rect">
            <a:avLst/>
          </a:prstGeom>
          <a:solidFill>
            <a:srgbClr val="DC2626"/>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DC2626"/>
          </a:solidFill>
          <a:ln/>
        </p:spPr>
      </p:sp>
      <p:sp>
        <p:nvSpPr>
          <p:cNvPr id="3" name="Text 1"/>
          <p:cNvSpPr/>
          <p:nvPr/>
        </p:nvSpPr>
        <p:spPr>
          <a:xfrm>
            <a:off x="0" y="457200"/>
            <a:ext cx="12192000" cy="0"/>
          </a:xfrm>
          <a:prstGeom prst="rect">
            <a:avLst/>
          </a:prstGeom>
          <a:noFill/>
          <a:ln/>
        </p:spPr>
        <p:txBody>
          <a:bodyPr wrap="square" rtlCol="0" anchor="ctr"/>
          <a:lstStyle/>
          <a:p>
            <a:pPr algn="ctr" indent="0" marL="0">
              <a:buNone/>
            </a:pPr>
            <a:r>
              <a:rPr lang="en-US" sz="3600" dirty="0">
                <a:solidFill>
                  <a:srgbClr val="000000"/>
                </a:solidFill>
              </a:rPr>
              <a:t>💡</a:t>
            </a:r>
            <a:endParaRPr lang="en-US" sz="3600" dirty="0"/>
          </a:p>
        </p:txBody>
      </p:sp>
      <p:sp>
        <p:nvSpPr>
          <p:cNvPr id="4" name="Text 2"/>
          <p:cNvSpPr/>
          <p:nvPr/>
        </p:nvSpPr>
        <p:spPr>
          <a:xfrm>
            <a:off x="914400" y="1097280"/>
            <a:ext cx="10360152" cy="0"/>
          </a:xfrm>
          <a:prstGeom prst="rect">
            <a:avLst/>
          </a:prstGeom>
          <a:noFill/>
          <a:ln/>
        </p:spPr>
        <p:txBody>
          <a:bodyPr wrap="square" rtlCol="0" anchor="ctr"/>
          <a:lstStyle/>
          <a:p>
            <a:pPr algn="ctr" indent="0" marL="0">
              <a:buNone/>
            </a:pPr>
            <a:r>
              <a:rPr lang="en-US" sz="1800" b="1" spc="200" kern="0" dirty="0">
                <a:solidFill>
                  <a:srgbClr val="FCA5A5"/>
                </a:solidFill>
              </a:rPr>
              <a:t>OVERALL INSIGHTS &amp; FUTURE DIRECTIONS</a:t>
            </a:r>
            <a:endParaRPr lang="en-US" sz="1800" dirty="0"/>
          </a:p>
        </p:txBody>
      </p:sp>
      <p:sp>
        <p:nvSpPr>
          <p:cNvPr id="5" name="Text 3"/>
          <p:cNvSpPr/>
          <p:nvPr/>
        </p:nvSpPr>
        <p:spPr>
          <a:xfrm>
            <a:off x="914400" y="1554480"/>
            <a:ext cx="10360152" cy="0"/>
          </a:xfrm>
          <a:prstGeom prst="rect">
            <a:avLst/>
          </a:prstGeom>
          <a:noFill/>
          <a:ln/>
        </p:spPr>
        <p:txBody>
          <a:bodyPr wrap="square" rtlCol="0" anchor="ctr"/>
          <a:lstStyle/>
          <a:p>
            <a:pPr algn="ctr" indent="0" marL="0">
              <a:buNone/>
            </a:pPr>
            <a:r>
              <a:rPr lang="en-US" sz="1400" dirty="0">
                <a:solidFill>
                  <a:srgbClr val="737373"/>
                </a:solidFill>
                <a:latin typeface="Microsoft JhengHei" pitchFamily="34" charset="0"/>
                <a:ea typeface="Microsoft JhengHei" pitchFamily="34" charset="-122"/>
                <a:cs typeface="Microsoft JhengHei" pitchFamily="34" charset="-120"/>
              </a:rPr>
              <a:t>綜合啟示與未來研究方向</a:t>
            </a:r>
            <a:endParaRPr lang="en-US" sz="1400" dirty="0"/>
          </a:p>
        </p:txBody>
      </p:sp>
      <p:sp>
        <p:nvSpPr>
          <p:cNvPr id="6" name="Shape 4"/>
          <p:cNvSpPr/>
          <p:nvPr/>
        </p:nvSpPr>
        <p:spPr>
          <a:xfrm>
            <a:off x="4114800" y="1920240"/>
            <a:ext cx="3959352" cy="18288"/>
          </a:xfrm>
          <a:prstGeom prst="rect">
            <a:avLst/>
          </a:prstGeom>
          <a:solidFill>
            <a:srgbClr val="DC2626"/>
          </a:solidFill>
          <a:ln/>
        </p:spPr>
      </p:sp>
      <p:sp>
        <p:nvSpPr>
          <p:cNvPr id="7" name="Text 5"/>
          <p:cNvSpPr/>
          <p:nvPr/>
        </p:nvSpPr>
        <p:spPr>
          <a:xfrm>
            <a:off x="914400" y="2194560"/>
            <a:ext cx="10360152" cy="0"/>
          </a:xfrm>
          <a:prstGeom prst="rect">
            <a:avLst/>
          </a:prstGeom>
          <a:noFill/>
          <a:ln/>
        </p:spPr>
        <p:txBody>
          <a:bodyPr wrap="square" rtlCol="0" anchor="ctr"/>
          <a:lstStyle/>
          <a:p>
            <a:pPr indent="0" marL="0">
              <a:lnSpc>
                <a:spcPct val="150000"/>
              </a:lnSpc>
              <a:buNone/>
            </a:pPr>
            <a:r>
              <a:rPr lang="en-US" sz="1000" dirty="0">
                <a:solidFill>
                  <a:srgbClr val="F5F5F5"/>
                </a:solidFill>
              </a:rPr>
              <a:t>### 綜合啟示 (Overall Insights)</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1. **腫瘤微環境的重塑 (Remodeling of Tumor Microenvironment)**  </a:t>
            </a:r>
            <a:endParaRPr lang="en-US" sz="1000" dirty="0"/>
          </a:p>
          <a:p>
            <a:pPr indent="0" marL="0">
              <a:lnSpc>
                <a:spcPct val="150000"/>
              </a:lnSpc>
              <a:buNone/>
            </a:pPr>
            <a:r>
              <a:rPr lang="en-US" sz="1000" dirty="0">
                <a:solidFill>
                  <a:srgbClr val="F5F5F5"/>
                </a:solidFill>
              </a:rPr>
              <a:t>   免疫治療與局部消融的聯合應用能有效重塑肝細胞癌的腫瘤微環境，提升治療效果。  </a:t>
            </a:r>
            <a:endParaRPr lang="en-US" sz="1000" dirty="0"/>
          </a:p>
          <a:p>
            <a:pPr indent="0" marL="0">
              <a:lnSpc>
                <a:spcPct val="150000"/>
              </a:lnSpc>
              <a:buNone/>
            </a:pPr>
            <a:r>
              <a:rPr lang="en-US" sz="1000" dirty="0">
                <a:solidFill>
                  <a:srgbClr val="F5F5F5"/>
                </a:solidFill>
              </a:rPr>
              <a:t>   The combination of immune therapy and local ablation can effectively remodel the tumor microenvironment in hepatocellular carcinoma, enhancing treatment efficacy.</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2. **癌症相關成纖維細胞的角色 (Role of Cancer-Associated Fibroblasts)**  </a:t>
            </a:r>
            <a:endParaRPr lang="en-US" sz="1000" dirty="0"/>
          </a:p>
          <a:p>
            <a:pPr indent="0" marL="0">
              <a:lnSpc>
                <a:spcPct val="150000"/>
              </a:lnSpc>
              <a:buNone/>
            </a:pPr>
            <a:r>
              <a:rPr lang="en-US" sz="1000" dirty="0">
                <a:solidFill>
                  <a:srgbClr val="F5F5F5"/>
                </a:solidFill>
              </a:rPr>
              <a:t>   癌症相關成纖維細胞在肝細胞癌中促進免疫抑制，透過NNMT-ANGPTL4軸影響腫瘤進展。  </a:t>
            </a:r>
            <a:endParaRPr lang="en-US" sz="1000" dirty="0"/>
          </a:p>
          <a:p>
            <a:pPr indent="0" marL="0">
              <a:lnSpc>
                <a:spcPct val="150000"/>
              </a:lnSpc>
              <a:buNone/>
            </a:pPr>
            <a:r>
              <a:rPr lang="en-US" sz="1000" dirty="0">
                <a:solidFill>
                  <a:srgbClr val="F5F5F5"/>
                </a:solidFill>
              </a:rPr>
              <a:t>   Cancer-associated fibroblasts promote immunosuppression in hepatocellular carcinoma through the NNMT-ANGPTL4 axis, influencing tumor progression.</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3. **術後復發的挑戰 (Challenges of Postoperative Recurrence)**  </a:t>
            </a:r>
            <a:endParaRPr lang="en-US" sz="1000" dirty="0"/>
          </a:p>
          <a:p>
            <a:pPr indent="0" marL="0">
              <a:lnSpc>
                <a:spcPct val="150000"/>
              </a:lnSpc>
              <a:buNone/>
            </a:pPr>
            <a:r>
              <a:rPr lang="en-US" sz="1000" dirty="0">
                <a:solidFill>
                  <a:srgbClr val="F5F5F5"/>
                </a:solidFill>
              </a:rPr>
              <a:t>   雖然外科切除對早期肝細胞癌有效，但術後復發仍是主要臨床挑戰，需深入探討其機制。  </a:t>
            </a:r>
            <a:endParaRPr lang="en-US" sz="1000" dirty="0"/>
          </a:p>
          <a:p>
            <a:pPr indent="0" marL="0">
              <a:lnSpc>
                <a:spcPct val="150000"/>
              </a:lnSpc>
              <a:buNone/>
            </a:pPr>
            <a:r>
              <a:rPr lang="en-US" sz="1000" dirty="0">
                <a:solidFill>
                  <a:srgbClr val="F5F5F5"/>
                </a:solidFill>
              </a:rPr>
              <a:t>   While surgical resection is effective for early-stage hepatocellular carcinoma, postoperative recurrence remains a major clinical challenge, necessitating deeper exploration of its mechanisms.</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4. **免疫檢查點抑制劑的應用 (Application of Immune Checkpoint Inhibitors)**  </a:t>
            </a:r>
            <a:endParaRPr lang="en-US" sz="1000" dirty="0"/>
          </a:p>
          <a:p>
            <a:pPr indent="0" marL="0">
              <a:lnSpc>
                <a:spcPct val="150000"/>
              </a:lnSpc>
              <a:buNone/>
            </a:pPr>
            <a:r>
              <a:rPr lang="en-US" sz="1000" dirty="0">
                <a:solidFill>
                  <a:srgbClr val="F5F5F5"/>
                </a:solidFill>
              </a:rPr>
              <a:t>   免疫檢查點抑制劑在肝細胞癌中的應用顯示出良好的療效，但在不同階段的最佳使用策略尚不明確。  </a:t>
            </a:r>
            <a:endParaRPr lang="en-US" sz="1000" dirty="0"/>
          </a:p>
          <a:p>
            <a:pPr indent="0" marL="0">
              <a:lnSpc>
                <a:spcPct val="150000"/>
              </a:lnSpc>
              <a:buNone/>
            </a:pPr>
            <a:r>
              <a:rPr lang="en-US" sz="1000" dirty="0">
                <a:solidFill>
                  <a:srgbClr val="F5F5F5"/>
                </a:solidFill>
              </a:rPr>
              <a:t>   The application of immune checkpoint inhibitors in hepatocellular carcinoma shows promising efficacy, but optimal usage strategies across different stages remain unclear.</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5. **營養指數與預後的關聯 (Association of Nutritional Index with Prognosis)**  </a:t>
            </a:r>
            <a:endParaRPr lang="en-US" sz="1000" dirty="0"/>
          </a:p>
          <a:p>
            <a:pPr indent="0" marL="0">
              <a:lnSpc>
                <a:spcPct val="150000"/>
              </a:lnSpc>
              <a:buNone/>
            </a:pPr>
            <a:r>
              <a:rPr lang="en-US" sz="1000" dirty="0">
                <a:solidFill>
                  <a:srgbClr val="F5F5F5"/>
                </a:solidFill>
              </a:rPr>
              <a:t>   預後營養指數可能與接受免疫檢查點抑制劑的肝細胞癌患者的生存率相關，提示營養狀態的重要性。  </a:t>
            </a:r>
            <a:endParaRPr lang="en-US" sz="1000" dirty="0"/>
          </a:p>
          <a:p>
            <a:pPr indent="0" marL="0">
              <a:lnSpc>
                <a:spcPct val="150000"/>
              </a:lnSpc>
              <a:buNone/>
            </a:pPr>
            <a:r>
              <a:rPr lang="en-US" sz="1000" dirty="0">
                <a:solidFill>
                  <a:srgbClr val="F5F5F5"/>
                </a:solidFill>
              </a:rPr>
              <a:t>   The prognostic nutritional index may be associated with survival in hepatocellular carcinoma patients treated with immune checkpoint inhibitors, highlighting the importance of nutritional status.</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 未來研究方向 (Future Research Directions)</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1. **早期階段免疫治療的最佳化 (Optimization of Immune Therapy in Early Stages)**  </a:t>
            </a:r>
            <a:endParaRPr lang="en-US" sz="1000" dirty="0"/>
          </a:p>
          <a:p>
            <a:pPr indent="0" marL="0">
              <a:lnSpc>
                <a:spcPct val="150000"/>
              </a:lnSpc>
              <a:buNone/>
            </a:pPr>
            <a:r>
              <a:rPr lang="en-US" sz="1000" dirty="0">
                <a:solidFill>
                  <a:srgbClr val="F5F5F5"/>
                </a:solidFill>
              </a:rPr>
              <a:t>   需進一步研究免疫治療在早期肝細胞癌中的最佳使用時機與方案，以提高治療效果。  </a:t>
            </a:r>
            <a:endParaRPr lang="en-US" sz="1000" dirty="0"/>
          </a:p>
          <a:p>
            <a:pPr indent="0" marL="0">
              <a:lnSpc>
                <a:spcPct val="150000"/>
              </a:lnSpc>
              <a:buNone/>
            </a:pPr>
            <a:r>
              <a:rPr lang="en-US" sz="1000" dirty="0">
                <a:solidFill>
                  <a:srgbClr val="F5F5F5"/>
                </a:solidFill>
              </a:rPr>
              <a:t>   Further research is needed to optimize the timing and regimens of immune therapy in early-stage hepatocellular carcinoma to improve treatment outcomes.</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2. **癌症相關成纖維細胞的靶向治療 (Targeted Therapies Against Cancer-Associated Fibroblasts)**  </a:t>
            </a:r>
            <a:endParaRPr lang="en-US" sz="1000" dirty="0"/>
          </a:p>
          <a:p>
            <a:pPr indent="0" marL="0">
              <a:lnSpc>
                <a:spcPct val="150000"/>
              </a:lnSpc>
              <a:buNone/>
            </a:pPr>
            <a:r>
              <a:rPr lang="en-US" sz="1000" dirty="0">
                <a:solidFill>
                  <a:srgbClr val="F5F5F5"/>
                </a:solidFill>
              </a:rPr>
              <a:t>   探索針對癌症相關成纖維細胞的靶向治療，可能成為改善肝細胞癌患者預後的新策略。  </a:t>
            </a:r>
            <a:endParaRPr lang="en-US" sz="1000" dirty="0"/>
          </a:p>
          <a:p>
            <a:pPr indent="0" marL="0">
              <a:lnSpc>
                <a:spcPct val="150000"/>
              </a:lnSpc>
              <a:buNone/>
            </a:pPr>
            <a:r>
              <a:rPr lang="en-US" sz="1000" dirty="0">
                <a:solidFill>
                  <a:srgbClr val="F5F5F5"/>
                </a:solidFill>
              </a:rPr>
              <a:t>   Investigating targeted therapies against cancer-associated fibroblasts may become a novel strategy for improving prognosis in hepatocellular carcinoma patients.</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3. **術後管理與復發預防 (Postoperative Management and Recurrence Prevention)**  </a:t>
            </a:r>
            <a:endParaRPr lang="en-US" sz="1000" dirty="0"/>
          </a:p>
          <a:p>
            <a:pPr indent="0" marL="0">
              <a:lnSpc>
                <a:spcPct val="150000"/>
              </a:lnSpc>
              <a:buNone/>
            </a:pPr>
            <a:r>
              <a:rPr lang="en-US" sz="1000" dirty="0">
                <a:solidFill>
                  <a:srgbClr val="F5F5F5"/>
                </a:solidFill>
              </a:rPr>
              <a:t>   需開展研究以制定有效的術後管理方案，降低肝細胞癌的復發率，提高患者生存率。  </a:t>
            </a:r>
            <a:endParaRPr lang="en-US" sz="1000" dirty="0"/>
          </a:p>
          <a:p>
            <a:pPr indent="0" marL="0">
              <a:lnSpc>
                <a:spcPct val="150000"/>
              </a:lnSpc>
              <a:buNone/>
            </a:pPr>
            <a:r>
              <a:rPr lang="en-US" sz="1000" dirty="0">
                <a:solidFill>
                  <a:srgbClr val="F5F5F5"/>
                </a:solidFill>
              </a:rPr>
              <a:t>   Research should focus on developing effective postoperative management strategies to reduce recurrence rates in hepatocellular carcinoma and improve patient survival.</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4. **免疫治療與其他療法的聯合使用 (Combination of Immune Therapy with Other Treatments)**  </a:t>
            </a:r>
            <a:endParaRPr lang="en-US" sz="1000" dirty="0"/>
          </a:p>
          <a:p>
            <a:pPr indent="0" marL="0">
              <a:lnSpc>
                <a:spcPct val="150000"/>
              </a:lnSpc>
              <a:buNone/>
            </a:pPr>
            <a:r>
              <a:rPr lang="en-US" sz="1000" dirty="0">
                <a:solidFill>
                  <a:srgbClr val="F5F5F5"/>
                </a:solidFill>
              </a:rPr>
              <a:t>   探討免疫治療與其他治療方法（如局部消融、化療）的聯合使用，以增強療效。  </a:t>
            </a:r>
            <a:endParaRPr lang="en-US" sz="1000" dirty="0"/>
          </a:p>
          <a:p>
            <a:pPr indent="0" marL="0">
              <a:lnSpc>
                <a:spcPct val="150000"/>
              </a:lnSpc>
              <a:buNone/>
            </a:pPr>
            <a:r>
              <a:rPr lang="en-US" sz="1000" dirty="0">
                <a:solidFill>
                  <a:srgbClr val="F5F5F5"/>
                </a:solidFill>
              </a:rPr>
              <a:t>   Investigating the combination of immune therapy with other treatment modalities (such as local ablation and chemotherapy) to enhance efficacy.</a:t>
            </a:r>
            <a:endParaRPr lang="en-US" sz="1000" dirty="0"/>
          </a:p>
          <a:p>
            <a:pPr indent="0" marL="0">
              <a:lnSpc>
                <a:spcPct val="150000"/>
              </a:lnSpc>
              <a:buNone/>
            </a:pPr>
            <a:endParaRPr lang="en-US" sz="1000" dirty="0"/>
          </a:p>
          <a:p>
            <a:pPr indent="0" marL="0">
              <a:lnSpc>
                <a:spcPct val="150000"/>
              </a:lnSpc>
              <a:buNone/>
            </a:pPr>
            <a:r>
              <a:rPr lang="en-US" sz="1000" dirty="0">
                <a:solidFill>
                  <a:srgbClr val="F5F5F5"/>
                </a:solidFill>
              </a:rPr>
              <a:t>5. **生物標記物的發現與應用 (Discovery and Application of Biomarkers)**  </a:t>
            </a:r>
            <a:endParaRPr lang="en-US" sz="1000" dirty="0"/>
          </a:p>
          <a:p>
            <a:pPr indent="0" marL="0">
              <a:lnSpc>
                <a:spcPct val="150000"/>
              </a:lnSpc>
              <a:buNone/>
            </a:pPr>
            <a:r>
              <a:rPr lang="en-US" sz="1000" dirty="0">
                <a:solidFill>
                  <a:srgbClr val="F5F5F5"/>
                </a:solidFill>
              </a:rPr>
              <a:t>   研究生物標記物的潛力，以預測肝細胞癌患者對免疫治療的反應，從而個性化治療。  </a:t>
            </a:r>
            <a:endParaRPr lang="en-US" sz="1000" dirty="0"/>
          </a:p>
          <a:p>
            <a:pPr indent="0" marL="0">
              <a:lnSpc>
                <a:spcPct val="150000"/>
              </a:lnSpc>
              <a:buNone/>
            </a:pPr>
            <a:r>
              <a:rPr lang="en-US" sz="1000" dirty="0">
                <a:solidFill>
                  <a:srgbClr val="F5F5F5"/>
                </a:solidFill>
              </a:rPr>
              <a:t>   Researching the potential of biomarkers to predict responses to immune therapy in hepatocellular carcinoma patients, allowing for personalized treatment approaches.</a:t>
            </a:r>
            <a:endParaRPr lang="en-US" sz="1000" dirty="0"/>
          </a:p>
        </p:txBody>
      </p:sp>
      <p:sp>
        <p:nvSpPr>
          <p:cNvPr id="8" name="Shape 6"/>
          <p:cNvSpPr/>
          <p:nvPr/>
        </p:nvSpPr>
        <p:spPr>
          <a:xfrm>
            <a:off x="0" y="6784848"/>
            <a:ext cx="12188952" cy="73152"/>
          </a:xfrm>
          <a:prstGeom prst="rect">
            <a:avLst/>
          </a:prstGeom>
          <a:solidFill>
            <a:srgbClr val="DC2626"/>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DC2626"/>
          </a:solidFill>
          <a:ln/>
        </p:spPr>
      </p:sp>
      <p:sp>
        <p:nvSpPr>
          <p:cNvPr id="3" name="Shape 1"/>
          <p:cNvSpPr/>
          <p:nvPr/>
        </p:nvSpPr>
        <p:spPr>
          <a:xfrm>
            <a:off x="4114800" y="2286000"/>
            <a:ext cx="3959352" cy="36576"/>
          </a:xfrm>
          <a:prstGeom prst="rect">
            <a:avLst/>
          </a:prstGeom>
          <a:solidFill>
            <a:srgbClr val="DC2626"/>
          </a:solidFill>
          <a:ln/>
        </p:spPr>
      </p:sp>
      <p:sp>
        <p:nvSpPr>
          <p:cNvPr id="4" name="Text 2"/>
          <p:cNvSpPr/>
          <p:nvPr/>
        </p:nvSpPr>
        <p:spPr>
          <a:xfrm>
            <a:off x="914400" y="2560320"/>
            <a:ext cx="10360152" cy="0"/>
          </a:xfrm>
          <a:prstGeom prst="rect">
            <a:avLst/>
          </a:prstGeom>
          <a:noFill/>
          <a:ln/>
        </p:spPr>
        <p:txBody>
          <a:bodyPr wrap="square" rtlCol="0" anchor="ctr"/>
          <a:lstStyle/>
          <a:p>
            <a:pPr algn="ctr" indent="0" marL="0">
              <a:buNone/>
            </a:pPr>
            <a:r>
              <a:rPr lang="en-US" sz="4000" b="1" dirty="0">
                <a:solidFill>
                  <a:srgbClr val="FFFFFF"/>
                </a:solidFill>
              </a:rPr>
              <a:t>Thank You</a:t>
            </a:r>
            <a:endParaRPr lang="en-US" sz="4000" dirty="0"/>
          </a:p>
        </p:txBody>
      </p:sp>
      <p:sp>
        <p:nvSpPr>
          <p:cNvPr id="5" name="Text 3"/>
          <p:cNvSpPr/>
          <p:nvPr/>
        </p:nvSpPr>
        <p:spPr>
          <a:xfrm>
            <a:off x="914400" y="3383280"/>
            <a:ext cx="10360152" cy="0"/>
          </a:xfrm>
          <a:prstGeom prst="rect">
            <a:avLst/>
          </a:prstGeom>
          <a:noFill/>
          <a:ln/>
        </p:spPr>
        <p:txBody>
          <a:bodyPr wrap="square" rtlCol="0" anchor="ctr"/>
          <a:lstStyle/>
          <a:p>
            <a:pPr algn="ctr" indent="0" marL="0">
              <a:buNone/>
            </a:pPr>
            <a:r>
              <a:rPr lang="en-US" sz="2800" dirty="0">
                <a:solidFill>
                  <a:srgbClr val="FCA5A5"/>
                </a:solidFill>
                <a:latin typeface="Microsoft JhengHei" pitchFamily="34" charset="0"/>
                <a:ea typeface="Microsoft JhengHei" pitchFamily="34" charset="-122"/>
                <a:cs typeface="Microsoft JhengHei" pitchFamily="34" charset="-120"/>
              </a:rPr>
              <a:t>謝謝</a:t>
            </a:r>
            <a:endParaRPr lang="en-US" sz="2800" dirty="0"/>
          </a:p>
        </p:txBody>
      </p:sp>
      <p:sp>
        <p:nvSpPr>
          <p:cNvPr id="6" name="Shape 4"/>
          <p:cNvSpPr/>
          <p:nvPr/>
        </p:nvSpPr>
        <p:spPr>
          <a:xfrm>
            <a:off x="4114800" y="4023360"/>
            <a:ext cx="3959352" cy="36576"/>
          </a:xfrm>
          <a:prstGeom prst="rect">
            <a:avLst/>
          </a:prstGeom>
          <a:solidFill>
            <a:srgbClr val="DC2626"/>
          </a:solidFill>
          <a:ln/>
        </p:spPr>
      </p:sp>
      <p:sp>
        <p:nvSpPr>
          <p:cNvPr id="7" name="Text 5"/>
          <p:cNvSpPr/>
          <p:nvPr/>
        </p:nvSpPr>
        <p:spPr>
          <a:xfrm>
            <a:off x="914400" y="4297680"/>
            <a:ext cx="10360152" cy="0"/>
          </a:xfrm>
          <a:prstGeom prst="rect">
            <a:avLst/>
          </a:prstGeom>
          <a:noFill/>
          <a:ln/>
        </p:spPr>
        <p:txBody>
          <a:bodyPr wrap="square" rtlCol="0" anchor="ctr"/>
          <a:lstStyle/>
          <a:p>
            <a:pPr algn="ctr" indent="0" marL="0">
              <a:buNone/>
            </a:pPr>
            <a:r>
              <a:rPr lang="en-US" sz="1400" dirty="0">
                <a:solidFill>
                  <a:srgbClr val="737373"/>
                </a:solidFill>
              </a:rPr>
              <a:t>HCC Weekly Digest · 呂大教授 敬啟</a:t>
            </a:r>
            <a:endParaRPr lang="en-US" sz="1400" dirty="0"/>
          </a:p>
        </p:txBody>
      </p:sp>
      <p:sp>
        <p:nvSpPr>
          <p:cNvPr id="8" name="Shape 6"/>
          <p:cNvSpPr/>
          <p:nvPr/>
        </p:nvSpPr>
        <p:spPr>
          <a:xfrm>
            <a:off x="0" y="6784848"/>
            <a:ext cx="12188952" cy="73152"/>
          </a:xfrm>
          <a:prstGeom prst="rect">
            <a:avLst/>
          </a:prstGeom>
          <a:solidFill>
            <a:srgbClr val="DC262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Weekly Literature Review</dc:subject>
  <dc:creator>HCC Weekly Digest</dc:creator>
  <cp:lastModifiedBy>HCC Weekly Digest</cp:lastModifiedBy>
  <cp:revision>1</cp:revision>
  <dcterms:created xsi:type="dcterms:W3CDTF">2026-04-18T13:49:09Z</dcterms:created>
  <dcterms:modified xsi:type="dcterms:W3CDTF">2026-04-18T13:49:09Z</dcterms:modified>
</cp:coreProperties>
</file>