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l.2026.03.001" TargetMode="External"/><Relationship Id="rId2" Type="http://schemas.openxmlformats.org/officeDocument/2006/relationships/hyperlink" Target="https://doi.org/10.1158/1078-0432.CCR-25-4779" TargetMode="External"/><Relationship Id="rId3" Type="http://schemas.openxmlformats.org/officeDocument/2006/relationships/hyperlink" Target="https://doi.org/10.1097/HEP.0000000000001731" TargetMode="External"/><Relationship Id="rId4" Type="http://schemas.openxmlformats.org/officeDocument/2006/relationships/hyperlink" Target="https://doi.org/10.1158/0008-5472.CAN-25-0346" TargetMode="External"/><Relationship Id="rId5" Type="http://schemas.openxmlformats.org/officeDocument/2006/relationships/hyperlink" Target="https://doi.org/10.1002/advs.202521418" TargetMode="External"/><Relationship Id="rId6" Type="http://schemas.openxmlformats.org/officeDocument/2006/relationships/hyperlink" Target="https://doi.org/10.1073/pnas.2427192123" TargetMode="External"/><Relationship Id="rId7" Type="http://schemas.openxmlformats.org/officeDocument/2006/relationships/hyperlink" Target="https://doi.org/10.2169/internalmedicine.6021-25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l.2026.03.001" TargetMode="External"/><Relationship Id="rId2" Type="http://schemas.openxmlformats.org/officeDocument/2006/relationships/hyperlink" Target="https://doi.org/10.1016/j.cell.2026.03.00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l.2026.03.001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779" TargetMode="External"/><Relationship Id="rId2" Type="http://schemas.openxmlformats.org/officeDocument/2006/relationships/hyperlink" Target="https://doi.org/10.1158/1078-0432.CCR-25-477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779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731" TargetMode="External"/><Relationship Id="rId2" Type="http://schemas.openxmlformats.org/officeDocument/2006/relationships/hyperlink" Target="https://doi.org/10.1097/HEP.000000000000173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731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0008-5472.CAN-25-0346" TargetMode="External"/><Relationship Id="rId2" Type="http://schemas.openxmlformats.org/officeDocument/2006/relationships/hyperlink" Target="https://doi.org/10.1158/0008-5472.CAN-25-034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0008-5472.CAN-25-0346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vs.202521418" TargetMode="External"/><Relationship Id="rId2" Type="http://schemas.openxmlformats.org/officeDocument/2006/relationships/hyperlink" Target="https://doi.org/10.1002/advs.20252141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vs.20252141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73/pnas.2427192123" TargetMode="External"/><Relationship Id="rId2" Type="http://schemas.openxmlformats.org/officeDocument/2006/relationships/hyperlink" Target="https://doi.org/10.1073/pnas.242719212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73/pnas.2427192123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2169/internalmedicine.6021-25" TargetMode="External"/><Relationship Id="rId2" Type="http://schemas.openxmlformats.org/officeDocument/2006/relationships/hyperlink" Target="https://doi.org/10.2169/internalmedicine.6021-2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2169/internalmedicine.6021-25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5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274320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9319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肝癌免疫治療與局部消融文獻週報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4805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5669280"/>
            <a:ext cx="4114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2026-04-12 — 2026-04-19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0" y="6035040"/>
            <a:ext cx="4114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PAPERS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 — CONTENTS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31520" y="640080"/>
            <a:ext cx="10515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731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1645920" y="1024128"/>
            <a:ext cx="9601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Hallmarks of liver cancer: Therapeutic implications.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645920" y="1417320"/>
            <a:ext cx="9601200" cy="45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36192"/>
            <a:ext cx="731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1645920" y="1554480"/>
            <a:ext cx="9601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stereotactic body radiation therapy plus immune therapy favorably remodels the…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45920" y="1947672"/>
            <a:ext cx="9601200" cy="45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66544"/>
            <a:ext cx="731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>
            <a:hlinkClick r:id="rId3" tooltip=""/>
          </p:cNvPr>
          <p:cNvSpPr/>
          <p:nvPr/>
        </p:nvSpPr>
        <p:spPr>
          <a:xfrm>
            <a:off x="1645920" y="2084832"/>
            <a:ext cx="9601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Erratum: Hepatectomy alters adjuvant anti-PD-1 action in a mouse model of HCC but does not…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645920" y="2478024"/>
            <a:ext cx="9601200" cy="45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596896"/>
            <a:ext cx="731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>
            <a:hlinkClick r:id="rId4" tooltip=""/>
          </p:cNvPr>
          <p:cNvSpPr/>
          <p:nvPr/>
        </p:nvSpPr>
        <p:spPr>
          <a:xfrm>
            <a:off x="1645920" y="2615184"/>
            <a:ext cx="9601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Intratumoral Lactobacillus johnsonii Enhances Sensitivity to PD-1 Blockade by Inducing CD8…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645920" y="3008376"/>
            <a:ext cx="9601200" cy="45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127248"/>
            <a:ext cx="731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17" name="Text 15">
            <a:hlinkClick r:id="rId5" tooltip=""/>
          </p:cNvPr>
          <p:cNvSpPr/>
          <p:nvPr/>
        </p:nvSpPr>
        <p:spPr>
          <a:xfrm>
            <a:off x="1645920" y="3145536"/>
            <a:ext cx="9601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Cancer-Associated Fibroblasts Promote Tumor Immunosuppression in Hepatocellular Carcinoma …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645920" y="3538728"/>
            <a:ext cx="9601200" cy="45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57600"/>
            <a:ext cx="731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20" name="Text 18">
            <a:hlinkClick r:id="rId6" tooltip=""/>
          </p:cNvPr>
          <p:cNvSpPr/>
          <p:nvPr/>
        </p:nvSpPr>
        <p:spPr>
          <a:xfrm>
            <a:off x="1645920" y="3675888"/>
            <a:ext cx="9601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Selective depletion of virus-specific CD8 T cells from the liver after PD-1 therapy with F…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645920" y="4069080"/>
            <a:ext cx="9601200" cy="45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187952"/>
            <a:ext cx="731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23" name="Text 21">
            <a:hlinkClick r:id="rId7" tooltip=""/>
          </p:cNvPr>
          <p:cNvSpPr/>
          <p:nvPr/>
        </p:nvSpPr>
        <p:spPr>
          <a:xfrm>
            <a:off x="1645920" y="4206240"/>
            <a:ext cx="9601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Efficacy and Safety of Atezolizumab Plus Bevacizumab after Durvalumab Plus Tremelimuma…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645920" y="4599432"/>
            <a:ext cx="9601200" cy="45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718304"/>
            <a:ext cx="731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645920" y="4736592"/>
            <a:ext cx="9601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carcinoma: …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645920" y="5129784"/>
            <a:ext cx="9601200" cy="45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248656"/>
            <a:ext cx="731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45920" y="5266944"/>
            <a:ext cx="9601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on interventional therapy and immune checkpoint inhibitors (ICIs) in patients with inter…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645920" y="5660136"/>
            <a:ext cx="9601200" cy="457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5779008"/>
            <a:ext cx="731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645920" y="5797296"/>
            <a:ext cx="9601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efficacy and safety of immune checkpoint inhibitor–based strategies in advance…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601200" y="182880"/>
            <a:ext cx="2103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8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822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Hallmarks of liver cancer: Therapeutic implications.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Cell  ·  IF 45.5  · 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10515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Hallmarks guide cancer understanding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shows immune evasion traits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Immunotherapy improves HCC outcomes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iCCA has unique genetic alterations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oncology benefits iCCA patients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重點發現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癌症特徵指導理解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HCC具免疫逃逸特徵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免疫治療改善HCC預後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iCCA有獨特基因變異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精準醫療惠及iCCA患者</a:t>
            </a:r>
            <a:endParaRPr lang="en-US" sz="1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INSIGHTS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Hallmarks of liver cancer: Therapeutic implications.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CLINICAL INSIGHT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臨床啟示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Immunotherapy enhances HCC treatment.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免疫治療提升HCC治療效果。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FUTURE DIRECTION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0936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Focus on precision oncology strategies.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專注於精準醫療策略。</a:t>
            </a:r>
            <a:endParaRPr lang="en-US" sz="18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FCA5A5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601200" y="182880"/>
            <a:ext cx="2103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8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822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stereotactic body radiation therapy plus immune therapy favorably remodels the hepatocellular carcinoma tumor microenvironment.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Prospective Study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10515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SBRT plus immune therapy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study with 8 patients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safety, low adverse events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surgeries achieved R0 resection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Increased immune infiltration observed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重點發現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新輔助SBRT加免疫治療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8名患者的初步研究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安全性高，副作用少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所有手術均達R0切除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觀察到免疫浸潤增加</a:t>
            </a:r>
            <a:endParaRPr lang="en-US" sz="1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INSIGHTS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stereotactic body radiation therapy plus immune therapy favorably re…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CLINICAL INSIGHT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臨床啟示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Safe for early-stage HCC.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早期肝癌治療安全有效。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FUTURE DIRECTION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0936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Further studies are needed.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需進一步臨床研究。</a:t>
            </a:r>
            <a:endParaRPr lang="en-US" sz="18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FCA5A5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601200" y="182880"/>
            <a:ext cx="2103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8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822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Erratum: Hepatectomy alters adjuvant anti-PD-1 action in a mouse model of HCC but does not compromise neoadjuvant efficacy.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Basic Research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10515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Hepatectomy affects PD-1 therapy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Adjuvant therapy altered in mice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efficacy remains intact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重點發現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肝切除影響PD-1療法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輔助療法在小鼠中改變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新輔助療效保持不變</a:t>
            </a:r>
            <a:endParaRPr lang="en-US" sz="1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INSIGHTS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Erratum: Hepatectomy alters adjuvant anti-PD-1 action in a mouse model of HCC bu…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CLINICAL INSIGHT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臨床啟示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Hepatectomy modifies therapy response.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肝切除改變療效反應。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FUTURE DIRECTION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0936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Explore combination therapies.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探索聯合療法的可能性。</a:t>
            </a:r>
            <a:endParaRPr lang="en-US" sz="18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FCA5A5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601200" y="182880"/>
            <a:ext cx="2103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8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822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Intratumoral Lactobacillus johnsonii Enhances Sensitivity to PD-1 Blockade by Inducing CD8+ T-cell Expansion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research  ·  IF 12.7  ·  Basic Research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10515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Lactobacillus enriched in relapse-free HCC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Increased CD8+ T-cell abundance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Nicotinic acid expands T-cell population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 johnsonii activates NF-κB pathway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Synergistic effect with anti-PD-1 therapy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重點發現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乳酸菌在無復發HCC中豐富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CD8+ T細胞數量增加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尼古丁酸擴展T細胞群體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L. johnsonii活化NF-κB通路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與抗PD-1療法協同作用</a:t>
            </a:r>
            <a:endParaRPr lang="en-US" sz="1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INSIGHTS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Intratumoral Lactobacillus johnsonii Enhances Sensitivity to PD-1 Blockade by In…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CLINICAL INSIGHT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臨床啟示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Lactobacillus enhances immunotherapy.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乳酸菌增強免疫療法效果。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FUTURE DIRECTION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0936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Explore microbiota in cancer therapy.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探索微生物群在癌症治療中的應用。</a:t>
            </a:r>
            <a:endParaRPr lang="en-US" sz="18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FCA5A5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601200" y="182880"/>
            <a:ext cx="2103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8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822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Cancer-Associated Fibroblasts Promote Tumor Immunosuppression in Hepatocellular Carcinoma via the NNMT-ANGPTL4 Axis.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Advanced science (Weinheim, Baden-Wurttemberg, Germany)  ·  Basic Research  ·  Asia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10515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CAFs drive immunosuppression in HCC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NNMT regulates CAF metabolism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ANGPTL4 promotes immune evasion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Targeting NNMT-ANGPTL4 enhances T-cell activity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improves anti-PD-L1 efficacy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重點發現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癌相關成纖維細胞促免疫抑制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NNMT調控成纖維細胞代謝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ANGPTL4促進免疫逃逸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靶向NNMT-ANGPTL4增強T細胞活性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聯合療法提升抗PD-L1療效</a:t>
            </a:r>
            <a:endParaRPr lang="en-US" sz="1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INSIGHTS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Cancer-Associated Fibroblasts Promote Tumor Immunosuppression in Hepatocellular …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CLINICAL INSIGHT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臨床啟示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Target NNMT-ANGPTL4 for therapy.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靶向NNMT-ANGPTL4可作為療法。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FUTURE DIRECTION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0936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Explore combination therapies further.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進一步探索聯合療法。</a:t>
            </a:r>
            <a:endParaRPr lang="en-US" sz="18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FCA5A5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601200" y="182880"/>
            <a:ext cx="2103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8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822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Selective depletion of virus-specific CD8 T cells from the liver after PD-1 therapy with Fc-intact antibody during chronic infection.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Proceedings of the National Academy of Sciences of the United States of America  ·  Basic Research  ·  Asia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10515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 region affects PD-1 therapy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Depletion of virus-specific CD8 T cells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Increased viral titers in liver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Phagocytic cells mediate depletion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Implications for liver cancer treatment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重點發現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Fc區域影響PD-1治療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病毒特異性CD8 T細胞耗竭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肝臟內病毒滴度增加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吞噬細胞介導耗竭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對肝癌治療的啟示</a:t>
            </a:r>
            <a:endParaRPr lang="en-US" sz="1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INSIGHTS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depletion of virus-specific CD8 T cells from the liver after PD-1 ther…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CLINICAL INSIGHT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臨床啟示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Fc region impacts therapy outcomes.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Fc區域影響治療效果。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FUTURE DIRECTION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0936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Tailor PD-1 therapies effectively.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有效調整PD-1治療策略。</a:t>
            </a:r>
            <a:endParaRPr lang="en-US" sz="18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FCA5A5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601200" y="182880"/>
            <a:ext cx="2103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48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822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Efficacy and Safety of Atezolizumab Plus Bevacizumab after Durvalumab Plus Tremelimumab for the Treatment of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Internal medicine (Tokyo, Japan)  ·  Retrospective Study  ·  Asia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10515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Atez+Bev as 2nd line therapy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ORR 25.0%, DCR 75.0%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profiles differ significantly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重點發現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Atez+Bev作為二線療法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客觀反應率25.0%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安全性特徵顯著不同</a:t>
            </a:r>
            <a:endParaRPr lang="en-US" sz="1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INSIGHTS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Efficacy and Safety of Atezolizumab Plus Bevacizumab after Durvalumab Plus T…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CLINICAL INSIGHT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臨床啟示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Atez+Bev is effective.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Atez+Bev療效顯著。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FUTURE DIRECTION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0936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Explore combinations with other therapies.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探索其他療法的聯合使用。</a:t>
            </a:r>
            <a:endParaRPr lang="en-US" sz="18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FCA5A5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601200" y="182880"/>
            <a:ext cx="2103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10515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ablation therapies analyzed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EBRT vs local ablation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on progression-free survival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重點發現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分析局部消融療法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EBRT與局部消融比較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對無進展生存影響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INSIGHTS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CLINICAL INSIGHT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臨床啟示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Local ablation shows promise.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局部消融療法顯示潛力。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FUTURE DIRECTION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0936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Further studies needed for clarity.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需進一步研究以釐清。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601200" y="182880"/>
            <a:ext cx="2103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on interventional therapy and immune checkpoint inhibitors (ICIs) in patients with intermediate-and advanced-stage hepatocellular carcinoma: a systematic review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, Immunotherapy  ·  Systematic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10515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benefits HCC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ICIs enhance treatment efficacy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for more clinical trials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重點發現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聯合療法對HCC有益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免疫檢查點抑制劑提高療效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需要更多臨床試驗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INSIGHTS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on interventional therapy and immune checkpoint inhibitors (ICIs) in patients …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CLINICAL INSIGHT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臨床啟示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Combination therapy improves outcomes.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聯合療法可改善預後。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FUTURE DIRECTION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0936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Future trials needed for validation.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需進行未來試驗以驗證。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—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601200" y="182880"/>
            <a:ext cx="2103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efficacy and safety of immune checkpoint inhibitor–based strategies in advanced hepatocellular carcinoma: a systematic review and network meta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Journal of Surgery  ·  Systematic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10515600" cy="9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Immune checkpoint inhibitors evaluated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therapies assessed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profiles compared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237744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重點發現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743200"/>
            <a:ext cx="50292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評估免疫檢查點抑制劑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分析組合治療效果</a:t>
            </a:r>
            <a:endParaRPr lang="en-US" sz="1800" dirty="0"/>
          </a:p>
          <a:p>
            <a:pPr marL="342900" indent="-342900">
              <a:lnSpc>
                <a:spcPct val="160000"/>
              </a:lnSpc>
              <a:buSzPct val="100000"/>
              <a:buChar char="▪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比較安全性資料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— INSIGHTS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efficacy and safety of immune checkpoint inhibitor–based strategies …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CLINICAL INSIGHT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臨床啟示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Combination therapy improves outcomes.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組合療法可改善預後。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30352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8288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🔮 FUTURE DIRECTION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09360" y="205740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2377440"/>
            <a:ext cx="5303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EN: Further studies needed on combinations. 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ZH: 需進一步研究組合療法。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</a:t>
            </a:r>
            <a:endParaRPr lang="en-US" sz="3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Future Directions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274320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1752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**癌症特徵的應用**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hallmarks of cancer provide a comprehensive framework that enhances our understanding of hepatocellular carcinoma (HCC) and guides therapeutic strategies.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癌症特徵提供了一個全面的框架，增進我們對肝細胞癌（HCC）的理解，並指導治療策略。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**免疫療法的潛力**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Neoadjuvant immune therapies, particularly when combined with local treatments, show promise in remodeling the tumor microenvironment, potentially leading to improved patient outcomes.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新輔助免疫療法，尤其是與局部治療結合時，顯示出重塑腫瘤微環境的潛力，可能改善患者的治療結果。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**癌症相關成纖維細胞的角色**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Cancer-associated fibroblasts (CAFs) significantly contribute to immunosuppression in HCC, indicating a need for targeted therapies that can disrupt this axis.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癌症相關成纖維細胞（CAFs）顯著促進HCC中的免疫抑制，表明需要針對性療法來干擾這一通路。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**手術後復發的挑戰**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Despite effective surgical interventions, the high rate of postoperative recurrence in HCC emphasizes the necessity for adjuvant therapies to enhance long-term outcomes.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儘管手術介入有效，但HCC術後復發率高，強調了需要輔助療法以提高長期結果的必要性。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**多模態治療的前景**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Combining immune checkpoint inhibitors with local ablation therapies presents a promising avenue for enhancing treatment efficacy in advanced HCC.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將免疫檢查點抑制劑與局部消融療法結合，為提高晚期HCC的治療效果提供了有前景的途徑。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**免疫療法的早期應用**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studies are needed to define optimal protocols for the use of immune therapies in earlier stages of HCC, particularly in conjunction with surgical interventions.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需要進一步研究以確定在HCC早期階段使用免疫療法的最佳方案，特別是與手術介入結合時。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**CAFs的代謝調控**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metabolic pathways of cancer-associated fibroblasts could reveal new therapeutic targets for overcoming immunosuppression in HCC.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研究癌症相關成纖維細胞的代謝途徑可能揭示新的治療靶點，以克服HCC中的免疫抑制。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**多模態治療的臨床試驗**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Conducting clinical trials that explore the efficacy of combined immune checkpoint inhibitors and local ablation therapies in various HCC stages is crucial.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開展臨床試驗，探索在不同HCC階段中結合免疫檢查點抑制劑和局部消融療法的有效性至關重要。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**個體化治療策略**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research should focus on developing personalized treatment strategies based on the genetic and molecular profiles of HCC patients.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未來研究應專注於根據HCC患者的基因和分子特徵開發個體化治療策略。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**長期效果的評估**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Long-term follow-up studies are essential to assess the durability of treatment responses and the impact of novel therapies on overall survival in HCC patients.  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進行長期隨訪研究對於評估治療反應的持久性以及新療法對HCC患者整體生存率的影響至關重要。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731520" y="3474720"/>
            <a:ext cx="274320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475488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HCC Weekly Digest</dc:creator>
  <cp:lastModifiedBy>HCC Weekly Digest</cp:lastModifiedBy>
  <cp:revision>1</cp:revision>
  <dcterms:created xsi:type="dcterms:W3CDTF">2026-04-19T05:14:43Z</dcterms:created>
  <dcterms:modified xsi:type="dcterms:W3CDTF">2026-04-19T05:14:43Z</dcterms:modified>
</cp:coreProperties>
</file>