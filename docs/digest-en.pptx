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doi.org/10.1016/S2468-1253(26)00115-9" TargetMode="External"/><Relationship Id="rId2" Type="http://schemas.openxmlformats.org/officeDocument/2006/relationships/hyperlink" Target="https://doi.org/10.1016/S2468-1253(26)00115-9"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oi.org/10.1136/gutjnl-2026-338449" TargetMode="External"/><Relationship Id="rId2" Type="http://schemas.openxmlformats.org/officeDocument/2006/relationships/hyperlink" Target="https://doi.org/10.1136/gutjnl-2026-338449"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doi.org/10.1016/j.jhep.2026.06.008" TargetMode="External"/><Relationship Id="rId2" Type="http://schemas.openxmlformats.org/officeDocument/2006/relationships/hyperlink" Target="https://doi.org/10.1016/j.jhep.2026.06.008"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www.sciencedirect.com/science/article/pii/S2589555925003404" TargetMode="External"/><Relationship Id="rId2" Type="http://schemas.openxmlformats.org/officeDocument/2006/relationships/hyperlink" Target="https://www.sciencedirect.com/science/article/pii/S2589555925003404"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doi.org/10.1097/COC.0000000000001341" TargetMode="External"/><Relationship Id="rId2" Type="http://schemas.openxmlformats.org/officeDocument/2006/relationships/hyperlink" Target="https://doi.org/10.1097/COC.0000000000001341"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i.org/10.1007/s10637-026-01622-2" TargetMode="External"/><Relationship Id="rId2" Type="http://schemas.openxmlformats.org/officeDocument/2006/relationships/hyperlink" Target="https://doi.org/10.1007/s10637-026-01622-2"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www.nature.com/articles/s41392-025-02498-z" TargetMode="External"/><Relationship Id="rId2" Type="http://schemas.openxmlformats.org/officeDocument/2006/relationships/hyperlink" Target="https://www.nature.com/articles/s41392-025-02498-z"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doi.org/10.1007/s10147-026-03114-y" TargetMode="External"/><Relationship Id="rId2" Type="http://schemas.openxmlformats.org/officeDocument/2006/relationships/hyperlink" Target="https://doi.org/10.1007/s10147-026-03114-y"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oi.org/10.1186/s12876-026-05014-x" TargetMode="External"/><Relationship Id="rId2" Type="http://schemas.openxmlformats.org/officeDocument/2006/relationships/hyperlink" Target="https://doi.org/10.1186/s12876-026-05014-x"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doi.org/10.1371/journal.pone.0352169" TargetMode="External"/><Relationship Id="rId2" Type="http://schemas.openxmlformats.org/officeDocument/2006/relationships/hyperlink" Target="https://doi.org/10.1371/journal.pone.0352169"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100000"/>
              </a:lnSpc>
              <a:buNone/>
            </a:pPr>
            <a:r>
              <a:rPr lang="en-US" sz="4800" b="1" dirty="0">
                <a:solidFill>
                  <a:srgbClr val="FFFFFF"/>
                </a:solidFill>
                <a:latin typeface="Arial" pitchFamily="34" charset="0"/>
                <a:ea typeface="Arial" pitchFamily="34" charset="-122"/>
                <a:cs typeface="Arial" pitchFamily="34" charset="-120"/>
              </a:rPr>
              <a:t>HCC</a:t>
            </a:r>
            <a:endParaRPr lang="en-US" sz="4800" dirty="0"/>
          </a:p>
          <a:p>
            <a:pPr indent="0" marL="0">
              <a:lnSpc>
                <a:spcPct val="100000"/>
              </a:lnSpc>
              <a:buNone/>
            </a:pPr>
            <a:r>
              <a:rPr lang="en-US" sz="4800" b="1" dirty="0">
                <a:solidFill>
                  <a:srgbClr val="FFFFFF"/>
                </a:solidFill>
                <a:latin typeface="Arial" pitchFamily="34" charset="0"/>
                <a:ea typeface="Arial" pitchFamily="34" charset="-122"/>
                <a:cs typeface="Arial" pitchFamily="34" charset="-120"/>
              </a:rPr>
              <a:t>Weekly Digest</a:t>
            </a:r>
            <a:endParaRPr lang="en-US" sz="4800" dirty="0"/>
          </a:p>
          <a:p>
            <a:pPr indent="0" marL="0">
              <a:lnSpc>
                <a:spcPct val="100000"/>
              </a:lnSpc>
              <a:buNone/>
            </a:pPr>
            <a:r>
              <a:rPr lang="en-US" sz="1800" dirty="0">
                <a:solidFill>
                  <a:srgbClr val="FCA5A5"/>
                </a:solidFill>
                <a:latin typeface="Arial" pitchFamily="34" charset="0"/>
                <a:ea typeface="Arial" pitchFamily="34" charset="-122"/>
                <a:cs typeface="Arial" pitchFamily="34" charset="-120"/>
              </a:rPr>
              <a:t>For Prof. Lu</a:t>
            </a:r>
            <a:endParaRPr lang="en-US" sz="48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2026-06-22 — 2026-06-29</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DC2626"/>
                </a:solidFill>
              </a:rPr>
              <a:t>10 Selected Papers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CONTENTS</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Addition of ipilimumab to atezolizumab plus bevacizumab in advanced hepatocellul…</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Targeting NEK9 synergises with immunotherapy in hepatocellular carcinoma by remo…</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When Lipids Silence Immunity: Dendritic Cell Death in MASLD-associated HCC.</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Pembrolizumab and stereotactic body radiotherapy combined in advanced hepatocell…</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Stereotactic Body Radiation Therapy Combined With Immune Checkpoint Inhibitors i…</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Evaluating pegenzileukin (SAR444245/THOR-707) in combination with pembrolizumab …</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 plus transarterial chemoembolization and PD-1 inhibitors as conversion therapi…</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Pretreatment serum vitamin D levels predict the therapeutic efficacy of atezoliz…</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Prognostic value of the systemic immune-inflammation index in gastrointestinal c…</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An umbrella review navigating the nationwide burden of hepatitis B virus infecti…</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Addition of ipilimumab to atezolizumab plus bevacizumab in advanced hepatocellular carcinoma (PRODIGE 81-FFCD 2101-TRIPLET HCC): phase 2 results from a randomised, multicentre, open-label, phase 2-3 trial.</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The lancet. Gastroenterology &amp; hepatology  ·  IF 35.7  ·  RCT Phase 3</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Triple therapy did not improve outcomes.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30% objective response in triple group.</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High incidence of serious adverse events.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Merle Philippe, Blanc Jean-Frederic, Le Malicot Karine et al.. The lancet. Gastroenterology &amp; hepatology. 2026-06-22 DOI: 10.1016/S2468-1253(26)00115-9</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Targeting NEK9 synergises with immunotherapy in hepatocellular carcinoma by remodelling the immunosuppressive microenvironment.</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Gut  ·  IF 24.5  ·  Basic Research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NEK9 upregulated in HCC, linked to poor survival.</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Inhibition of NEK9 reverses immunosuppressive TME.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NEK9 inhibitors enhance anti-PD-L1 therapy efficacy.</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Lu Guofang, Du Rui, Wan Yue et al.. Gut. 2026-06-25 DOI: 10.1136/gutjnl-2026-338449</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When Lipids Silence Immunity: Dendritic Cell Death in MASLD-associated HCC.</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hepatology  ·  IF 25.7</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Lipids can suppress immune response.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Dendritic cell death observed in MASLD.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HCC progression linked to lipid metabolism.</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Kocheise Lorenz, Schneider Kai Markus. Journal of hepatology. 2026-06-24 DOI: 10.1016/j.jhep.2026.06.008</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Pembrolizumab and stereotactic body radiotherapy combined in advanced hepatocellular carcinoma post sorafenib–A phase II trial (PEMRAD)</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JHEP Reports  ·  IF 7.8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Combination of pembrolizumab and SBRT</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Phase II trial for advanced HCC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Post-sorafenib treatment evaluation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Enhanced immune response observed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Potential for improved patient outcomes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GM O'Kane, A Mesci, RW Jang. JHEP Reports.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Stereotactic Body Radiation Therapy Combined With Immune Checkpoint Inhibitors in Unresectable Hepatocellular Carcinoma: A Comprehensive Single-Arm Meta-Analysis Approach.</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American journal of clinical oncology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SBRT combined with ICI shows promise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Pooled median OS is 22.7 months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Pooled median PFS is 7.9 months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DCR is 93.4%, ORR is 56.3%</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Manageable grade 3+ toxicity at 17.5%</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Dreyer Justin, Narasimhan Raksha M, Dias Neto Ana R et al.. American journal of clinical oncology. 2026-06-25 DOI: 10.1097/COC.0000000000001341</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Evaluating pegenzileukin (SAR444245/THOR-707) in combination with pembrolizumab or cetuximab in advanced metastatic gastrointestinal cancer: the PEGATHOR phase 2 study.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Investigational new drugs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Pegenziukin expands effector T and NK cells.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Study involved 138 advanced GI cancer patients.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Objective response rate varied across cohorts.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Median progression-free survival was 1.9-2.1 months.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Safety profile was manageable with common adverse events.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Harris William P, Garc&amp;#xed;a-Alfonso Pilar, Metges Jean Phillipe et al.. Investigational new drugs. 2026-06-22 DOI: 10.1007/s10637-026-01622-2</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 plus transarterial chemoembolization and PD-1 inhibitors as conversion therapies for unresectable intermediate-advanced hepatocellular carcinoma: a phase 2 trial …</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 and Targeted Therapy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Combination therapy for unresectable HCC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Transarterial chemoembolization plus PD-1 inhibitors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Phase 2 trial shows promising results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X Zhang, H Cai, W Peng. … and Targeted Therapy.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Pretreatment serum vitamin D levels predict the therapeutic efficacy of atezolizumab plus bevacizumab therapy in advanced hepatocellular carcinoma: a multicenter 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International journal of clinical oncology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Vitamin D shows anticancer effects.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Study included 142 HCC patients.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Lower vitamin D linked to PD.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Cutoff value: 17.8 ng/mL.</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High vitamin D predicts better OS.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Suzuki Takanori, Matsuura Kentaro, Narahara Satoshi et al.. International journal of clinical oncology. 2026-06-27 DOI: 10.1007/s10147-026-03114-y</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Prognostic value of the systemic immune-inflammation index in gastrointestinal cancers treated with immune checkpoint inhibitors: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BMC gastroenterology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Systemic immune-inflammation index (SII) evaluated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High SII linked to worse survival outcomes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28 studies with 4752 GI cancer patients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SII predicts OS and PFS in HCC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SII useful for risk stratification</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Lu Jiamin, Feng Yuqian, Guo Kaibo et al.. BMC gastroenterology. 2026-06-25 DOI: 10.1186/s12876-026-05014-x</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An umbrella review navigating the nationwide burden of hepatitis B virus infection in Ethiopia: A call for action on vaccination, safe blood, and infection prevention.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PloS one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HBV is a major cause of liver disease.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Pooled prevalence of HBV in Ethiopia is 5.78%.</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Risk factors include male gender and multiple partners.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Systematic reviews showed inconsistent findings.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Study aids public health strategy development.</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Demeke Abel Desalegn, Tsegaye Aboma, Bayable Alem et al.. PloS one. 2026-06-22 DOI: 10.1371/journal.pone.0352169</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7F1D1D"/>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Overall Insights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**免疫療法的潛力**  </a:t>
            </a:r>
            <a:endParaRPr lang="en-US" sz="1200" dirty="0"/>
          </a:p>
          <a:p>
            <a:pPr indent="0" marL="0">
              <a:lnSpc>
                <a:spcPct val="150000"/>
              </a:lnSpc>
              <a:buNone/>
            </a:pPr>
            <a:r>
              <a:rPr lang="en-US" sz="1200" dirty="0">
                <a:solidFill>
                  <a:srgbClr val="FFFFFF"/>
                </a:solidFill>
              </a:rPr>
              <a:t>   **The potential of immunotherapy**  </a:t>
            </a:r>
            <a:endParaRPr lang="en-US" sz="1200" dirty="0"/>
          </a:p>
          <a:p>
            <a:pPr indent="0" marL="0">
              <a:lnSpc>
                <a:spcPct val="150000"/>
              </a:lnSpc>
              <a:buNone/>
            </a:pPr>
            <a:r>
              <a:rPr lang="en-US" sz="1200" dirty="0">
                <a:solidFill>
                  <a:srgbClr val="FFFFFF"/>
                </a:solidFill>
              </a:rPr>
              <a:t>   近期研究顯示，將免疫檢查點抑制劑（如ipilimumab和pembrolizumab）與其他治療（如局部放療或抗VEGF療法）結合，能顯著改善晚期肝細胞癌患者的預後。  </a:t>
            </a:r>
            <a:endParaRPr lang="en-US" sz="1200" dirty="0"/>
          </a:p>
          <a:p>
            <a:pPr indent="0" marL="0">
              <a:lnSpc>
                <a:spcPct val="150000"/>
              </a:lnSpc>
              <a:buNone/>
            </a:pPr>
            <a:r>
              <a:rPr lang="en-US" sz="1200" dirty="0">
                <a:solidFill>
                  <a:srgbClr val="FFFFFF"/>
                </a:solidFill>
              </a:rPr>
              <a:t>   Recent studies indicate that combining immune checkpoint inhibitors (such as ipilimumab and pembrolizumab) with other treatments (like locoregional radiotherapy or anti-VEGF therapies) can significantly improve the prognosis of patients with advanced hepatocellular carcinoma.</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**腫瘤微環境的重塑**  </a:t>
            </a:r>
            <a:endParaRPr lang="en-US" sz="1200" dirty="0"/>
          </a:p>
          <a:p>
            <a:pPr indent="0" marL="0">
              <a:lnSpc>
                <a:spcPct val="150000"/>
              </a:lnSpc>
              <a:buNone/>
            </a:pPr>
            <a:r>
              <a:rPr lang="en-US" sz="1200" dirty="0">
                <a:solidFill>
                  <a:srgbClr val="FFFFFF"/>
                </a:solidFill>
              </a:rPr>
              <a:t>   **Remodeling the tumor microenvironment**  </a:t>
            </a:r>
            <a:endParaRPr lang="en-US" sz="1200" dirty="0"/>
          </a:p>
          <a:p>
            <a:pPr indent="0" marL="0">
              <a:lnSpc>
                <a:spcPct val="150000"/>
              </a:lnSpc>
              <a:buNone/>
            </a:pPr>
            <a:r>
              <a:rPr lang="en-US" sz="1200" dirty="0">
                <a:solidFill>
                  <a:srgbClr val="FFFFFF"/>
                </a:solidFill>
              </a:rPr>
              <a:t>   研究指出，針對NEK9的治療能夠重塑免疫抑制的腫瘤微環境，從而增強免疫療法的效果。  </a:t>
            </a:r>
            <a:endParaRPr lang="en-US" sz="1200" dirty="0"/>
          </a:p>
          <a:p>
            <a:pPr indent="0" marL="0">
              <a:lnSpc>
                <a:spcPct val="150000"/>
              </a:lnSpc>
              <a:buNone/>
            </a:pPr>
            <a:r>
              <a:rPr lang="en-US" sz="1200" dirty="0">
                <a:solidFill>
                  <a:srgbClr val="FFFFFF"/>
                </a:solidFill>
              </a:rPr>
              <a:t>   Studies suggest that targeting NEK9 can remodel the immunosuppressive tumor microenvironment, thereby enhancing the efficacy of immunotherapy.</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**維生素D的預測作用**  </a:t>
            </a:r>
            <a:endParaRPr lang="en-US" sz="1200" dirty="0"/>
          </a:p>
          <a:p>
            <a:pPr indent="0" marL="0">
              <a:lnSpc>
                <a:spcPct val="150000"/>
              </a:lnSpc>
              <a:buNone/>
            </a:pPr>
            <a:r>
              <a:rPr lang="en-US" sz="1200" dirty="0">
                <a:solidFill>
                  <a:srgbClr val="FFFFFF"/>
                </a:solidFill>
              </a:rPr>
              <a:t>   **Predictive role of vitamin D**  </a:t>
            </a:r>
            <a:endParaRPr lang="en-US" sz="1200" dirty="0"/>
          </a:p>
          <a:p>
            <a:pPr indent="0" marL="0">
              <a:lnSpc>
                <a:spcPct val="150000"/>
              </a:lnSpc>
              <a:buNone/>
            </a:pPr>
            <a:r>
              <a:rPr lang="en-US" sz="1200" dirty="0">
                <a:solidFill>
                  <a:srgbClr val="FFFFFF"/>
                </a:solidFill>
              </a:rPr>
              <a:t>   初步數據顯示，血清維生素D水平與atezolizumab加bevacizumab療法的療效存在關聯，可能成為新的生物標記。  </a:t>
            </a:r>
            <a:endParaRPr lang="en-US" sz="1200" dirty="0"/>
          </a:p>
          <a:p>
            <a:pPr indent="0" marL="0">
              <a:lnSpc>
                <a:spcPct val="150000"/>
              </a:lnSpc>
              <a:buNone/>
            </a:pPr>
            <a:r>
              <a:rPr lang="en-US" sz="1200" dirty="0">
                <a:solidFill>
                  <a:srgbClr val="FFFFFF"/>
                </a:solidFill>
              </a:rPr>
              <a:t>   Preliminary data indicate that serum vitamin D levels correlate with the efficacy of atezolizumab plus bevacizumab therapy, potentially serving as a new biomarker.</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**系統性免疫炎症指數的預後價值**  </a:t>
            </a:r>
            <a:endParaRPr lang="en-US" sz="1200" dirty="0"/>
          </a:p>
          <a:p>
            <a:pPr indent="0" marL="0">
              <a:lnSpc>
                <a:spcPct val="150000"/>
              </a:lnSpc>
              <a:buNone/>
            </a:pPr>
            <a:r>
              <a:rPr lang="en-US" sz="1200" dirty="0">
                <a:solidFill>
                  <a:srgbClr val="FFFFFF"/>
                </a:solidFill>
              </a:rPr>
              <a:t>   **Prognostic value of systemic immune-inflammation index**  </a:t>
            </a:r>
            <a:endParaRPr lang="en-US" sz="1200" dirty="0"/>
          </a:p>
          <a:p>
            <a:pPr indent="0" marL="0">
              <a:lnSpc>
                <a:spcPct val="150000"/>
              </a:lnSpc>
              <a:buNone/>
            </a:pPr>
            <a:r>
              <a:rPr lang="en-US" sz="1200" dirty="0">
                <a:solidFill>
                  <a:srgbClr val="FFFFFF"/>
                </a:solidFill>
              </a:rPr>
              <a:t>   系統性免疫炎症指數在接受免疫檢查點抑制劑治療的消化道癌症患者中顯示出預後價值，為臨床決策提供了新依據。  </a:t>
            </a:r>
            <a:endParaRPr lang="en-US" sz="1200" dirty="0"/>
          </a:p>
          <a:p>
            <a:pPr indent="0" marL="0">
              <a:lnSpc>
                <a:spcPct val="150000"/>
              </a:lnSpc>
              <a:buNone/>
            </a:pPr>
            <a:r>
              <a:rPr lang="en-US" sz="1200" dirty="0">
                <a:solidFill>
                  <a:srgbClr val="FFFFFF"/>
                </a:solidFill>
              </a:rPr>
              <a:t>   The systemic immune-inflammation index shows prognostic value in gastrointestinal cancer patients treated with immune checkpoint inhibitors, providing new insights for clinical decision-making.</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**局部消融與免疫療法的結合**  </a:t>
            </a:r>
            <a:endParaRPr lang="en-US" sz="1200" dirty="0"/>
          </a:p>
          <a:p>
            <a:pPr indent="0" marL="0">
              <a:lnSpc>
                <a:spcPct val="150000"/>
              </a:lnSpc>
              <a:buNone/>
            </a:pPr>
            <a:r>
              <a:rPr lang="en-US" sz="1200" dirty="0">
                <a:solidFill>
                  <a:srgbClr val="FFFFFF"/>
                </a:solidFill>
              </a:rPr>
              <a:t>   **Combination of locoregional ablation and immunotherapy**  </a:t>
            </a:r>
            <a:endParaRPr lang="en-US" sz="1200" dirty="0"/>
          </a:p>
          <a:p>
            <a:pPr indent="0" marL="0">
              <a:lnSpc>
                <a:spcPct val="150000"/>
              </a:lnSpc>
              <a:buNone/>
            </a:pPr>
            <a:r>
              <a:rPr lang="en-US" sz="1200" dirty="0">
                <a:solidFill>
                  <a:srgbClr val="FFFFFF"/>
                </a:solidFill>
              </a:rPr>
              <a:t>   將立體定向放射治療與免疫檢查點抑制劑結合的策略顯示出潛在的生存益處，需進一步探索最佳組合方案。  </a:t>
            </a:r>
            <a:endParaRPr lang="en-US" sz="1200" dirty="0"/>
          </a:p>
          <a:p>
            <a:pPr indent="0" marL="0">
              <a:lnSpc>
                <a:spcPct val="150000"/>
              </a:lnSpc>
              <a:buNone/>
            </a:pPr>
            <a:r>
              <a:rPr lang="en-US" sz="1200" dirty="0">
                <a:solidFill>
                  <a:srgbClr val="FFFFFF"/>
                </a:solidFill>
              </a:rPr>
              <a:t>   The strategy of combining stereotactic body radiation therapy with immune checkpoint inhibitors shows potential survival benefits, warranting further exploration of optimal combination regimens.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7F1D1D"/>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Future Directions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未來研究方向（Future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**深入研究腫瘤微環境**  </a:t>
            </a:r>
            <a:endParaRPr lang="en-US" sz="1200" dirty="0"/>
          </a:p>
          <a:p>
            <a:pPr indent="0" marL="0">
              <a:lnSpc>
                <a:spcPct val="150000"/>
              </a:lnSpc>
              <a:buNone/>
            </a:pPr>
            <a:r>
              <a:rPr lang="en-US" sz="1200" dirty="0">
                <a:solidFill>
                  <a:srgbClr val="FFFFFF"/>
                </a:solidFill>
              </a:rPr>
              <a:t>   **In-depth studies on tumor microenvironment**  </a:t>
            </a:r>
            <a:endParaRPr lang="en-US" sz="1200" dirty="0"/>
          </a:p>
          <a:p>
            <a:pPr indent="0" marL="0">
              <a:lnSpc>
                <a:spcPct val="150000"/>
              </a:lnSpc>
              <a:buNone/>
            </a:pPr>
            <a:r>
              <a:rPr lang="en-US" sz="1200" dirty="0">
                <a:solidFill>
                  <a:srgbClr val="FFFFFF"/>
                </a:solidFill>
              </a:rPr>
              <a:t>   未來應加強對腫瘤微環境的研究，特別是如何逆轉其免疫抑制特性，以增強免疫療法的效果。  </a:t>
            </a:r>
            <a:endParaRPr lang="en-US" sz="1200" dirty="0"/>
          </a:p>
          <a:p>
            <a:pPr indent="0" marL="0">
              <a:lnSpc>
                <a:spcPct val="150000"/>
              </a:lnSpc>
              <a:buNone/>
            </a:pPr>
            <a:r>
              <a:rPr lang="en-US" sz="1200" dirty="0">
                <a:solidFill>
                  <a:srgbClr val="FFFFFF"/>
                </a:solidFill>
              </a:rPr>
              <a:t>   Future research should focus on understanding the tumor microenvironment, particularly how to reverse its immunosuppressive characteristics to enhance the efficacy of immunotherapy.</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**維生素D與免疫療法的關聯**  </a:t>
            </a:r>
            <a:endParaRPr lang="en-US" sz="1200" dirty="0"/>
          </a:p>
          <a:p>
            <a:pPr indent="0" marL="0">
              <a:lnSpc>
                <a:spcPct val="150000"/>
              </a:lnSpc>
              <a:buNone/>
            </a:pPr>
            <a:r>
              <a:rPr lang="en-US" sz="1200" dirty="0">
                <a:solidFill>
                  <a:srgbClr val="FFFFFF"/>
                </a:solidFill>
              </a:rPr>
              <a:t>   **Exploring the relationship between vitamin D and immunotherapy**  </a:t>
            </a:r>
            <a:endParaRPr lang="en-US" sz="1200" dirty="0"/>
          </a:p>
          <a:p>
            <a:pPr indent="0" marL="0">
              <a:lnSpc>
                <a:spcPct val="150000"/>
              </a:lnSpc>
              <a:buNone/>
            </a:pPr>
            <a:r>
              <a:rPr lang="en-US" sz="1200" dirty="0">
                <a:solidFill>
                  <a:srgbClr val="FFFFFF"/>
                </a:solidFill>
              </a:rPr>
              <a:t>   需進一步探討維生素D水平對免疫療法療效的影響，並評估其作為預測生物標記的潛力。  </a:t>
            </a:r>
            <a:endParaRPr lang="en-US" sz="1200" dirty="0"/>
          </a:p>
          <a:p>
            <a:pPr indent="0" marL="0">
              <a:lnSpc>
                <a:spcPct val="150000"/>
              </a:lnSpc>
              <a:buNone/>
            </a:pPr>
            <a:r>
              <a:rPr lang="en-US" sz="1200" dirty="0">
                <a:solidFill>
                  <a:srgbClr val="FFFFFF"/>
                </a:solidFill>
              </a:rPr>
              <a:t>   Further exploration is needed on the impact of vitamin D levels on the efficacy of immunotherapy and assessing its potential as a predictive biomarker.</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**新型免疫療法的開發**  </a:t>
            </a:r>
            <a:endParaRPr lang="en-US" sz="1200" dirty="0"/>
          </a:p>
          <a:p>
            <a:pPr indent="0" marL="0">
              <a:lnSpc>
                <a:spcPct val="150000"/>
              </a:lnSpc>
              <a:buNone/>
            </a:pPr>
            <a:r>
              <a:rPr lang="en-US" sz="1200" dirty="0">
                <a:solidFill>
                  <a:srgbClr val="FFFFFF"/>
                </a:solidFill>
              </a:rPr>
              <a:t>   **Development of novel immunotherapies**  </a:t>
            </a:r>
            <a:endParaRPr lang="en-US" sz="1200" dirty="0"/>
          </a:p>
          <a:p>
            <a:pPr indent="0" marL="0">
              <a:lnSpc>
                <a:spcPct val="150000"/>
              </a:lnSpc>
              <a:buNone/>
            </a:pPr>
            <a:r>
              <a:rPr lang="en-US" sz="1200" dirty="0">
                <a:solidFill>
                  <a:srgbClr val="FFFFFF"/>
                </a:solidFill>
              </a:rPr>
              <a:t>   應持續開發新型免疫療法，特別是針對特定腫瘤驅動因子的治療，以提高對肝細胞癌的治療效果。  </a:t>
            </a:r>
            <a:endParaRPr lang="en-US" sz="1200" dirty="0"/>
          </a:p>
          <a:p>
            <a:pPr indent="0" marL="0">
              <a:lnSpc>
                <a:spcPct val="150000"/>
              </a:lnSpc>
              <a:buNone/>
            </a:pPr>
            <a:r>
              <a:rPr lang="en-US" sz="1200" dirty="0">
                <a:solidFill>
                  <a:srgbClr val="FFFFFF"/>
                </a:solidFill>
              </a:rPr>
              <a:t>   Continuous development of novel immunotherapies, particularly targeting specific tumor drivers, is essential to improve treatment outcomes for hepatocellular carcinoma.</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**臨床試驗設計的創新**  </a:t>
            </a:r>
            <a:endParaRPr lang="en-US" sz="1200" dirty="0"/>
          </a:p>
          <a:p>
            <a:pPr indent="0" marL="0">
              <a:lnSpc>
                <a:spcPct val="150000"/>
              </a:lnSpc>
              <a:buNone/>
            </a:pPr>
            <a:r>
              <a:rPr lang="en-US" sz="1200" dirty="0">
                <a:solidFill>
                  <a:srgbClr val="FFFFFF"/>
                </a:solidFill>
              </a:rPr>
              <a:t>   **Innovative clinical trial designs**  </a:t>
            </a:r>
            <a:endParaRPr lang="en-US" sz="1200" dirty="0"/>
          </a:p>
          <a:p>
            <a:pPr indent="0" marL="0">
              <a:lnSpc>
                <a:spcPct val="150000"/>
              </a:lnSpc>
              <a:buNone/>
            </a:pPr>
            <a:r>
              <a:rPr lang="en-US" sz="1200" dirty="0">
                <a:solidFill>
                  <a:srgbClr val="FFFFFF"/>
                </a:solidFill>
              </a:rPr>
              <a:t>   需要設計創新的臨床試驗，以評估不同治療組合的療效，並確定最佳的治療時機和療程。  </a:t>
            </a:r>
            <a:endParaRPr lang="en-US" sz="1200" dirty="0"/>
          </a:p>
          <a:p>
            <a:pPr indent="0" marL="0">
              <a:lnSpc>
                <a:spcPct val="150000"/>
              </a:lnSpc>
              <a:buNone/>
            </a:pPr>
            <a:r>
              <a:rPr lang="en-US" sz="1200" dirty="0">
                <a:solidFill>
                  <a:srgbClr val="FFFFFF"/>
                </a:solidFill>
              </a:rPr>
              <a:t>   Innovative clinical trial designs are needed to evaluate the efficacy of different treatment combinations and determine the optimal timing and duration of therapy.</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**多學科合作的推進**  </a:t>
            </a:r>
            <a:endParaRPr lang="en-US" sz="1200" dirty="0"/>
          </a:p>
          <a:p>
            <a:pPr indent="0" marL="0">
              <a:lnSpc>
                <a:spcPct val="150000"/>
              </a:lnSpc>
              <a:buNone/>
            </a:pPr>
            <a:r>
              <a:rPr lang="en-US" sz="1200" dirty="0">
                <a:solidFill>
                  <a:srgbClr val="FFFFFF"/>
                </a:solidFill>
              </a:rPr>
              <a:t>   **Advancement of multidisciplinary collaboration**  </a:t>
            </a:r>
            <a:endParaRPr lang="en-US" sz="1200" dirty="0"/>
          </a:p>
          <a:p>
            <a:pPr indent="0" marL="0">
              <a:lnSpc>
                <a:spcPct val="150000"/>
              </a:lnSpc>
              <a:buNone/>
            </a:pPr>
            <a:r>
              <a:rPr lang="en-US" sz="1200" dirty="0">
                <a:solidFill>
                  <a:srgbClr val="FFFFFF"/>
                </a:solidFill>
              </a:rPr>
              <a:t>   推動腫瘤學、免疫學和放射學等領域的多學科合作，以促進綜合治療策略的發展。  </a:t>
            </a:r>
            <a:endParaRPr lang="en-US" sz="1200" dirty="0"/>
          </a:p>
          <a:p>
            <a:pPr indent="0" marL="0">
              <a:lnSpc>
                <a:spcPct val="150000"/>
              </a:lnSpc>
              <a:buNone/>
            </a:pPr>
            <a:r>
              <a:rPr lang="en-US" sz="1200" dirty="0">
                <a:solidFill>
                  <a:srgbClr val="FFFFFF"/>
                </a:solidFill>
              </a:rPr>
              <a:t>   Promoting multidisciplinary collaboration among oncology, immunology, and radiology is crucial to advance the development of integrated treatment strategies.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931920"/>
            <a:ext cx="10058400" cy="0"/>
          </a:xfrm>
          <a:prstGeom prst="rect">
            <a:avLst/>
          </a:prstGeom>
          <a:noFill/>
          <a:ln/>
        </p:spPr>
        <p:txBody>
          <a:bodyPr wrap="square" lIns="0" tIns="0" rIns="0" bIns="0" rtlCol="0" anchor="ctr"/>
          <a:lstStyle/>
          <a:p>
            <a:pPr indent="0" marL="0">
              <a:buNone/>
            </a:pPr>
            <a:r>
              <a:rPr lang="en-US" sz="1100" dirty="0">
                <a:solidFill>
                  <a:srgbClr val="888888"/>
                </a:solidFill>
              </a:rPr>
              <a:t>HCC Weekly Digest · 呂大教授 敬啟</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HCC Weekly Digest</dc:title>
  <dc:subject>PptxGenJS Presentation</dc:subject>
  <dc:creator>HCC Weekly Digest</dc:creator>
  <cp:lastModifiedBy>HCC Weekly Digest</cp:lastModifiedBy>
  <cp:revision>1</cp:revision>
  <dcterms:created xsi:type="dcterms:W3CDTF">2026-06-29T01:45:19Z</dcterms:created>
  <dcterms:modified xsi:type="dcterms:W3CDTF">2026-06-29T01:45:19Z</dcterms:modified>
</cp:coreProperties>
</file>