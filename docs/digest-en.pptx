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97/HEP.0000000000001781" TargetMode="External"/><Relationship Id="rId2" Type="http://schemas.openxmlformats.org/officeDocument/2006/relationships/hyperlink" Target="https://doi.org/10.1097/HEP.000000000000178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jitc-2025-014555" TargetMode="External"/><Relationship Id="rId2" Type="http://schemas.openxmlformats.org/officeDocument/2006/relationships/hyperlink" Target="https://doi.org/10.1136/jitc-2025-01455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392-026-02708-2" TargetMode="External"/><Relationship Id="rId2" Type="http://schemas.openxmlformats.org/officeDocument/2006/relationships/hyperlink" Target="https://doi.org/10.1038/s41392-026-02708-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86/s40164-026-00777-1" TargetMode="External"/><Relationship Id="rId2" Type="http://schemas.openxmlformats.org/officeDocument/2006/relationships/hyperlink" Target="https://doi.org/10.1186/s40164-026-00777-1"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2659/AJCR.952800" TargetMode="External"/><Relationship Id="rId2" Type="http://schemas.openxmlformats.org/officeDocument/2006/relationships/hyperlink" Target="https://doi.org/10.12659/AJCR.95280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371/journal.pone.0341395" TargetMode="External"/><Relationship Id="rId2" Type="http://schemas.openxmlformats.org/officeDocument/2006/relationships/hyperlink" Target="https://doi.org/10.1371/journal.pone.034139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link.springer.com/article/10.1186/s12885-025-15310-6" TargetMode="External"/><Relationship Id="rId2" Type="http://schemas.openxmlformats.org/officeDocument/2006/relationships/hyperlink" Target="https://link.springer.com/article/10.1186/s12885-025-15310-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58/1535-7163.MCT-25-0564" TargetMode="External"/><Relationship Id="rId2" Type="http://schemas.openxmlformats.org/officeDocument/2006/relationships/hyperlink" Target="https://doi.org/10.1158/1535-7163.MCT-25-056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2026-05-04 — 2026-05-11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Optimizing bevacizumab exposure in atezolizumab-based therapy for unresectable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Patient-derived organotypic tumor spheroids as a functional platform for predict…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Sintilimab (PD-1 inhibitor) plus lenvatinib as conversion therapy followed by se…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ISX-TWIST1 reprograms CD47-inflammasome signaling to reshape the immune microenv…</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Case of Pernicious Anemia Induced by Atezolizumab in Hepatocellular Carcinoma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Comparison of outcomes of second-line durvalumab plus tremelimumab versus lenvat…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nutritional index and the survival of patients with hepatocellular ca…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MCT8 Modulates Metabolite Uptake and T-cell Exhaustion to Promote Immunosuppress…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Optimizing bevacizumab exposure in atezolizumab-based therapy for unresectable hepatocellular carcinoma: A nationwide real-world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bevacizumab dosing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Optimal BBI range identified: 106-121%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 group showed longer PFS and OS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 increased toxicity with adjusted dosing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response rate in Target group</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Aoe Kaho, Tada Toshifumi, Hiraoka Atsushi et al.. Hepatology (Baltimore, Md.). 2026-05-06 DOI: 10.1097/HEP.0000000000001781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Patient-derived organotypic tumor spheroids as a functional platform for predicting immunotherapeutic responses and guiding precision treatment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patient-derived organotypic tumor spheroids (PDOTS)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PDOTS model preserves HCC heterogeneity and immune microenvironment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Achieved 80% concordance in predicting treatment responses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'Organoid Killing Index' for treatment sensitivity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Supports individualized immunotherapy for HCC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Song Fei, Lu Yi-Jun, Sun Hai-Xiang et al.. Journal for immunotherapy of cancer. 2026-05-04 DOI: 10.1136/jitc-2025-014555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Sintilimab (PD-1 inhibitor) plus lenvatinib as conversion therapy followed by sequential surgery (SILENSES) for advanced unresectable hepatocellular carcinoma: a phase II, expansion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Signal transduction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Sintilimab-lenvatinib shows promising antitumor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56% conversion rate in unresectable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overall survival of 36 months reported.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73.9% five-year survival after surgical resection.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31% experienced grade ≥3 adverse events.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Shichun, Zhang Wenwen, Li Junfeng et al.. Signal transduction and targeted therapy. 2026-05-06 DOI: 10.1038/s41392-026-02708-2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ISX-TWIST1 reprograms CD47-inflammasome signaling to reshape the immune microenvironment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Experimental hematology &amp; oncology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ISX links CD47 signaling and inflammasomes.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Elevated CD47 promotes M2 macrophage polarization.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Eliminating M2-like macrophages halts disease progression.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Li-Ting, Lin Ming-Hong, Li Yi-Chuan et al.. Experimental hematology &amp; oncology. 2026-05-04 DOI: 10.1186/s40164-026-00777-1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conversion to resectable status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Case of Pernicious Anemia Induced by Atezolizumab in Hepatocellular Carcinoma and Renal Cell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American journal of case reports  ·  Case Report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Pernicious anemia as an irAE from ICI</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Case of 68-year-old man with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megaloblastic anemia post-atezolizumab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Gastric parietal cell antibodies positive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Vit.B12 levels should be monitored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Sugimoto Takeshi, Kanemori Gen, Kanehira Hirohumi et al.. The American journal of case reports. 2026-05-10 DOI: 10.12659/AJCR.952800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Comparison of outcomes of second-line durvalumab plus tremelimumab versus lenvatinib following first-line atezolizumab plus bevacizumab in unresectable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Durvalumab plus tremelimumab vs lenvatinib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Lenvatinib shows superior PFS and OS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grade 3 AEs with lenvatinib</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Nishioka Chinatsu, Tahata Yuki, Maesaka Kazuki et al.. PloS one. 2026-05-07 DOI: 10.1371/journal.pone.0341395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nutritional index and the survival of patients with hepatocellular carcinoma on immune checkpoint inhibitors: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nutritional index (PNI) impacts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HCC patients on ICIs.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Nutritional status correlates with immune response.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Fu, W Peng, J Jiang. BMC cancer.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radiotherapy and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hepatocellular carcinoma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Assessment of local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Inclusion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MCT8 Modulates Metabolite Uptake and T-cell Exhaustion to Promote Immunosuppression and Tumor Progression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cancer therapeutics  ·  IF 5.6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MCT8 regulates T-cell function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SLC16A2 knockout reduces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MCT8 mAb enhances CD8+ T-cell activity.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Bi Bin, Tang Liqin, Liang Ranxi et al.. Molecular cancer therapeutics. 2026-05-04 DOI: 10.1158/1535-7163.MCT-25-0564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**個體化治療的重要性 (Importance of Personalized Therapy)**  </a:t>
            </a:r>
            <a:endParaRPr lang="en-US" sz="1200" dirty="0"/>
          </a:p>
          <a:p>
            <a:pPr indent="0" marL="0">
              <a:lnSpc>
                <a:spcPct val="150000"/>
              </a:lnSpc>
              <a:buNone/>
            </a:pPr>
            <a:r>
              <a:rPr lang="en-US" sz="1200" dirty="0">
                <a:solidFill>
                  <a:srgbClr val="FFFFFF"/>
                </a:solidFill>
              </a:rPr>
              <a:t>   The studies emphasize the need for personalized treatment approaches in HCC, highlighting that standard dosing may not be effective for all patients due to variations in body composition and tumor microenvironment.  </a:t>
            </a:r>
            <a:endParaRPr lang="en-US" sz="1200" dirty="0"/>
          </a:p>
          <a:p>
            <a:pPr indent="0" marL="0">
              <a:lnSpc>
                <a:spcPct val="150000"/>
              </a:lnSpc>
              <a:buNone/>
            </a:pPr>
            <a:r>
              <a:rPr lang="en-US" sz="1200" dirty="0">
                <a:solidFill>
                  <a:srgbClr val="FFFFFF"/>
                </a:solidFill>
              </a:rPr>
              <a:t>   研究強調在肝癌治療中個體化治療的重要性，指出標準劑量可能因患者體組成和腫瘤微環境的差異而無法有效。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**免疫微環境的重塑 (Reprogramming the Immune Microenvironment)**  </a:t>
            </a:r>
            <a:endParaRPr lang="en-US" sz="1200" dirty="0"/>
          </a:p>
          <a:p>
            <a:pPr indent="0" marL="0">
              <a:lnSpc>
                <a:spcPct val="150000"/>
              </a:lnSpc>
              <a:buNone/>
            </a:pPr>
            <a:r>
              <a:rPr lang="en-US" sz="1200" dirty="0">
                <a:solidFill>
                  <a:srgbClr val="FFFFFF"/>
                </a:solidFill>
              </a:rPr>
              <a:t>   Innovative strategies such as ISX-TWIST1 reprogramming show potential in reshaping the immune microenvironment, which is crucial for enhancing the efficacy of immunotherapies in HCC.  </a:t>
            </a:r>
            <a:endParaRPr lang="en-US" sz="1200" dirty="0"/>
          </a:p>
          <a:p>
            <a:pPr indent="0" marL="0">
              <a:lnSpc>
                <a:spcPct val="150000"/>
              </a:lnSpc>
              <a:buNone/>
            </a:pPr>
            <a:r>
              <a:rPr lang="en-US" sz="1200" dirty="0">
                <a:solidFill>
                  <a:srgbClr val="FFFFFF"/>
                </a:solidFill>
              </a:rPr>
              <a:t>   創新策略如ISX-TWIST1重塑顯示出在改變免疫微環境方面的潛力，這對於提高肝癌免疫治療的療效至關重要。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**轉化療法的潛力 (Potential of Conversion Therapy)**  </a:t>
            </a:r>
            <a:endParaRPr lang="en-US" sz="1200" dirty="0"/>
          </a:p>
          <a:p>
            <a:pPr indent="0" marL="0">
              <a:lnSpc>
                <a:spcPct val="150000"/>
              </a:lnSpc>
              <a:buNone/>
            </a:pPr>
            <a:r>
              <a:rPr lang="en-US" sz="1200" dirty="0">
                <a:solidFill>
                  <a:srgbClr val="FFFFFF"/>
                </a:solidFill>
              </a:rPr>
              <a:t>   The combination of PD-1 inhibitors with other therapies, such as lenvatinib and transarterial chemoembolization, suggests promising outcomes for patients with unresectable HCC, paving the way for sequential surgical options.  </a:t>
            </a:r>
            <a:endParaRPr lang="en-US" sz="1200" dirty="0"/>
          </a:p>
          <a:p>
            <a:pPr indent="0" marL="0">
              <a:lnSpc>
                <a:spcPct val="150000"/>
              </a:lnSpc>
              <a:buNone/>
            </a:pPr>
            <a:r>
              <a:rPr lang="en-US" sz="1200" dirty="0">
                <a:solidFill>
                  <a:srgbClr val="FFFFFF"/>
                </a:solidFill>
              </a:rPr>
              <a:t>   PD-1抑制劑與其他療法（如lenvatinib和經動脈化療栓塞）的結合顯示出對於不可切除肝癌患者的良好預後，為後續的手術選擇鋪平了道路。</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**預測性平台的需求 (Need for Predictive Platforms)**  </a:t>
            </a:r>
            <a:endParaRPr lang="en-US" sz="1200" dirty="0"/>
          </a:p>
          <a:p>
            <a:pPr indent="0" marL="0">
              <a:lnSpc>
                <a:spcPct val="150000"/>
              </a:lnSpc>
              <a:buNone/>
            </a:pPr>
            <a:r>
              <a:rPr lang="en-US" sz="1200" dirty="0">
                <a:solidFill>
                  <a:srgbClr val="FFFFFF"/>
                </a:solidFill>
              </a:rPr>
              <a:t>   The development of patient-derived organotypic tumor spheroids as functional platforms is crucial for predicting individual responses to immunotherapy, which can guide precision treatment strategies.  </a:t>
            </a:r>
            <a:endParaRPr lang="en-US" sz="1200" dirty="0"/>
          </a:p>
          <a:p>
            <a:pPr indent="0" marL="0">
              <a:lnSpc>
                <a:spcPct val="150000"/>
              </a:lnSpc>
              <a:buNone/>
            </a:pPr>
            <a:r>
              <a:rPr lang="en-US" sz="1200" dirty="0">
                <a:solidFill>
                  <a:srgbClr val="FFFFFF"/>
                </a:solidFill>
              </a:rPr>
              <a:t>   開發患者衍生的有機腫瘤球體作為功能平台對於預測個體對免疫治療的反應至關重要，這可以指導精準治療策略。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**營養指數與生存率的關聯 (Association of Nutritional Index with Survival)**  </a:t>
            </a:r>
            <a:endParaRPr lang="en-US" sz="1200" dirty="0"/>
          </a:p>
          <a:p>
            <a:pPr indent="0" marL="0">
              <a:lnSpc>
                <a:spcPct val="150000"/>
              </a:lnSpc>
              <a:buNone/>
            </a:pPr>
            <a:r>
              <a:rPr lang="en-US" sz="1200" dirty="0">
                <a:solidFill>
                  <a:srgbClr val="FFFFFF"/>
                </a:solidFill>
              </a:rPr>
              <a:t>   The prognostic nutritional index emerges as a significant factor influencing survival in HCC patients undergoing immune checkpoint inhibitor therapy, indicating the importance of nutritional status in treatment outcomes.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預後營養指數成為影響接受免疫檢查點抑制劑治療的肝癌患者生存率的重要因素，顯示出營養狀態對治療結果的重要性。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**探索個體化劑量調整 (Exploration of Personalized Dosage Adjustments)**  </a:t>
            </a:r>
            <a:endParaRPr lang="en-US" sz="1200" dirty="0"/>
          </a:p>
          <a:p>
            <a:pPr indent="0" marL="0">
              <a:lnSpc>
                <a:spcPct val="150000"/>
              </a:lnSpc>
              <a:buNone/>
            </a:pPr>
            <a:r>
              <a:rPr lang="en-US" sz="1200" dirty="0">
                <a:solidFill>
                  <a:srgbClr val="FFFFFF"/>
                </a:solidFill>
              </a:rPr>
              <a:t>   Future studies should focus on optimizing bevacizumab dosing based on body surface area and composition to improve therapeutic outcomes in HCC patients.  </a:t>
            </a:r>
            <a:endParaRPr lang="en-US" sz="1200" dirty="0"/>
          </a:p>
          <a:p>
            <a:pPr indent="0" marL="0">
              <a:lnSpc>
                <a:spcPct val="150000"/>
              </a:lnSpc>
              <a:buNone/>
            </a:pPr>
            <a:r>
              <a:rPr lang="en-US" sz="1200" dirty="0">
                <a:solidFill>
                  <a:srgbClr val="FFFFFF"/>
                </a:solidFill>
              </a:rPr>
              <a:t>   未來研究應專注於根據體表面積和組成優化bevacizumab劑量，以改善肝癌患者的治療效果。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**深化免疫微環境研究 (Deepening Research on Immune Microenvironment)**  </a:t>
            </a:r>
            <a:endParaRPr lang="en-US" sz="1200" dirty="0"/>
          </a:p>
          <a:p>
            <a:pPr indent="0" marL="0">
              <a:lnSpc>
                <a:spcPct val="150000"/>
              </a:lnSpc>
              <a:buNone/>
            </a:pPr>
            <a:r>
              <a:rPr lang="en-US" sz="1200" dirty="0">
                <a:solidFill>
                  <a:srgbClr val="FFFFFF"/>
                </a:solidFill>
              </a:rPr>
              <a:t>   Investigating the mechanisms by which therapies like ISX-TWIST1 modify the immune microenvironment could provide insights into enhancing immunotherapy efficacy.  </a:t>
            </a:r>
            <a:endParaRPr lang="en-US" sz="1200" dirty="0"/>
          </a:p>
          <a:p>
            <a:pPr indent="0" marL="0">
              <a:lnSpc>
                <a:spcPct val="150000"/>
              </a:lnSpc>
              <a:buNone/>
            </a:pPr>
            <a:r>
              <a:rPr lang="en-US" sz="1200" dirty="0">
                <a:solidFill>
                  <a:srgbClr val="FFFFFF"/>
                </a:solidFill>
              </a:rPr>
              <a:t>   研究如ISX-TWIST1等療法改變免疫微環境的機制，可能為提高免疫治療的療效提供見解。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**開發新型預測工具 (Development of Novel Predictive Tools)**  </a:t>
            </a:r>
            <a:endParaRPr lang="en-US" sz="1200" dirty="0"/>
          </a:p>
          <a:p>
            <a:pPr indent="0" marL="0">
              <a:lnSpc>
                <a:spcPct val="150000"/>
              </a:lnSpc>
              <a:buNone/>
            </a:pPr>
            <a:r>
              <a:rPr lang="en-US" sz="1200" dirty="0">
                <a:solidFill>
                  <a:srgbClr val="FFFFFF"/>
                </a:solidFill>
              </a:rPr>
              <a:t>   Creating advanced predictive models and platforms that incorporate genetic, metabolic, and immunological factors will be essential for tailoring HCC treatments.  </a:t>
            </a:r>
            <a:endParaRPr lang="en-US" sz="1200" dirty="0"/>
          </a:p>
          <a:p>
            <a:pPr indent="0" marL="0">
              <a:lnSpc>
                <a:spcPct val="150000"/>
              </a:lnSpc>
              <a:buNone/>
            </a:pPr>
            <a:r>
              <a:rPr lang="en-US" sz="1200" dirty="0">
                <a:solidFill>
                  <a:srgbClr val="FFFFFF"/>
                </a:solidFill>
              </a:rPr>
              <a:t>   創建包含遺傳、代謝和免疫因素的先進預測模型和平台將對於量身定制肝癌治療至關重要。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**評估營養介入的影響 (Assessing the Impact of Nutritional Interventions)**  </a:t>
            </a:r>
            <a:endParaRPr lang="en-US" sz="1200" dirty="0"/>
          </a:p>
          <a:p>
            <a:pPr indent="0" marL="0">
              <a:lnSpc>
                <a:spcPct val="150000"/>
              </a:lnSpc>
              <a:buNone/>
            </a:pPr>
            <a:r>
              <a:rPr lang="en-US" sz="1200" dirty="0">
                <a:solidFill>
                  <a:srgbClr val="FFFFFF"/>
                </a:solidFill>
              </a:rPr>
              <a:t>   Future research should evaluate the role of nutritional interventions in conjunction with immunotherapy to enhance patient outcomes in HCC.  </a:t>
            </a:r>
            <a:endParaRPr lang="en-US" sz="1200" dirty="0"/>
          </a:p>
          <a:p>
            <a:pPr indent="0" marL="0">
              <a:lnSpc>
                <a:spcPct val="150000"/>
              </a:lnSpc>
              <a:buNone/>
            </a:pPr>
            <a:r>
              <a:rPr lang="en-US" sz="1200" dirty="0">
                <a:solidFill>
                  <a:srgbClr val="FFFFFF"/>
                </a:solidFill>
              </a:rPr>
              <a:t>   未來研究應評估營養介入與免疫治療結合的作用，以提高肝癌患者的療效。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**長期隨訪研究的必要性 (Need for Long-Term Follow-Up Studies)**  </a:t>
            </a:r>
            <a:endParaRPr lang="en-US" sz="1200" dirty="0"/>
          </a:p>
          <a:p>
            <a:pPr indent="0" marL="0">
              <a:lnSpc>
                <a:spcPct val="150000"/>
              </a:lnSpc>
              <a:buNone/>
            </a:pPr>
            <a:r>
              <a:rPr lang="en-US" sz="1200" dirty="0">
                <a:solidFill>
                  <a:srgbClr val="FFFFFF"/>
                </a:solidFill>
              </a:rPr>
              <a:t>   Conducting long-term follow-up studies on patients receiving conversion therapies will help determine the durability of treatment responses and survival benefits.  </a:t>
            </a:r>
            <a:endParaRPr lang="en-US" sz="1200" dirty="0"/>
          </a:p>
          <a:p>
            <a:pPr indent="0" marL="0">
              <a:lnSpc>
                <a:spcPct val="150000"/>
              </a:lnSpc>
              <a:buNone/>
            </a:pPr>
            <a:r>
              <a:rPr lang="en-US" sz="1200" dirty="0">
                <a:solidFill>
                  <a:srgbClr val="FFFFFF"/>
                </a:solidFill>
              </a:rPr>
              <a:t>   對接受轉化療法的患者進行長期隨訪研究將有助於確定治療反應的持久性和生存益處。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2026-05-11T04:57:24Z</dcterms:created>
  <dcterms:modified xsi:type="dcterms:W3CDTF">2026-05-11T04:57:24Z</dcterms:modified>
</cp:coreProperties>
</file>