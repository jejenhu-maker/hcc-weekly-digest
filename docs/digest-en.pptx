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S0140-6736(26)01252-3" TargetMode="External"/><Relationship Id="rId2" Type="http://schemas.openxmlformats.org/officeDocument/2006/relationships/hyperlink" Target="https://doi.org/10.1016/S0140-6736(26)01252-3"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93/jncics/pkag084" TargetMode="External"/><Relationship Id="rId2" Type="http://schemas.openxmlformats.org/officeDocument/2006/relationships/hyperlink" Target="https://doi.org/10.1093/jncics/pkag084"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16/j.isci.2026.117084" TargetMode="External"/><Relationship Id="rId2" Type="http://schemas.openxmlformats.org/officeDocument/2006/relationships/hyperlink" Target="https://doi.org/10.1016/j.isci.2026.117084"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158/1078-0432.CCR-26-1102" TargetMode="External"/><Relationship Id="rId2" Type="http://schemas.openxmlformats.org/officeDocument/2006/relationships/hyperlink" Target="https://doi.org/10.1158/1078-0432.CCR-26-1102"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nature.com/articles/s41392-026-02708-2" TargetMode="External"/><Relationship Id="rId2" Type="http://schemas.openxmlformats.org/officeDocument/2006/relationships/hyperlink" Target="https://www.nature.com/articles/s41392-026-02708-2"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2169/internalmedicine.7369-26" TargetMode="External"/><Relationship Id="rId2" Type="http://schemas.openxmlformats.org/officeDocument/2006/relationships/hyperlink" Target="https://doi.org/10.2169/internalmedicine.7369-26"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tandfonline.com/doi/abs/10.1080/02656736.2026.2713200" TargetMode="External"/><Relationship Id="rId2" Type="http://schemas.openxmlformats.org/officeDocument/2006/relationships/hyperlink" Target="https://www.tandfonline.com/doi/abs/10.1080/02656736.2026.2713200"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scopubs.org/doi/abs/10.1200/JCO.2026.44.2_suppl.547" TargetMode="External"/><Relationship Id="rId2" Type="http://schemas.openxmlformats.org/officeDocument/2006/relationships/hyperlink" Target="https://ascopubs.org/doi/abs/10.1200/JCO.2026.44.2_suppl.547"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38/s41416-026-03566-z" TargetMode="External"/><Relationship Id="rId2" Type="http://schemas.openxmlformats.org/officeDocument/2006/relationships/hyperlink" Target="https://doi.org/10.1038/s41416-026-03566-z"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HCC</a:t>
            </a:r>
            <a:endParaRPr lang="en-US" sz="4800" dirty="0"/>
          </a:p>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Weekly Digest</a:t>
            </a:r>
            <a:endParaRPr lang="en-US" sz="4800" dirty="0"/>
          </a:p>
          <a:p>
            <a:pPr indent="0" marL="0">
              <a:lnSpc>
                <a:spcPct val="100000"/>
              </a:lnSpc>
              <a:buNone/>
            </a:pPr>
            <a:r>
              <a:rPr lang="en-US" sz="1800" dirty="0">
                <a:solidFill>
                  <a:srgbClr val="FCA5A5"/>
                </a:solidFill>
                <a:latin typeface="Arial" pitchFamily="34" charset="0"/>
                <a:ea typeface="Arial" pitchFamily="34" charset="-122"/>
                <a:cs typeface="Arial" pitchFamily="34" charset="-120"/>
              </a:rPr>
              <a:t>For Prof. Lu</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2026-08-17 — 2026-08-24</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Liver resection after atezolizumab and bevacizumab versus maintenance therapy fo…</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Integrating efficacy and safety profile in advanced HCC: A network meta-analysis…</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Adjuvant and neoadjuvant therapies in HCC: Time to go perioperative?</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Baseline circulating and tumor &amp;#x3b3;&amp;#x3b4; T cells and early circulating CD8&amp;…</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(PD-1 inhibitor) plus lenvatinib as conversion therapy followed by sequential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 Case of Unresectable Hepatocellular Carcinoma Responding to Durvalumab Plus Tr…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Cryoablation versus radiofrequency ablation for hepatocellular carcinoma: a syst…</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Radiotherapy versus local ablation therapy for the treatment of hepatocellular 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Kdm2a histone demethylase ablation restores anti-tumor immunogenicity in liver c…</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Liver resection after atezolizumab and bevacizumab versus maintenance therapy for locally advanced hepatocellular carcinoma (TALENTOP): a multicentre, open-label, randomised, phase 3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Lancet (London, England)  ·  IF 41.6  ·  RCT Phase 3</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Surgery improves time to treatment failure.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involved 489 treatment-naive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Adverse events were more common in surgery group.</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Sun Hui-Chuan, Zhu Xiao-Dong, Shen Feng et al.. Lancet (London, England). 2026-08-20 DOI: 10.1016/S0140-6736(26)01252-3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Integrating efficacy and safety profile in advanced HCC: A network meta-analysis of first-line systemic therapies.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JNCI cancer spectrum  ·  RCT Phase 3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Network meta-analysis of first-line therapies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Seventeen studies with 12,727 patients analyzed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Nivolumab-Ipilimumab shows best overall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Subgroup analysis highlights treatment variations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Emphasizes need for personalized HCC management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Chua Wei Yu, Zhao Joseph J, Lee Choong-Kun et al.. JNCI cancer spectrum. 2026-08-21 DOI: 10.1093/jncics/pkag084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Adjuvant and neoadjuvant therapies in HCC: Time to go perioperative?</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iScience  ·  RCT Phase 3</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HCC has high recurrence rates post-treatment.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ICIs show promise in advanced HCC stages.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Neoadjuvant therapies enhance immune response.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Perioperative strategies may improve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Challenges include patient selection and toxicity.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Pantzios Spyridon, Germanidis Georgios, Elefsiniotis Ioannis. iScience. 2026-08-20 DOI: 10.1016/j.isci.2026.117084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Baseline circulating and tumor &amp;#x3b3;&amp;#x3b4; T cells and early circulating CD8&amp;#x207a;PD1&amp;#x207a; expansion predict response to Atezolizumab-bevacizumab in HCC.</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Clinical cancer research : an official journal of the American Association for Cancer Research  ·  IF 11.5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baseline γδ T cells predict better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Early CD8+PD-1+ expansion linked to longer PFS.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Increased CD8+TIGIT+ cells indicate treatment resistance.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Galy-Fauroux Isabelle, Asif-Laidin Amna, Evain Manon et al.. Clinical cancer research : an official journal of the American Association for Cancer Research. 2026-08-17 DOI: 10.1158/1078-0432.CCR-26-1102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for unresectable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Transarterial chemoembolization (TACE) used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PD-1 inhibitors enhance treatment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2 trial demonstrates promising results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conversion to resectable disease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(PD-1 inhibitor) plus lenvatinib as conversion therapy followed by sequential surgery (SILENSES) for advanced unresectable hepatocellular carcinoma: a phase II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evaluates PD-1 inhibitor plus lenvatinib</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unresectable hepatocellular carcinoma</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Sequential surgery improves long-term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II trial with promising results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new standard for advanced HCC</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 Lu, W Zhang, J Li.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 Case of Unresectable Hepatocellular Carcinoma Responding to Durvalumab Plus Tremelimumab after Lenvatinib Treatment.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Internal medicine (Tokyo, Japan)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Case of unresectable HCC reported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Durvalumab plus tremelimumab used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Patient previously intolerant to lenvatinib</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Tumor markers increased then normalized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Radiological shrinkage observed without new lesions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Sueda Saki, Kawaoka Tomokazu, Fujii Yasutoshi et al.. Internal medicine (Tokyo, Japan). 2026-08-19 DOI: 10.2169/internalmedicine.7369-26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Cryoablation versus radiofrequency ablation for hepatocellular carcinoma: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Cryoablation shows effective local control.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Comparison with radiofrequency ablation.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early-stage hepatocellular carcinoma.</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treatment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Primary tumors &gt;2 cm evaluated.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K Mao, Y Wang, W Yao. International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Radiotherapy versus local ablation therapy for the treatment of hepatocellular carcinoma: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Clinical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Comparison of radiotherapy and local ablation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hepatocellular carcinoma treatment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Analysis of local progression-free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Inclusion of radiofrequency and microwave ablation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SH Bae, SH Choi, SM Yoon. Journal of Clinical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Kdm2a histone demethylase ablation restores anti-tumor immunogenicity in liver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British journal of cancer  ·  IF 6.4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KDM2A silencing enhances immune pathways.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KDM2A correlates with poor tumor differentiation.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Loss of KDM2A increases CD8+ T-cell infiltration.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Gragnani Laura, Lulli Matteo, Caini Patrizio et al.. British journal of cancer. 2026-08-19 DOI: 10.1038/s41416-026-03566-z</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**免疫治療的潛力**  </a:t>
            </a:r>
            <a:endParaRPr lang="en-US" sz="1200" dirty="0"/>
          </a:p>
          <a:p>
            <a:pPr indent="0" marL="0">
              <a:lnSpc>
                <a:spcPct val="150000"/>
              </a:lnSpc>
              <a:buNone/>
            </a:pPr>
            <a:r>
              <a:rPr lang="en-US" sz="1200" dirty="0">
                <a:solidFill>
                  <a:srgbClr val="FFFFFF"/>
                </a:solidFill>
              </a:rPr>
              <a:t>   Immune checkpoint inhibitors (ICIs) have demonstrated improved outcomes in advanced hepatocellular carcinoma (HCC) and are being explored in earlier stages, indicating their potential in enhancing survival rates.  </a:t>
            </a:r>
            <a:endParaRPr lang="en-US" sz="1200" dirty="0"/>
          </a:p>
          <a:p>
            <a:pPr indent="0" marL="0">
              <a:lnSpc>
                <a:spcPct val="150000"/>
              </a:lnSpc>
              <a:buNone/>
            </a:pPr>
            <a:r>
              <a:rPr lang="en-US" sz="1200" dirty="0">
                <a:solidFill>
                  <a:srgbClr val="FFFFFF"/>
                </a:solidFill>
              </a:rPr>
              <a:t>   免疫檢查點抑制劑（ICIs）在晚期肝細胞癌（HCC）中顯示出改善預後的潛力，並且正在早期階段進行探索，顯示出提升生存率的可能性。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**局部消融與系統治療的結合**  </a:t>
            </a:r>
            <a:endParaRPr lang="en-US" sz="1200" dirty="0"/>
          </a:p>
          <a:p>
            <a:pPr indent="0" marL="0">
              <a:lnSpc>
                <a:spcPct val="150000"/>
              </a:lnSpc>
              <a:buNone/>
            </a:pPr>
            <a:r>
              <a:rPr lang="en-US" sz="1200" dirty="0">
                <a:solidFill>
                  <a:srgbClr val="FFFFFF"/>
                </a:solidFill>
              </a:rPr>
              <a:t>   The combination of local ablation therapies with systemic treatments, such as atezolizumab and bevacizumab, may offer synergistic effects, enhancing treatment efficacy for unresectable HCC.  </a:t>
            </a:r>
            <a:endParaRPr lang="en-US" sz="1200" dirty="0"/>
          </a:p>
          <a:p>
            <a:pPr indent="0" marL="0">
              <a:lnSpc>
                <a:spcPct val="150000"/>
              </a:lnSpc>
              <a:buNone/>
            </a:pPr>
            <a:r>
              <a:rPr lang="en-US" sz="1200" dirty="0">
                <a:solidFill>
                  <a:srgbClr val="FFFFFF"/>
                </a:solidFill>
              </a:rPr>
              <a:t>   將局部消融療法與系統性治療（如阿特珠單抗和貝伐單抗）結合，可能會產生協同效應，提高無法切除的HCC的治療效果。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**生物標記的預測能力**  </a:t>
            </a:r>
            <a:endParaRPr lang="en-US" sz="1200" dirty="0"/>
          </a:p>
          <a:p>
            <a:pPr indent="0" marL="0">
              <a:lnSpc>
                <a:spcPct val="150000"/>
              </a:lnSpc>
              <a:buNone/>
            </a:pPr>
            <a:r>
              <a:rPr lang="en-US" sz="1200" dirty="0">
                <a:solidFill>
                  <a:srgbClr val="FFFFFF"/>
                </a:solidFill>
              </a:rPr>
              <a:t>   Baseline circulating and tumor immune features can predict responses to therapies, highlighting the importance of personalized treatment strategies in HCC management.  </a:t>
            </a:r>
            <a:endParaRPr lang="en-US" sz="1200" dirty="0"/>
          </a:p>
          <a:p>
            <a:pPr indent="0" marL="0">
              <a:lnSpc>
                <a:spcPct val="150000"/>
              </a:lnSpc>
              <a:buNone/>
            </a:pPr>
            <a:r>
              <a:rPr lang="en-US" sz="1200" dirty="0">
                <a:solidFill>
                  <a:srgbClr val="FFFFFF"/>
                </a:solidFill>
              </a:rPr>
              <a:t>   基線循環和腫瘤免疫特徵可以預測對療法的反應，凸顯了個性化治療策略在HCC管理中的重要性。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**手術時機的重新評估**  </a:t>
            </a:r>
            <a:endParaRPr lang="en-US" sz="1200" dirty="0"/>
          </a:p>
          <a:p>
            <a:pPr indent="0" marL="0">
              <a:lnSpc>
                <a:spcPct val="150000"/>
              </a:lnSpc>
              <a:buNone/>
            </a:pPr>
            <a:r>
              <a:rPr lang="en-US" sz="1200" dirty="0">
                <a:solidFill>
                  <a:srgbClr val="FFFFFF"/>
                </a:solidFill>
              </a:rPr>
              <a:t>   Resection after systemic therapy may provide additional survival benefits, suggesting a need to reevaluate surgical timing in the treatment of advanced HCC.  </a:t>
            </a:r>
            <a:endParaRPr lang="en-US" sz="1200" dirty="0"/>
          </a:p>
          <a:p>
            <a:pPr indent="0" marL="0">
              <a:lnSpc>
                <a:spcPct val="150000"/>
              </a:lnSpc>
              <a:buNone/>
            </a:pPr>
            <a:r>
              <a:rPr lang="en-US" sz="1200" dirty="0">
                <a:solidFill>
                  <a:srgbClr val="FFFFFF"/>
                </a:solidFill>
              </a:rPr>
              <a:t>   在系統治療後進行切除可能提供額外的生存益處，這表明需要重新評估在晚期HCC治療中的手術時機。</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**多學科治療的必要性**  </a:t>
            </a:r>
            <a:endParaRPr lang="en-US" sz="1200" dirty="0"/>
          </a:p>
          <a:p>
            <a:pPr indent="0" marL="0">
              <a:lnSpc>
                <a:spcPct val="150000"/>
              </a:lnSpc>
              <a:buNone/>
            </a:pPr>
            <a:r>
              <a:rPr lang="en-US" sz="1200" dirty="0">
                <a:solidFill>
                  <a:srgbClr val="FFFFFF"/>
                </a:solidFill>
              </a:rPr>
              <a:t>   A multidisciplinary approach integrating surgery, systemic therapy, and local ablation is essential for optimizing outcomes in patients with advanced HCC.</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整合外科手術、系統治療和局部消融的多學科方法對於優化晚期HCC患者的治療結果至關重要。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**早期階段免疫治療的臨床試驗**  </a:t>
            </a:r>
            <a:endParaRPr lang="en-US" sz="1200" dirty="0"/>
          </a:p>
          <a:p>
            <a:pPr indent="0" marL="0">
              <a:lnSpc>
                <a:spcPct val="150000"/>
              </a:lnSpc>
              <a:buNone/>
            </a:pPr>
            <a:r>
              <a:rPr lang="en-US" sz="1200" dirty="0">
                <a:solidFill>
                  <a:srgbClr val="FFFFFF"/>
                </a:solidFill>
              </a:rPr>
              <a:t>   Further clinical trials are needed to assess the efficacy of ICIs in early-stage HCC, potentially changing the treatment landscape.  </a:t>
            </a:r>
            <a:endParaRPr lang="en-US" sz="1200" dirty="0"/>
          </a:p>
          <a:p>
            <a:pPr indent="0" marL="0">
              <a:lnSpc>
                <a:spcPct val="150000"/>
              </a:lnSpc>
              <a:buNone/>
            </a:pPr>
            <a:r>
              <a:rPr lang="en-US" sz="1200" dirty="0">
                <a:solidFill>
                  <a:srgbClr val="FFFFFF"/>
                </a:solidFill>
              </a:rPr>
              <a:t>   需要進一步的臨床試驗來評估ICIs在早期HCC中的療效，這可能會改變治療格局。</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**個性化治療的生物標記研究**  </a:t>
            </a:r>
            <a:endParaRPr lang="en-US" sz="1200" dirty="0"/>
          </a:p>
          <a:p>
            <a:pPr indent="0" marL="0">
              <a:lnSpc>
                <a:spcPct val="150000"/>
              </a:lnSpc>
              <a:buNone/>
            </a:pPr>
            <a:r>
              <a:rPr lang="en-US" sz="1200" dirty="0">
                <a:solidFill>
                  <a:srgbClr val="FFFFFF"/>
                </a:solidFill>
              </a:rPr>
              <a:t>   Investigating biomarkers for predicting treatment responses will be crucial for developing personalized therapeutic strategies in HCC.  </a:t>
            </a:r>
            <a:endParaRPr lang="en-US" sz="1200" dirty="0"/>
          </a:p>
          <a:p>
            <a:pPr indent="0" marL="0">
              <a:lnSpc>
                <a:spcPct val="150000"/>
              </a:lnSpc>
              <a:buNone/>
            </a:pPr>
            <a:r>
              <a:rPr lang="en-US" sz="1200" dirty="0">
                <a:solidFill>
                  <a:srgbClr val="FFFFFF"/>
                </a:solidFill>
              </a:rPr>
              <a:t>   研究預測治療反應的生物標記將對開發HCC的個性化治療策略至關重要。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**局部消融技術的優化**  </a:t>
            </a:r>
            <a:endParaRPr lang="en-US" sz="1200" dirty="0"/>
          </a:p>
          <a:p>
            <a:pPr indent="0" marL="0">
              <a:lnSpc>
                <a:spcPct val="150000"/>
              </a:lnSpc>
              <a:buNone/>
            </a:pPr>
            <a:r>
              <a:rPr lang="en-US" sz="1200" dirty="0">
                <a:solidFill>
                  <a:srgbClr val="FFFFFF"/>
                </a:solidFill>
              </a:rPr>
              <a:t>   Future studies should focus on optimizing local ablation techniques and their combinations with systemic therapies to maximize patient outcomes.  </a:t>
            </a:r>
            <a:endParaRPr lang="en-US" sz="1200" dirty="0"/>
          </a:p>
          <a:p>
            <a:pPr indent="0" marL="0">
              <a:lnSpc>
                <a:spcPct val="150000"/>
              </a:lnSpc>
              <a:buNone/>
            </a:pPr>
            <a:r>
              <a:rPr lang="en-US" sz="1200" dirty="0">
                <a:solidFill>
                  <a:srgbClr val="FFFFFF"/>
                </a:solidFill>
              </a:rPr>
              <a:t>   未來的研究應集中於優化局部消融技術及其與系統性療法的結合，以最大化患者的治療結果。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**多學科治療模式的評估**  </a:t>
            </a:r>
            <a:endParaRPr lang="en-US" sz="1200" dirty="0"/>
          </a:p>
          <a:p>
            <a:pPr indent="0" marL="0">
              <a:lnSpc>
                <a:spcPct val="150000"/>
              </a:lnSpc>
              <a:buNone/>
            </a:pPr>
            <a:r>
              <a:rPr lang="en-US" sz="1200" dirty="0">
                <a:solidFill>
                  <a:srgbClr val="FFFFFF"/>
                </a:solidFill>
              </a:rPr>
              <a:t>   Evaluating the effectiveness of multidisciplinary treatment approaches in HCC management will provide insights into best practices and improve patient care.  </a:t>
            </a:r>
            <a:endParaRPr lang="en-US" sz="1200" dirty="0"/>
          </a:p>
          <a:p>
            <a:pPr indent="0" marL="0">
              <a:lnSpc>
                <a:spcPct val="150000"/>
              </a:lnSpc>
              <a:buNone/>
            </a:pPr>
            <a:r>
              <a:rPr lang="en-US" sz="1200" dirty="0">
                <a:solidFill>
                  <a:srgbClr val="FFFFFF"/>
                </a:solidFill>
              </a:rPr>
              <a:t>   評估多學科治療模式在HCC管理中的有效性將提供最佳實踐的見解並改善患者護理。</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**免疫逃逸機制的深入研究**  </a:t>
            </a:r>
            <a:endParaRPr lang="en-US" sz="1200" dirty="0"/>
          </a:p>
          <a:p>
            <a:pPr indent="0" marL="0">
              <a:lnSpc>
                <a:spcPct val="150000"/>
              </a:lnSpc>
              <a:buNone/>
            </a:pPr>
            <a:r>
              <a:rPr lang="en-US" sz="1200" dirty="0">
                <a:solidFill>
                  <a:srgbClr val="FFFFFF"/>
                </a:solidFill>
              </a:rPr>
              <a:t>   Understanding the mechanisms of immune evasion in liver cancer will be essential for developing new therapeutic strategies that enhance the efficacy of existing treatments.  </a:t>
            </a:r>
            <a:endParaRPr lang="en-US" sz="1200" dirty="0"/>
          </a:p>
          <a:p>
            <a:pPr indent="0" marL="0">
              <a:lnSpc>
                <a:spcPct val="150000"/>
              </a:lnSpc>
              <a:buNone/>
            </a:pPr>
            <a:r>
              <a:rPr lang="en-US" sz="1200" dirty="0">
                <a:solidFill>
                  <a:srgbClr val="FFFFFF"/>
                </a:solidFill>
              </a:rPr>
              <a:t>   理解肝癌中的免疫逃逸機制對於開發增強現有治療效果的新療法至關重要。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HCC Weekly Digest</dc:title>
  <dc:subject>PptxGenJS Presentation</dc:subject>
  <dc:creator>HCC Weekly Digest</dc:creator>
  <cp:lastModifiedBy>HCC Weekly Digest</cp:lastModifiedBy>
  <cp:revision>1</cp:revision>
  <dcterms:created xsi:type="dcterms:W3CDTF">2026-08-24T02:20:40Z</dcterms:created>
  <dcterms:modified xsi:type="dcterms:W3CDTF">2026-08-24T02:20:40Z</dcterms:modified>
</cp:coreProperties>
</file>