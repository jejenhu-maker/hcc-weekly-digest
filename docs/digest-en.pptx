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36/gutjnl-2026-338227" TargetMode="External"/><Relationship Id="rId2" Type="http://schemas.openxmlformats.org/officeDocument/2006/relationships/hyperlink" Target="https://doi.org/10.1136/gutjnl-2026-338227"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journal-of-hepatology.eu/article/S0168-8278(26)00025-5/abstract" TargetMode="External"/><Relationship Id="rId2" Type="http://schemas.openxmlformats.org/officeDocument/2006/relationships/hyperlink" Target="https://www.journal-of-hepatology.eu/article/S0168-8278(26)00025-5/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ejca.2026.116847" TargetMode="External"/><Relationship Id="rId2" Type="http://schemas.openxmlformats.org/officeDocument/2006/relationships/hyperlink" Target="https://doi.org/10.1016/j.ejca.2026.116847"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36/jitc-2026-015428" TargetMode="External"/><Relationship Id="rId2" Type="http://schemas.openxmlformats.org/officeDocument/2006/relationships/hyperlink" Target="https://doi.org/10.1136/jitc-2026-015428"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77/17588359261470693" TargetMode="External"/><Relationship Id="rId2" Type="http://schemas.openxmlformats.org/officeDocument/2006/relationships/hyperlink" Target="https://doi.org/10.1177/1758835926147069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jhep-reports.eu/article/S2589-5559(25)00340-4/fulltext" TargetMode="External"/><Relationship Id="rId2" Type="http://schemas.openxmlformats.org/officeDocument/2006/relationships/hyperlink" Target="https://www.jhep-reports.eu/article/S2589-5559(25)00340-4/fulltext"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3388185/" TargetMode="External"/><Relationship Id="rId2" Type="http://schemas.openxmlformats.org/officeDocument/2006/relationships/hyperlink" Target="https://pmc.ncbi.nlm.nih.gov/articles/PMC13388185/"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onlinelibrary.wiley.com/doi/abs/10.1111/jgh.70318" TargetMode="External"/><Relationship Id="rId2" Type="http://schemas.openxmlformats.org/officeDocument/2006/relationships/hyperlink" Target="https://onlinelibrary.wiley.com/doi/abs/10.1111/jgh.70318"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link.springer.com/article/10.1007/s00262-025-04251-5" TargetMode="External"/><Relationship Id="rId2" Type="http://schemas.openxmlformats.org/officeDocument/2006/relationships/hyperlink" Target="https://link.springer.com/article/10.1007/s00262-025-04251-5"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2026-07-20 — 2026-07-27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Clonal diversity underpins distinct modes of recurrence in hepatocellular carcin…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Conversion surgery as a missing outcome in first-line immunotherapy trials for 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Nivolumab in combination with lenvatinib in unresectable hepatocellular carcinom…</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Decoding neoantigen-encoding tumor-specific transcripts unveils a shared target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Bevacizumab plus iparomlimab/tuvonralimab with hepatic artery infusion chemother…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and stereotactic body radiotherapy combined in advanced hepatocell…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Image-guided radiofrequency versus microwave ablation for small to medium hepato…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Immune Checkpoint Inhibitor–Based Adjuvant Treatment Versus Surveillance in Cura…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on interventional therapy and immune checkpoint inhibitors (ICIs) in patients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Clonal diversity underpins distinct modes of recurrence in hepatocellular carcinoma: the PLANet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recurrence rate in HCC post-surgery.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polyclonal and monoclonal recurrence.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Polyclonal recurrences linked to immune suppression.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Distant metastases from aggressive subclones.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Multi-omics model predicts recurrence accurately.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Ying, Sekar Karthik, Phua Cheryl Zi Jin et al.. Gut. 2026-07-21 DOI: 10.1136/gutjnl-2026-338227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Conversion surgery as a missing outcome in first-line immunotherapy trials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Conversion surgery in HCC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Immunotherapy plus ipilimumab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perioperative immune support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resectable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Importance of surgical outcomes in trials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 Xu, J Sun, Q Liang. Journal of Hepatology.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Nivolumab in combination with lenvatinib in unresectable hepatocellular carcinoma: The IKF-t006/IMMUNIB translational phase-2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cancer (Oxford, England : 1990)  ·  IF 8.4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Nivolumab plus lenvatinib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Objective response rate was 32% in trial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overall survival reached 26.6 months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Adverse events included colitis and hypertension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FGFR activation linked to treatment benefits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Vogel Arndt, Ben Khaled Najib, Ramirez Javier Ruiz et al.. European journal of cancer (Oxford, England : 1990). 2026-07-08 DOI: 10.1016/j.ejca.2026.116847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Decoding neoantigen-encoding tumor-specific transcripts unveils a shared target reservoir for immunotherapy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NeoTSTs identified as abundant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frequency than mutation-derived neoantigens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Validations through proteomics and models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Mechanisms include retained introns and activation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NeoTSTs enhance immunotherapy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Peng, Wen Yifan, Zhao Jingjing et al.. Journal for immunotherapy of cancer. 2026-07-21 DOI: 10.1136/jitc-2026-015428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Bevacizumab plus iparomlimab/tuvonralimab with hepatic artery infusion chemotherapy followed by stereotactic body radiotherapy in patients with BCLC stage C hepatocellular carcinoma with thrombus and/or extrahepatic oligometastases (BITS-TO-HCC): study protocol of a prospective, single-center, single-arm, phase II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Therapeutic advances in medical oncology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advanced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Sequential strategy with HAIC and immunotherapy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Primary endpoint: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Secondary endpoints include overall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registered on ClinicalTrials.gov</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Yuxin, Wang Haohua, Zhu Kunli et al.. Therapeutic advances in medical oncology. 2026-07-26 DOI: 10.1177/17588359261470693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and stereotactic body radiotherapy combined in advanced hepatocellular carcinoma post sorafenib–A phase II trial (PEMRAD)</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trial of PEMRAD initiated.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Combines pembrolizumab with radiotherapy.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Targets advanced hepatocellular carcinoma.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Conducted post-sorafenib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Evaluates safety and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GM O'Kane, A Mesci, RW Jang. JHEP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Image-guided radiofrequency versus microwave ablation for small to medium hepatocellular carcinoma: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small-to-medium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of radiofrequency and microwave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Inclusion of randomized controlled trials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Evaluation of treatment efficacy and safety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provides comprehensive insights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 L Wang, T Hu.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Comparison of radiotherapy and local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hepatocellular carcinoma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Analysis of local progression-free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Evaluation of radiofrequency and microwave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Immune Checkpoint Inhibitor–Based Adjuvant Treatment Versus Surveillance in Curatively Treated Hepatocellular Carcinoma: a Systematic Review and Meta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and …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Immune checkpoint inhibitors show promise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Adjuvant treatment improves outcomes post-surgery.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Surveillance alone may not be sufficient.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 Akkus, HA Yaşar. Journal of gastroenterology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on interventional therapy and immune checkpoint inhibitors (ICIs) in patients with intermediate-and advanced-stage hepatocellular carcinoma: a systematic review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Immunotherapy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shows promise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ICIs enhance efficacy of interventional therapies.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highlights clinical outcomes.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Su, Y Su, R Mai. … , Immunotherapy.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**克隆多样性与复发机制**  </a:t>
            </a:r>
            <a:endParaRPr lang="en-US" sz="1200" dirty="0"/>
          </a:p>
          <a:p>
            <a:pPr indent="0" marL="0">
              <a:lnSpc>
                <a:spcPct val="150000"/>
              </a:lnSpc>
              <a:buNone/>
            </a:pPr>
            <a:r>
              <a:rPr lang="en-US" sz="1200" dirty="0">
                <a:solidFill>
                  <a:srgbClr val="FFFFFF"/>
                </a:solidFill>
              </a:rPr>
              <a:t>   Clonal diversity plays a critical role in the distinct recurrence patterns observed in hepatocellular carcinoma (HCC), highlighting the need for personalized treatment strategies.  </a:t>
            </a:r>
            <a:endParaRPr lang="en-US" sz="1200" dirty="0"/>
          </a:p>
          <a:p>
            <a:pPr indent="0" marL="0">
              <a:lnSpc>
                <a:spcPct val="150000"/>
              </a:lnSpc>
              <a:buNone/>
            </a:pPr>
            <a:r>
              <a:rPr lang="en-US" sz="1200" dirty="0">
                <a:solidFill>
                  <a:srgbClr val="FFFFFF"/>
                </a:solidFill>
              </a:rPr>
              <a:t>   克隆多樣性在肝細胞癌（HCC）的不同復發模式中扮演關鍵角色，強調了個性化治療策略的必要性。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**免疫治疗与手术结合的潜力**  </a:t>
            </a:r>
            <a:endParaRPr lang="en-US" sz="1200" dirty="0"/>
          </a:p>
          <a:p>
            <a:pPr indent="0" marL="0">
              <a:lnSpc>
                <a:spcPct val="150000"/>
              </a:lnSpc>
              <a:buNone/>
            </a:pPr>
            <a:r>
              <a:rPr lang="en-US" sz="1200" dirty="0">
                <a:solidFill>
                  <a:srgbClr val="FFFFFF"/>
                </a:solidFill>
              </a:rPr>
              <a:t>   The integration of immune checkpoint inhibitors with surgical approaches may enhance therapeutic outcomes, particularly in patients with resectable HCC.  </a:t>
            </a:r>
            <a:endParaRPr lang="en-US" sz="1200" dirty="0"/>
          </a:p>
          <a:p>
            <a:pPr indent="0" marL="0">
              <a:lnSpc>
                <a:spcPct val="150000"/>
              </a:lnSpc>
              <a:buNone/>
            </a:pPr>
            <a:r>
              <a:rPr lang="en-US" sz="1200" dirty="0">
                <a:solidFill>
                  <a:srgbClr val="FFFFFF"/>
                </a:solidFill>
              </a:rPr>
              <a:t>   將免疫檢查點抑制劑與手術方法結合可能會改善治療結果，特別是在可切除的HCC患者中。</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**新抗原疫苗的挑战与前景**  </a:t>
            </a:r>
            <a:endParaRPr lang="en-US" sz="1200" dirty="0"/>
          </a:p>
          <a:p>
            <a:pPr indent="0" marL="0">
              <a:lnSpc>
                <a:spcPct val="150000"/>
              </a:lnSpc>
              <a:buNone/>
            </a:pPr>
            <a:r>
              <a:rPr lang="en-US" sz="1200" dirty="0">
                <a:solidFill>
                  <a:srgbClr val="FFFFFF"/>
                </a:solidFill>
              </a:rPr>
              <a:t>   Despite the promise of mutation-derived neoantigen vaccines, their clinical application is limited by the availability of suitable antigens, necessitating innovative approaches to neoantigen discovery.  </a:t>
            </a:r>
            <a:endParaRPr lang="en-US" sz="1200" dirty="0"/>
          </a:p>
          <a:p>
            <a:pPr indent="0" marL="0">
              <a:lnSpc>
                <a:spcPct val="150000"/>
              </a:lnSpc>
              <a:buNone/>
            </a:pPr>
            <a:r>
              <a:rPr lang="en-US" sz="1200" dirty="0">
                <a:solidFill>
                  <a:srgbClr val="FFFFFF"/>
                </a:solidFill>
              </a:rPr>
              <a:t>   儘管突變衍生的新抗原疫苗具有潛力，但其臨床應用受到合適抗原可用性的限制，需創新方法來發現新抗原。</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**局部消融与放疗的比较**  </a:t>
            </a:r>
            <a:endParaRPr lang="en-US" sz="1200" dirty="0"/>
          </a:p>
          <a:p>
            <a:pPr indent="0" marL="0">
              <a:lnSpc>
                <a:spcPct val="150000"/>
              </a:lnSpc>
              <a:buNone/>
            </a:pPr>
            <a:r>
              <a:rPr lang="en-US" sz="1200" dirty="0">
                <a:solidFill>
                  <a:srgbClr val="FFFFFF"/>
                </a:solidFill>
              </a:rPr>
              <a:t>   Local ablative therapies, such as radiofrequency and microwave ablation, show comparable efficacy to radiotherapy, emphasizing their importance in the management of small to medium HCC.  </a:t>
            </a:r>
            <a:endParaRPr lang="en-US" sz="1200" dirty="0"/>
          </a:p>
          <a:p>
            <a:pPr indent="0" marL="0">
              <a:lnSpc>
                <a:spcPct val="150000"/>
              </a:lnSpc>
              <a:buNone/>
            </a:pPr>
            <a:r>
              <a:rPr lang="en-US" sz="1200" dirty="0">
                <a:solidFill>
                  <a:srgbClr val="FFFFFF"/>
                </a:solidFill>
              </a:rPr>
              <a:t>   局部消融療法，如射頻和微波消融，顯示出與放療相當的療效，強調了它們在小至中型HCC管理中的重要性。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**术后免疫治疗的必要性**  </a:t>
            </a:r>
            <a:endParaRPr lang="en-US" sz="1200" dirty="0"/>
          </a:p>
          <a:p>
            <a:pPr indent="0" marL="0">
              <a:lnSpc>
                <a:spcPct val="150000"/>
              </a:lnSpc>
              <a:buNone/>
            </a:pPr>
            <a:r>
              <a:rPr lang="en-US" sz="1200" dirty="0">
                <a:solidFill>
                  <a:srgbClr val="FFFFFF"/>
                </a:solidFill>
              </a:rPr>
              <a:t>   There is a growing recognition of the potential benefits of adjuvant immunotherapy following curative treatments for HCC, which may improve long-term outcomes.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越來越多的認識到術後免疫治療對於HCC的潛在益處，可能改善長期結果。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**深入研究克隆多样性**  </a:t>
            </a:r>
            <a:endParaRPr lang="en-US" sz="1200" dirty="0"/>
          </a:p>
          <a:p>
            <a:pPr indent="0" marL="0">
              <a:lnSpc>
                <a:spcPct val="150000"/>
              </a:lnSpc>
              <a:buNone/>
            </a:pPr>
            <a:r>
              <a:rPr lang="en-US" sz="1200" dirty="0">
                <a:solidFill>
                  <a:srgbClr val="FFFFFF"/>
                </a:solidFill>
              </a:rPr>
              <a:t>   Further investigations into the clonal evolution of HCC could provide insights into recurrence mechanisms and inform targeted therapies.  </a:t>
            </a:r>
            <a:endParaRPr lang="en-US" sz="1200" dirty="0"/>
          </a:p>
          <a:p>
            <a:pPr indent="0" marL="0">
              <a:lnSpc>
                <a:spcPct val="150000"/>
              </a:lnSpc>
              <a:buNone/>
            </a:pPr>
            <a:r>
              <a:rPr lang="en-US" sz="1200" dirty="0">
                <a:solidFill>
                  <a:srgbClr val="FFFFFF"/>
                </a:solidFill>
              </a:rPr>
              <a:t>   進一步研究HCC的克隆演化可能提供有關復發機制的見解，並為靶向治療提供依據。</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**免疫治疗与局部治疗的联合策略**  </a:t>
            </a:r>
            <a:endParaRPr lang="en-US" sz="1200" dirty="0"/>
          </a:p>
          <a:p>
            <a:pPr indent="0" marL="0">
              <a:lnSpc>
                <a:spcPct val="150000"/>
              </a:lnSpc>
              <a:buNone/>
            </a:pPr>
            <a:r>
              <a:rPr lang="en-US" sz="1200" dirty="0">
                <a:solidFill>
                  <a:srgbClr val="FFFFFF"/>
                </a:solidFill>
              </a:rPr>
              <a:t>   Future trials should explore the synergistic effects of combining immune checkpoint inhibitors with local ablation therapies to optimize treatment regimens.  </a:t>
            </a:r>
            <a:endParaRPr lang="en-US" sz="1200" dirty="0"/>
          </a:p>
          <a:p>
            <a:pPr indent="0" marL="0">
              <a:lnSpc>
                <a:spcPct val="150000"/>
              </a:lnSpc>
              <a:buNone/>
            </a:pPr>
            <a:r>
              <a:rPr lang="en-US" sz="1200" dirty="0">
                <a:solidFill>
                  <a:srgbClr val="FFFFFF"/>
                </a:solidFill>
              </a:rPr>
              <a:t>   未來的試驗應探索將免疫檢查點抑制劑與局部消融療法結合的協同效應，以優化治療方案。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**新抗原的发现与应用**  </a:t>
            </a:r>
            <a:endParaRPr lang="en-US" sz="1200" dirty="0"/>
          </a:p>
          <a:p>
            <a:pPr indent="0" marL="0">
              <a:lnSpc>
                <a:spcPct val="150000"/>
              </a:lnSpc>
              <a:buNone/>
            </a:pPr>
            <a:r>
              <a:rPr lang="en-US" sz="1200" dirty="0">
                <a:solidFill>
                  <a:srgbClr val="FFFFFF"/>
                </a:solidFill>
              </a:rPr>
              <a:t>   Research should focus on identifying and validating novel neoantigens that can be effectively targeted by immunotherapies to enhance patient responses.  </a:t>
            </a:r>
            <a:endParaRPr lang="en-US" sz="1200" dirty="0"/>
          </a:p>
          <a:p>
            <a:pPr indent="0" marL="0">
              <a:lnSpc>
                <a:spcPct val="150000"/>
              </a:lnSpc>
              <a:buNone/>
            </a:pPr>
            <a:r>
              <a:rPr lang="en-US" sz="1200" dirty="0">
                <a:solidFill>
                  <a:srgbClr val="FFFFFF"/>
                </a:solidFill>
              </a:rPr>
              <a:t>   研究應專注於識別和驗證可以有效被免疫療法靶向的新型新抗原，以增強患者反應。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**术后免疫治疗的临床试验**  </a:t>
            </a:r>
            <a:endParaRPr lang="en-US" sz="1200" dirty="0"/>
          </a:p>
          <a:p>
            <a:pPr indent="0" marL="0">
              <a:lnSpc>
                <a:spcPct val="150000"/>
              </a:lnSpc>
              <a:buNone/>
            </a:pPr>
            <a:r>
              <a:rPr lang="en-US" sz="1200" dirty="0">
                <a:solidFill>
                  <a:srgbClr val="FFFFFF"/>
                </a:solidFill>
              </a:rPr>
              <a:t>   Conducting randomized clinical trials to assess the efficacy of adjuvant immunotherapy in resected HCC patients will be crucial for establishing standard care protocols.  </a:t>
            </a:r>
            <a:endParaRPr lang="en-US" sz="1200" dirty="0"/>
          </a:p>
          <a:p>
            <a:pPr indent="0" marL="0">
              <a:lnSpc>
                <a:spcPct val="150000"/>
              </a:lnSpc>
              <a:buNone/>
            </a:pPr>
            <a:r>
              <a:rPr lang="en-US" sz="1200" dirty="0">
                <a:solidFill>
                  <a:srgbClr val="FFFFFF"/>
                </a:solidFill>
              </a:rPr>
              <a:t>   開展隨機臨床試驗以評估術後免疫治療在切除HCC患者中的療效，對於建立標準護理方案至關重要。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**个体化治疗方案的开发**  </a:t>
            </a:r>
            <a:endParaRPr lang="en-US" sz="1200" dirty="0"/>
          </a:p>
          <a:p>
            <a:pPr indent="0" marL="0">
              <a:lnSpc>
                <a:spcPct val="150000"/>
              </a:lnSpc>
              <a:buNone/>
            </a:pPr>
            <a:r>
              <a:rPr lang="en-US" sz="1200" dirty="0">
                <a:solidFill>
                  <a:srgbClr val="FFFFFF"/>
                </a:solidFill>
              </a:rPr>
              <a:t>   Developing personalized treatment approaches based on molecular profiling and immune landscape of HCC could improve therapeutic outcomes.  </a:t>
            </a:r>
            <a:endParaRPr lang="en-US" sz="1200" dirty="0"/>
          </a:p>
          <a:p>
            <a:pPr indent="0" marL="0">
              <a:lnSpc>
                <a:spcPct val="150000"/>
              </a:lnSpc>
              <a:buNone/>
            </a:pPr>
            <a:r>
              <a:rPr lang="en-US" sz="1200" dirty="0">
                <a:solidFill>
                  <a:srgbClr val="FFFFFF"/>
                </a:solidFill>
              </a:rPr>
              <a:t>   基於HCC的分子特徵和免疫環境開發個性化治療方案可能改善治療結果。</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2026-07-27T04:33:28Z</dcterms:created>
  <dcterms:modified xsi:type="dcterms:W3CDTF">2026-07-27T04:33:28Z</dcterms:modified>
</cp:coreProperties>
</file>