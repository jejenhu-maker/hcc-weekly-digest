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cell.2026.05.005" TargetMode="External"/><Relationship Id="rId2" Type="http://schemas.openxmlformats.org/officeDocument/2006/relationships/hyperlink" Target="https://doi.org/10.1016/j.ccell.2026.05.005"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scib.2026.04.048" TargetMode="External"/><Relationship Id="rId2" Type="http://schemas.openxmlformats.org/officeDocument/2006/relationships/hyperlink" Target="https://doi.org/10.1016/j.scib.2026.04.048"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14" TargetMode="External"/><Relationship Id="rId2" Type="http://schemas.openxmlformats.org/officeDocument/2006/relationships/hyperlink" Target="https://doi.org/10.1097/HEP.0000000000001714"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jhepr.2026.101915" TargetMode="External"/><Relationship Id="rId2" Type="http://schemas.openxmlformats.org/officeDocument/2006/relationships/hyperlink" Target="https://doi.org/10.1016/j.jhepr.2026.10191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medj.2026.101136" TargetMode="External"/><Relationship Id="rId2" Type="http://schemas.openxmlformats.org/officeDocument/2006/relationships/hyperlink" Target="https://doi.org/10.1016/j.medj.2026.101136"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medj.2026.101132" TargetMode="External"/><Relationship Id="rId2" Type="http://schemas.openxmlformats.org/officeDocument/2006/relationships/hyperlink" Target="https://doi.org/10.1016/j.medj.2026.10113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38/s41467-026-74360-x" TargetMode="External"/><Relationship Id="rId2" Type="http://schemas.openxmlformats.org/officeDocument/2006/relationships/hyperlink" Target="https://doi.org/10.1038/s41467-026-74360-x"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96/fj.202502777R" TargetMode="External"/><Relationship Id="rId2" Type="http://schemas.openxmlformats.org/officeDocument/2006/relationships/hyperlink" Target="https://doi.org/10.1096/fj.202502777R"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11/hepr.70218" TargetMode="External"/><Relationship Id="rId2" Type="http://schemas.openxmlformats.org/officeDocument/2006/relationships/hyperlink" Target="https://doi.org/10.1111/hepr.7021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2026-06-08 — 2026-06-15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 cells metabolically resist immune-checkpoint therapy by macrophage efferoc…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MASLD and MASLD-associated HCC: emerging biomarkers and therapeutic avenues.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High resolution spatial transcriptomics identifies insufficient radiofrequency 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Clinical predictors of response to Atezolizumab-bevacizumab in Child-Pugh B pati…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Resectability redefined: Lessons from quadruple therapy in HCC.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Sintilimab and lenvatinib plus hepatic arterial infusion chemotherapy and emboli…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Natural killer cell-mediated immunosurveillance modulates liver cancer evolution…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WNK4 Enhances Anti-PD-1 Resistance and Promotes Tumor Progression in Hepatocellu…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Rethinking Progression in Hepatocellular Carcinoma: Is Oligoprogression a Window…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 cells metabolically resist immune-checkpoint therapy by macrophage efferocytosis-mediated fatty acid recycling.</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cell  ·  IF 48.8</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cells adapt to nutrient deprivation.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Macrophage efferocytosis recycles fatty acids.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TREM2+ LAMs enhance immune resistance.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FAU correlates with ICB non-responsiveness.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TREM2+ LAMs may improve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Liang Zhixian, Long Xiaohang, Xiong Zhewen et al.. Cancer cell. 2026-06-12 DOI: 10.1016/j.ccell.2026.05.005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MASLD and MASLD-associated HCC: emerging biomarkers and therapeutic avenues.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Science bulletin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MASLD is a leading chronic liver disease.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biomarkers for diagnosis and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Recent FDA approvals for new therapies.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Innovative interventions for MASLD management.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early detection and multifactorial treatment.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 Suki, Zhang Xiang, Li Lanjuan et al.. Science bulletin. 2026-06-12 DOI: 10.1016/j.scib.2026.04.048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High resolution spatial transcriptomics identifies insufficient radiofrequency ablation induces hepatocellular carcinoma progression via CEBPD / CXCL2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iRFA leads to HCC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CEBPD activates CXCL2 expression.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CXCL2 promotes immune evasion.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High-resolution spatial transcriptomics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CXCR2 inhibition may prevent recurrence.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Ke, Zhang Nan, Zhang Zongxu et al.. Hepatology (Baltimore, Md.). 2026-06-09 DOI: 10.1097/HEP.0000000000001714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Clinical predictors of response to Atezolizumab-bevacizumab in Child-Pugh B patients with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innovation in hepatology  ·  IF 7.8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predictors for A/B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Child-Pugh B patients show shorter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ALBI grade 1/2 benefits from A/B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Odent Anne Victoire, Campani Claudia, Bouattour Mohamed et al.. JHEP reports : innovation in hepatology. 2026-06-11 DOI: 10.1016/j.jhepr.2026.101915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Resectability redefined: Lessons from quadruple therapy in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Med (New York, N.Y.)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trial (PLATIC)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Evaluated quadruple therapy for uHCC.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of sintilimab and lenvatinib.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Incorporated TACE-HAIC as conversion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prompt integration questions.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Jiang Nan, Zhong Bin-Yan. Med (New York, N.Y.). 2026-06-12 DOI: 10.1016/j.medj.2026.101136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Sintilimab and lenvatinib plus hepatic arterial infusion chemotherapy and embolization as conversion therapy for uHCC: A phase 2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Med (New York, N.Y.)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Sintilimab and lenvatinib used in uHCC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77.2% conversion-to-resection rate achieved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80.7% objective response rate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64.9% patients experienced grade ≥3 TRAEs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Longer PFS and OS compared to historical cohort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Qiu Jiliang, Huang Zhenkun, He Wei et al.. Med (New York, N.Y.). 2026-06-12 DOI: 10.1016/j.medj.2026.101132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demonstrates promising results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conversion to resectable disease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Natural killer cell-mediated immunosurveillance modulates liver cancer evolution through cancer stemness enhancement and lipid metabolism reprogramming.</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NK cells promote liver cancer evolution.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Immunosurveillance enhances tumor stemness.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Lipid metabolism reprogramming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Combined anti-LAG-3 improves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Immunometabolic therapy as a strategy.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Shi Liang, Liu Boqiang, Sun Ruya et al.. Nature communications. 2026-06-11 DOI: 10.1038/s41467-026-74360-x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WNK4 Enhances Anti-PD-1 Resistance and Promotes Tumor Progression in Hepatocellular Carcinoma by Reprogramming Cysteine Metabolism in Cancer-Associated Fibroblasts.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FASEB journal : official publication of the Federation of American Societies for Experimental Biology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WNK4 upregulated in HCC tissues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HCC cell proliferation and migration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Enhances anti-PD-1 therapy resistance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Reprograms cysteine metabolism in CAFs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Identifies WNK4-HMGB1-p53 axis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Yu Ge, Cui Yun-Long, Mu Han et al.. FASEB journal : official publication of the Federation of American Societies for Experimental Biology. 2026-06-12 DOI: 10.1096/fj.202502777R</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Rethinking Progression in Hepatocellular Carcinoma: Is Oligoprogression a Window for Local Ablation?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research : the official journal of the Japan Society of Hepatology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Oligoprogression in HCC is significant.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Local ablation may benefit oligoprogressive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Identifying oligoprogression is crucial for treatment.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Hidaka Hisashi. Hepatology research : the official journal of the Japan Society of Hepatology. 2026-06-11 DOI: 10.1111/hepr.70218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**代謝適應與免疫逃逸**  </a:t>
            </a:r>
            <a:endParaRPr lang="en-US" sz="1200" dirty="0"/>
          </a:p>
          <a:p>
            <a:pPr indent="0" marL="0">
              <a:lnSpc>
                <a:spcPct val="150000"/>
              </a:lnSpc>
              <a:buNone/>
            </a:pPr>
            <a:r>
              <a:rPr lang="en-US" sz="1200" dirty="0">
                <a:solidFill>
                  <a:srgbClr val="FFFFFF"/>
                </a:solidFill>
              </a:rPr>
              <a:t>   Tumor cells exhibit metabolic adaptations to evade immune-checkpoint therapy, utilizing macrophage efferocytosis to recycle fatty acids and sustain growth in nutrient-deprived environments.  </a:t>
            </a:r>
            <a:endParaRPr lang="en-US" sz="1200" dirty="0"/>
          </a:p>
          <a:p>
            <a:pPr indent="0" marL="0">
              <a:lnSpc>
                <a:spcPct val="150000"/>
              </a:lnSpc>
              <a:buNone/>
            </a:pPr>
            <a:r>
              <a:rPr lang="en-US" sz="1200" dirty="0">
                <a:solidFill>
                  <a:srgbClr val="FFFFFF"/>
                </a:solidFill>
              </a:rPr>
              <a:t>   腫瘤細胞展現出代謝適應以逃避免疫檢查點治療，利用巨噬細胞的吞噬作用回收脂肪酸，在缺乏營養的環境中維持生長。</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**MASLD與肝癌的關聯性**  </a:t>
            </a:r>
            <a:endParaRPr lang="en-US" sz="1200" dirty="0"/>
          </a:p>
          <a:p>
            <a:pPr indent="0" marL="0">
              <a:lnSpc>
                <a:spcPct val="150000"/>
              </a:lnSpc>
              <a:buNone/>
            </a:pPr>
            <a:r>
              <a:rPr lang="en-US" sz="1200" dirty="0">
                <a:solidFill>
                  <a:srgbClr val="FFFFFF"/>
                </a:solidFill>
              </a:rPr>
              <a:t>   The rising prevalence of metabolic dysfunction-associated steatotic liver disease (MASLD) highlights the need for novel biomarkers and therapeutic strategies, particularly in relation to hepatocellular carcinoma (HCC).  </a:t>
            </a:r>
            <a:endParaRPr lang="en-US" sz="1200" dirty="0"/>
          </a:p>
          <a:p>
            <a:pPr indent="0" marL="0">
              <a:lnSpc>
                <a:spcPct val="150000"/>
              </a:lnSpc>
              <a:buNone/>
            </a:pPr>
            <a:r>
              <a:rPr lang="en-US" sz="1200" dirty="0">
                <a:solidFill>
                  <a:srgbClr val="FFFFFF"/>
                </a:solidFill>
              </a:rPr>
              <a:t>   代謝功能障礙相關的脂肪肝病（MASLD）日益普遍，凸顯出對新型生物標誌物和治療策略的需求，特別是在肝細胞癌（HCC）方面。</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**不充分消融的風險**  </a:t>
            </a:r>
            <a:endParaRPr lang="en-US" sz="1200" dirty="0"/>
          </a:p>
          <a:p>
            <a:pPr indent="0" marL="0">
              <a:lnSpc>
                <a:spcPct val="150000"/>
              </a:lnSpc>
              <a:buNone/>
            </a:pPr>
            <a:r>
              <a:rPr lang="en-US" sz="1200" dirty="0">
                <a:solidFill>
                  <a:srgbClr val="FFFFFF"/>
                </a:solidFill>
              </a:rPr>
              <a:t>   Insufficient radiofrequency ablation (iRFA) is linked to HCC progression through the CEBPD/CXCL2 axis, emphasizing the importance of precise ablation techniques in treatment outcomes.  </a:t>
            </a:r>
            <a:endParaRPr lang="en-US" sz="1200" dirty="0"/>
          </a:p>
          <a:p>
            <a:pPr indent="0" marL="0">
              <a:lnSpc>
                <a:spcPct val="150000"/>
              </a:lnSpc>
              <a:buNone/>
            </a:pPr>
            <a:r>
              <a:rPr lang="en-US" sz="1200" dirty="0">
                <a:solidFill>
                  <a:srgbClr val="FFFFFF"/>
                </a:solidFill>
              </a:rPr>
              <a:t>   不充分的射頻消融（iRFA）與肝細胞癌進展有關，通過CEBPD/CXCL2通路，強調了精確消融技術在治療結果中的重要性。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**免疫治療的臨床預測因子**  </a:t>
            </a:r>
            <a:endParaRPr lang="en-US" sz="1200" dirty="0"/>
          </a:p>
          <a:p>
            <a:pPr indent="0" marL="0">
              <a:lnSpc>
                <a:spcPct val="150000"/>
              </a:lnSpc>
              <a:buNone/>
            </a:pPr>
            <a:r>
              <a:rPr lang="en-US" sz="1200" dirty="0">
                <a:solidFill>
                  <a:srgbClr val="FFFFFF"/>
                </a:solidFill>
              </a:rPr>
              <a:t>   Identifying clinical predictors for response to atezolizumab-bevacizumab in Child-Pugh B patients can optimize treatment strategies for advanced HCC populations often excluded from trials.  </a:t>
            </a:r>
            <a:endParaRPr lang="en-US" sz="1200" dirty="0"/>
          </a:p>
          <a:p>
            <a:pPr indent="0" marL="0">
              <a:lnSpc>
                <a:spcPct val="150000"/>
              </a:lnSpc>
              <a:buNone/>
            </a:pPr>
            <a:r>
              <a:rPr lang="en-US" sz="1200" dirty="0">
                <a:solidFill>
                  <a:srgbClr val="FFFFFF"/>
                </a:solidFill>
              </a:rPr>
              <a:t>   確定Child-Pugh B患者對阿特珠單抗-貝伐單抗反應的臨床預測因子，可以優化通常被排除在臨床試驗之外的晚期HCC人群的治療策略。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**多重療法的潛力**  </a:t>
            </a:r>
            <a:endParaRPr lang="en-US" sz="1200" dirty="0"/>
          </a:p>
          <a:p>
            <a:pPr indent="0" marL="0">
              <a:lnSpc>
                <a:spcPct val="150000"/>
              </a:lnSpc>
              <a:buNone/>
            </a:pPr>
            <a:r>
              <a:rPr lang="en-US" sz="1200" dirty="0">
                <a:solidFill>
                  <a:srgbClr val="FFFFFF"/>
                </a:solidFill>
              </a:rPr>
              <a:t>   The combination of sintilimab, lenvatinib, and transarterial chemoembolization (TACE) shows promise as a conversion therapy for unresectable HCC, redefining resectability criteria.  </a:t>
            </a:r>
            <a:endParaRPr lang="en-US" sz="1200" dirty="0"/>
          </a:p>
          <a:p>
            <a:pPr indent="0" marL="0">
              <a:lnSpc>
                <a:spcPct val="150000"/>
              </a:lnSpc>
              <a:buNone/>
            </a:pPr>
            <a:r>
              <a:rPr lang="en-US" sz="1200" dirty="0">
                <a:solidFill>
                  <a:srgbClr val="FFFFFF"/>
                </a:solidFill>
              </a:rPr>
              <a:t>   結合sintilimab、lenvatinib和經導管化療栓塞（TACE）顯示出作為不可切除HCC的轉化療法的潛力，重新定義可切除性標準。</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**代謝重編程的機制研究**  </a:t>
            </a:r>
            <a:endParaRPr lang="en-US" sz="1200" dirty="0"/>
          </a:p>
          <a:p>
            <a:pPr indent="0" marL="0">
              <a:lnSpc>
                <a:spcPct val="150000"/>
              </a:lnSpc>
              <a:buNone/>
            </a:pPr>
            <a:r>
              <a:rPr lang="en-US" sz="1200" dirty="0">
                <a:solidFill>
                  <a:srgbClr val="FFFFFF"/>
                </a:solidFill>
              </a:rPr>
              <a:t>   Further investigation into the metabolic pathways exploited by tumor cells during immune evasion could reveal novel therapeutic targets for enhancing the efficacy of immune-checkpoint inhibitors.  </a:t>
            </a:r>
            <a:endParaRPr lang="en-US" sz="1200" dirty="0"/>
          </a:p>
          <a:p>
            <a:pPr indent="0" marL="0">
              <a:lnSpc>
                <a:spcPct val="150000"/>
              </a:lnSpc>
              <a:buNone/>
            </a:pPr>
            <a:r>
              <a:rPr lang="en-US" sz="1200" dirty="0">
                <a:solidFill>
                  <a:srgbClr val="FFFFFF"/>
                </a:solidFill>
              </a:rPr>
              <a:t>   進一步研究腫瘤細胞在免疫逃逸過程中利用的代謝途徑，可能揭示增強免疫檢查點抑制劑療效的新型治療靶點。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**MASLD與HCC的早期診斷**  </a:t>
            </a:r>
            <a:endParaRPr lang="en-US" sz="1200" dirty="0"/>
          </a:p>
          <a:p>
            <a:pPr indent="0" marL="0">
              <a:lnSpc>
                <a:spcPct val="150000"/>
              </a:lnSpc>
              <a:buNone/>
            </a:pPr>
            <a:r>
              <a:rPr lang="en-US" sz="1200" dirty="0">
                <a:solidFill>
                  <a:srgbClr val="FFFFFF"/>
                </a:solidFill>
              </a:rPr>
              <a:t>   Development of non-invasive diagnostic tools for early detection of MASLD and its association with HCC could facilitate timely interventions and improve patient outcomes.  </a:t>
            </a:r>
            <a:endParaRPr lang="en-US" sz="1200" dirty="0"/>
          </a:p>
          <a:p>
            <a:pPr indent="0" marL="0">
              <a:lnSpc>
                <a:spcPct val="150000"/>
              </a:lnSpc>
              <a:buNone/>
            </a:pPr>
            <a:r>
              <a:rPr lang="en-US" sz="1200" dirty="0">
                <a:solidFill>
                  <a:srgbClr val="FFFFFF"/>
                </a:solidFill>
              </a:rPr>
              <a:t>   開發早期檢測MASLD及其與HCC關聯的非侵入性診斷工具，可能促進及時干預並改善患者預後。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**消融技術的優化**  </a:t>
            </a:r>
            <a:endParaRPr lang="en-US" sz="1200" dirty="0"/>
          </a:p>
          <a:p>
            <a:pPr indent="0" marL="0">
              <a:lnSpc>
                <a:spcPct val="150000"/>
              </a:lnSpc>
              <a:buNone/>
            </a:pPr>
            <a:r>
              <a:rPr lang="en-US" sz="1200" dirty="0">
                <a:solidFill>
                  <a:srgbClr val="FFFFFF"/>
                </a:solidFill>
              </a:rPr>
              <a:t>   Research focused on optimizing radiofrequency ablation techniques to minimize the risk of insufficient ablation and its subsequent impact on tumor progression is critical.  </a:t>
            </a:r>
            <a:endParaRPr lang="en-US" sz="1200" dirty="0"/>
          </a:p>
          <a:p>
            <a:pPr indent="0" marL="0">
              <a:lnSpc>
                <a:spcPct val="150000"/>
              </a:lnSpc>
              <a:buNone/>
            </a:pPr>
            <a:r>
              <a:rPr lang="en-US" sz="1200" dirty="0">
                <a:solidFill>
                  <a:srgbClr val="FFFFFF"/>
                </a:solidFill>
              </a:rPr>
              <a:t>   專注於優化射頻消融技術的研究，以最小化不充分消融的風險及其對腫瘤進展的後續影響是至關重要的。</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**個體化免疫治療策略**  </a:t>
            </a:r>
            <a:endParaRPr lang="en-US" sz="1200" dirty="0"/>
          </a:p>
          <a:p>
            <a:pPr indent="0" marL="0">
              <a:lnSpc>
                <a:spcPct val="150000"/>
              </a:lnSpc>
              <a:buNone/>
            </a:pPr>
            <a:r>
              <a:rPr lang="en-US" sz="1200" dirty="0">
                <a:solidFill>
                  <a:srgbClr val="FFFFFF"/>
                </a:solidFill>
              </a:rPr>
              <a:t>   Investigating the genetic and molecular profiles of HCC patients to tailor immunotherapy approaches, especially for those with Child-Pugh B cirrhosis, could enhance treatment efficacy.  </a:t>
            </a:r>
            <a:endParaRPr lang="en-US" sz="1200" dirty="0"/>
          </a:p>
          <a:p>
            <a:pPr indent="0" marL="0">
              <a:lnSpc>
                <a:spcPct val="150000"/>
              </a:lnSpc>
              <a:buNone/>
            </a:pPr>
            <a:r>
              <a:rPr lang="en-US" sz="1200" dirty="0">
                <a:solidFill>
                  <a:srgbClr val="FFFFFF"/>
                </a:solidFill>
              </a:rPr>
              <a:t>   研究HCC患者的遺傳和分子特徵，以量身定制免疫治療方案，特別是對於Child-Pugh B肝硬化患者，可能提高治療效果。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**多重療法的長期效果評估**  </a:t>
            </a:r>
            <a:endParaRPr lang="en-US" sz="1200" dirty="0"/>
          </a:p>
          <a:p>
            <a:pPr indent="0" marL="0">
              <a:lnSpc>
                <a:spcPct val="150000"/>
              </a:lnSpc>
              <a:buNone/>
            </a:pPr>
            <a:r>
              <a:rPr lang="en-US" sz="1200" dirty="0">
                <a:solidFill>
                  <a:srgbClr val="FFFFFF"/>
                </a:solidFill>
              </a:rPr>
              <a:t>   Longitudinal studies assessing the long-term outcomes of combination therapies, such as sintilimab and TACE, in unresectable HCC will be essential for establishing best practices.  </a:t>
            </a:r>
            <a:endParaRPr lang="en-US" sz="1200" dirty="0"/>
          </a:p>
          <a:p>
            <a:pPr indent="0" marL="0">
              <a:lnSpc>
                <a:spcPct val="150000"/>
              </a:lnSpc>
              <a:buNone/>
            </a:pPr>
            <a:r>
              <a:rPr lang="en-US" sz="1200" dirty="0">
                <a:solidFill>
                  <a:srgbClr val="FFFFFF"/>
                </a:solidFill>
              </a:rPr>
              <a:t>   評估不可切除HCC中如sintilimab和TACE等組合療法的長期效果的縱向研究，對於建立最佳實踐至關重要。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2026-06-15T01:51:35Z</dcterms:created>
  <dcterms:modified xsi:type="dcterms:W3CDTF">2026-06-15T01:51:35Z</dcterms:modified>
</cp:coreProperties>
</file>