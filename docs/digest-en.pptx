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jhep.2026.05.018" TargetMode="External"/><Relationship Id="rId2" Type="http://schemas.openxmlformats.org/officeDocument/2006/relationships/hyperlink" Target="https://doi.org/10.1016/j.jhep.2026.05.01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scib.2026.04.048" TargetMode="External"/><Relationship Id="rId2" Type="http://schemas.openxmlformats.org/officeDocument/2006/relationships/hyperlink" Target="https://doi.org/10.1016/j.scib.2026.04.048"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88/1748-605X/ae70e2" TargetMode="External"/><Relationship Id="rId2" Type="http://schemas.openxmlformats.org/officeDocument/2006/relationships/hyperlink" Target="https://doi.org/10.1088/1748-605X/ae70e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186/s13256-026-06037-4" TargetMode="External"/><Relationship Id="rId2" Type="http://schemas.openxmlformats.org/officeDocument/2006/relationships/hyperlink" Target="https://doi.org/10.1186/s13256-026-06037-4"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86/s12885-026-16329-z" TargetMode="External"/><Relationship Id="rId2" Type="http://schemas.openxmlformats.org/officeDocument/2006/relationships/hyperlink" Target="https://doi.org/10.1186/s12885-026-16329-z"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96/fj.202502777R" TargetMode="External"/><Relationship Id="rId2" Type="http://schemas.openxmlformats.org/officeDocument/2006/relationships/hyperlink" Target="https://doi.org/10.1096/fj.202502777R"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link.springer.com/article/10.1186/s12885-025-15310-6" TargetMode="External"/><Relationship Id="rId2" Type="http://schemas.openxmlformats.org/officeDocument/2006/relationships/hyperlink" Target="https://link.springer.com/article/10.1186/s12885-025-15310-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186/s12967-026-08433-2" TargetMode="External"/><Relationship Id="rId2" Type="http://schemas.openxmlformats.org/officeDocument/2006/relationships/hyperlink" Target="https://doi.org/10.1186/s12967-026-08433-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2026-06-15 — 2026-06-22</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myeloid immunosuppressive phenotype defines primary refractoriness to atezoliz…</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MASLD and MASLD-associated HCC: emerging biomarkers and therapeutic avenues.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Biomimetic catalase-engineered black phosphorus nanosheets enhance photo-/radio-…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Autoimmune encephalitis induced by atezolizumab and bevacizumab therapy for adva…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Bioinformatics mining and clinical validation of CD274 as a prognostic indicator…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WNK4 Enhances Anti-PD-1 Resistance and Promotes Tumor Progression in Hepatocellu…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nutritional index and the survival of patients with hepatocellular ca…</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Resveratrol derivative restores macrophage cholesterol homeostasis via stabilizi…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myeloid immunosuppressive phenotype defines primary refractoriness to atezolizumab Plus bevacizumab in hepatocellular caarcinoma.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Primary refractoriness affects 40% of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Distinct immunosuppressive TME in PRef cases.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Myeloid infiltration linked to treatment failure.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IFN-γ signature downregulation as key factor.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myeloid cells may enhance treatment response.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Lombardi Pasquale, Ramon-Gil Erik, Raja Rabial Q et al.. Journal of hepatology. 2026-06-15 DOI: 10.1016/j.jhep.2026.05.018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MASLD and MASLD-associated HCC: emerging biomarkers and therapeutic avenues.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Science bulletin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MASLD is a leading chronic liver disease.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biomarkers for diagnosis and prognosis.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FDA approved resmetirom and semaglutide.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Innovative interventions for MASLD management.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early detection and personalized medicine.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 Suki, Zhang Xiang, Li Lanjuan et al.. Science bulletin. 2026-06-12 DOI: 10.1016/j.scib.2026.04.048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Biomimetic catalase-engineered black phosphorus nanosheets enhance photo-/radio-therapy for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Biomedical materials (Bristol, England)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Developed biomimetic nanoplatform using black phosphorus.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Functionalized with catalase for enhanced oxygen delivery.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Engineered macrophage membranes for immune modulation.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Significantly sensitized tumors to phototherapy and RT.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Promising strategy for improving HCC treatment outcomes.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Qiao Chunzhong, Lei Qiucheng, Lu Liangqi et al.. Biomedical materials (Bristol, England). 2026-06-17 DOI: 10.1088/1748-605X/ae70e2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plus PD-1 inhibitors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shows promising results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Autoimmune encephalitis induced by atezolizumab and bevacizumab therapy for advanced hepatocellular carcinoma: a case report.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medical case reports  ·  Case Report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Atezolizumab and bevacizumab used for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Patient developed autoimmune encephalitis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Symptoms included fever and impaired consciousness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Cerebrospinal fluid showed elevated monocytes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Steroid treatment led to rapid recovery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Nomura Yoriko, Wada Yoshiyuki, Sasaki Shin et al.. Journal of medical case reports. 2026-06-19 DOI: 10.1186/s13256-026-06037-4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Bioinformatics mining and clinical validation of CD274 as a prognostic indicator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CD274 correlates with prognosis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Bioinformatics used for expression analysis.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CD274 linked to better survival rates.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Shi Hansen, Zhang Peijun, Wei Qiping et al.. BMC cancer. 2026-06-16 DOI: 10.1186/s12885-026-16329-z</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WNK4 Enhances Anti-PD-1 Resistance and Promotes Tumor Progression in Hepatocellular Carcinoma by Reprogramming Cysteine Metabolism in Cancer-Associated Fibroblasts.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FASEB journal : official publication of the Federation of American Societies for Experimental Biology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WNK4 upregulation linked to HCC 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WNK4 enhances anti-PD-1 resistance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Cysteine metabolism reprogramming in CAFs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WNK4 promotes HCC cell migration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Novel WNK4-HMGB1-p53 axis identified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Yu Ge, Cui Yun-Long, Mu Han et al.. FASEB journal : official publication of the Federation of American Societies for Experimental Biology. 2026-06-12 DOI: 10.1096/fj.202502777R</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nutritional index and the survival of patients with hepatocellular carcinoma on immune checkpoint inhibitors: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cancer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nutritional index (PNI) impacts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HCC patients on ICIs.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Nutritional status correlates with immune response.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 Fu, W Peng, J Jiang. BMC cancer.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Local ablation therapies include RFA and MWA.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EBRT shows different outcomes than local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highlights survival benefits of RFA.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Local progression-free survival is a key metric.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compares effectiveness of two treatment modalities.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 Bae, SH Choi, SM Yoon. Journal of Clinical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Resveratrol derivative restores macrophage cholesterol homeostasis via stabilizing xanthine oxidoreductase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TAMs shape immunosuppressive environment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XOR downregulation linked to poor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Res616 stabilizes XOR, restores cholesterol balance.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XOR enhances CD8+ T cell responses.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with anti-PD-L1 therapy suppresses tumors.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Liang Guojun, Zeng Lin, Huang Xiaohui et al.. Journal of translational medicine. 2026-06-19 DOI: 10.1186/s12967-026-08433-2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**初級抗藥性與免疫抑制表型的關聯**  </a:t>
            </a:r>
            <a:endParaRPr lang="en-US" sz="1200" dirty="0"/>
          </a:p>
          <a:p>
            <a:pPr indent="0" marL="0">
              <a:lnSpc>
                <a:spcPct val="150000"/>
              </a:lnSpc>
              <a:buNone/>
            </a:pPr>
            <a:r>
              <a:rPr lang="en-US" sz="1200" dirty="0">
                <a:solidFill>
                  <a:srgbClr val="FFFFFF"/>
                </a:solidFill>
              </a:rPr>
              <a:t>   **The association between primary refractoriness and myeloid immunosuppressive phenotype**  </a:t>
            </a:r>
            <a:endParaRPr lang="en-US" sz="1200" dirty="0"/>
          </a:p>
          <a:p>
            <a:pPr indent="0" marL="0">
              <a:lnSpc>
                <a:spcPct val="150000"/>
              </a:lnSpc>
              <a:buNone/>
            </a:pPr>
            <a:r>
              <a:rPr lang="en-US" sz="1200" dirty="0">
                <a:solidFill>
                  <a:srgbClr val="FFFFFF"/>
                </a:solidFill>
              </a:rPr>
              <a:t>   研究顯示，肝細胞癌患者對阿特珠單抗與貝伐單抗的初級抗藥性與骨髓來源的免疫抑制表型有關，這為未來的治療策略提供了新的見解。  </a:t>
            </a:r>
            <a:endParaRPr lang="en-US" sz="1200" dirty="0"/>
          </a:p>
          <a:p>
            <a:pPr indent="0" marL="0">
              <a:lnSpc>
                <a:spcPct val="150000"/>
              </a:lnSpc>
              <a:buNone/>
            </a:pPr>
            <a:r>
              <a:rPr lang="en-US" sz="1200" dirty="0">
                <a:solidFill>
                  <a:srgbClr val="FFFFFF"/>
                </a:solidFill>
              </a:rPr>
              <a:t>   The study reveals that primary refractoriness in HCC patients treated with atezolizumab and bevacizumab is linked to a myeloid immunosuppressive phenotype, providing new insights for future therapeutic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**代謝疾病與肝癌的生物標誌物**  </a:t>
            </a:r>
            <a:endParaRPr lang="en-US" sz="1200" dirty="0"/>
          </a:p>
          <a:p>
            <a:pPr indent="0" marL="0">
              <a:lnSpc>
                <a:spcPct val="150000"/>
              </a:lnSpc>
              <a:buNone/>
            </a:pPr>
            <a:r>
              <a:rPr lang="en-US" sz="1200" dirty="0">
                <a:solidFill>
                  <a:srgbClr val="FFFFFF"/>
                </a:solidFill>
              </a:rPr>
              <a:t>   **Emerging biomarkers in metabolic dysfunction-associated steatotic liver disease and HCC**  </a:t>
            </a:r>
            <a:endParaRPr lang="en-US" sz="1200" dirty="0"/>
          </a:p>
          <a:p>
            <a:pPr indent="0" marL="0">
              <a:lnSpc>
                <a:spcPct val="150000"/>
              </a:lnSpc>
              <a:buNone/>
            </a:pPr>
            <a:r>
              <a:rPr lang="en-US" sz="1200" dirty="0">
                <a:solidFill>
                  <a:srgbClr val="FFFFFF"/>
                </a:solidFill>
              </a:rPr>
              <a:t>   隨著對代謝功能障礙相關脂肪肝病（MASLD）的研究進展，新的生物標誌物和治療途徑逐漸浮現，這對於早期診斷和治療肝癌具有重要意義。  </a:t>
            </a:r>
            <a:endParaRPr lang="en-US" sz="1200" dirty="0"/>
          </a:p>
          <a:p>
            <a:pPr indent="0" marL="0">
              <a:lnSpc>
                <a:spcPct val="150000"/>
              </a:lnSpc>
              <a:buNone/>
            </a:pPr>
            <a:r>
              <a:rPr lang="en-US" sz="1200" dirty="0">
                <a:solidFill>
                  <a:srgbClr val="FFFFFF"/>
                </a:solidFill>
              </a:rPr>
              <a:t>   With advancements in research on metabolic dysfunction-associated steatotic liver disease (MASLD), emerging biomarkers and therapeutic avenues are becoming apparent, which are significant for early diagnosis and treatment of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**腫瘤微環境的影響**  </a:t>
            </a:r>
            <a:endParaRPr lang="en-US" sz="1200" dirty="0"/>
          </a:p>
          <a:p>
            <a:pPr indent="0" marL="0">
              <a:lnSpc>
                <a:spcPct val="150000"/>
              </a:lnSpc>
              <a:buNone/>
            </a:pPr>
            <a:r>
              <a:rPr lang="en-US" sz="1200" dirty="0">
                <a:solidFill>
                  <a:srgbClr val="FFFFFF"/>
                </a:solidFill>
              </a:rPr>
              <a:t>   **Impact of the tumor microenvironment on therapeutic efficacy**  </a:t>
            </a:r>
            <a:endParaRPr lang="en-US" sz="1200" dirty="0"/>
          </a:p>
          <a:p>
            <a:pPr indent="0" marL="0">
              <a:lnSpc>
                <a:spcPct val="150000"/>
              </a:lnSpc>
              <a:buNone/>
            </a:pPr>
            <a:r>
              <a:rPr lang="en-US" sz="1200" dirty="0">
                <a:solidFill>
                  <a:srgbClr val="FFFFFF"/>
                </a:solidFill>
              </a:rPr>
              <a:t>   腫瘤缺氧微環境顯著影響光療和放療的療效，改善腫瘤缺氧成為增強這些治療方法的潛在策略。  </a:t>
            </a:r>
            <a:endParaRPr lang="en-US" sz="1200" dirty="0"/>
          </a:p>
          <a:p>
            <a:pPr indent="0" marL="0">
              <a:lnSpc>
                <a:spcPct val="150000"/>
              </a:lnSpc>
              <a:buNone/>
            </a:pPr>
            <a:r>
              <a:rPr lang="en-US" sz="1200" dirty="0">
                <a:solidFill>
                  <a:srgbClr val="FFFFFF"/>
                </a:solidFill>
              </a:rPr>
              <a:t>   The hypoxic tumor microenvironment significantly impairs the efficacy of photo- and radiotherapy, making the amelioration of tumor hypoxia a promising strategy to enhance these treatment modalities.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**自體免疫性腦炎的風險**  </a:t>
            </a:r>
            <a:endParaRPr lang="en-US" sz="1200" dirty="0"/>
          </a:p>
          <a:p>
            <a:pPr indent="0" marL="0">
              <a:lnSpc>
                <a:spcPct val="150000"/>
              </a:lnSpc>
              <a:buNone/>
            </a:pPr>
            <a:r>
              <a:rPr lang="en-US" sz="1200" dirty="0">
                <a:solidFill>
                  <a:srgbClr val="FFFFFF"/>
                </a:solidFill>
              </a:rPr>
              <a:t>   **Risk of autoimmune encephalitis with immune checkpoint inhibitors**  </a:t>
            </a:r>
            <a:endParaRPr lang="en-US" sz="1200" dirty="0"/>
          </a:p>
          <a:p>
            <a:pPr indent="0" marL="0">
              <a:lnSpc>
                <a:spcPct val="150000"/>
              </a:lnSpc>
              <a:buNone/>
            </a:pPr>
            <a:r>
              <a:rPr lang="en-US" sz="1200" dirty="0">
                <a:solidFill>
                  <a:srgbClr val="FFFFFF"/>
                </a:solidFill>
              </a:rPr>
              <a:t>   阿特珠單抗和貝伐單抗的聯合療法可能導致嚴重的免疫相關不良事件，如自體免疫性腦炎，需在臨床使用中加以注意。  </a:t>
            </a:r>
            <a:endParaRPr lang="en-US" sz="1200" dirty="0"/>
          </a:p>
          <a:p>
            <a:pPr indent="0" marL="0">
              <a:lnSpc>
                <a:spcPct val="150000"/>
              </a:lnSpc>
              <a:buNone/>
            </a:pPr>
            <a:r>
              <a:rPr lang="en-US" sz="1200" dirty="0">
                <a:solidFill>
                  <a:srgbClr val="FFFFFF"/>
                </a:solidFill>
              </a:rPr>
              <a:t>   The combination therapy of atezolizumab and bevacizumab may lead to severe immune-related adverse events, such as autoimmune encephalitis, which requires careful attention in clinical use.</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**預後營養指數的潛在價值**  </a:t>
            </a:r>
            <a:endParaRPr lang="en-US" sz="1200" dirty="0"/>
          </a:p>
          <a:p>
            <a:pPr indent="0" marL="0">
              <a:lnSpc>
                <a:spcPct val="150000"/>
              </a:lnSpc>
              <a:buNone/>
            </a:pPr>
            <a:r>
              <a:rPr lang="en-US" sz="1200" dirty="0">
                <a:solidFill>
                  <a:srgbClr val="FFFFFF"/>
                </a:solidFill>
              </a:rPr>
              <a:t>   **Potential value of prognostic nutritional index in immunotherapy**  </a:t>
            </a:r>
            <a:endParaRPr lang="en-US" sz="1200" dirty="0"/>
          </a:p>
          <a:p>
            <a:pPr indent="0" marL="0">
              <a:lnSpc>
                <a:spcPct val="150000"/>
              </a:lnSpc>
              <a:buNone/>
            </a:pPr>
            <a:r>
              <a:rPr lang="en-US" sz="1200" dirty="0">
                <a:solidFill>
                  <a:srgbClr val="FFFFFF"/>
                </a:solidFill>
              </a:rPr>
              <a:t>   預後營養指數可能與接受免疫檢查點抑制劑的肝細胞癌患者的生存率相關，提示營養狀態在治療中的重要性。</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The prognostic nutritional index may be associated with survival in HCC patients treated with immune checkpoint inhibitors, highlighting the importance of nutritional status in treatment.</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**針對免疫抑制表型的治療策略**  </a:t>
            </a:r>
            <a:endParaRPr lang="en-US" sz="1200" dirty="0"/>
          </a:p>
          <a:p>
            <a:pPr indent="0" marL="0">
              <a:lnSpc>
                <a:spcPct val="150000"/>
              </a:lnSpc>
              <a:buNone/>
            </a:pPr>
            <a:r>
              <a:rPr lang="en-US" sz="1200" dirty="0">
                <a:solidFill>
                  <a:srgbClr val="FFFFFF"/>
                </a:solidFill>
              </a:rPr>
              <a:t>   **Therapeutic strategies targeting immunosuppressive phenotypes**  </a:t>
            </a:r>
            <a:endParaRPr lang="en-US" sz="1200" dirty="0"/>
          </a:p>
          <a:p>
            <a:pPr indent="0" marL="0">
              <a:lnSpc>
                <a:spcPct val="150000"/>
              </a:lnSpc>
              <a:buNone/>
            </a:pPr>
            <a:r>
              <a:rPr lang="en-US" sz="1200" dirty="0">
                <a:solidFill>
                  <a:srgbClr val="FFFFFF"/>
                </a:solidFill>
              </a:rPr>
              <a:t>   需要進一步研究針對骨髓來源免疫抑制表型的治療策略，以克服肝細胞癌的初級抗藥性。  </a:t>
            </a:r>
            <a:endParaRPr lang="en-US" sz="1200" dirty="0"/>
          </a:p>
          <a:p>
            <a:pPr indent="0" marL="0">
              <a:lnSpc>
                <a:spcPct val="150000"/>
              </a:lnSpc>
              <a:buNone/>
            </a:pPr>
            <a:r>
              <a:rPr lang="en-US" sz="1200" dirty="0">
                <a:solidFill>
                  <a:srgbClr val="FFFFFF"/>
                </a:solidFill>
              </a:rPr>
              <a:t>   Further studies are needed to develop therapeutic strategies targeting myeloid immunosuppressive phenotypes to overcome primary refractoriness in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**MASLD與HCC的關聯機制**  </a:t>
            </a:r>
            <a:endParaRPr lang="en-US" sz="1200" dirty="0"/>
          </a:p>
          <a:p>
            <a:pPr indent="0" marL="0">
              <a:lnSpc>
                <a:spcPct val="150000"/>
              </a:lnSpc>
              <a:buNone/>
            </a:pPr>
            <a:r>
              <a:rPr lang="en-US" sz="1200" dirty="0">
                <a:solidFill>
                  <a:srgbClr val="FFFFFF"/>
                </a:solidFill>
              </a:rPr>
              <a:t>   **Mechanistic studies on the link between MASLD and HCC**  </a:t>
            </a:r>
            <a:endParaRPr lang="en-US" sz="1200" dirty="0"/>
          </a:p>
          <a:p>
            <a:pPr indent="0" marL="0">
              <a:lnSpc>
                <a:spcPct val="150000"/>
              </a:lnSpc>
              <a:buNone/>
            </a:pPr>
            <a:r>
              <a:rPr lang="en-US" sz="1200" dirty="0">
                <a:solidFill>
                  <a:srgbClr val="FFFFFF"/>
                </a:solidFill>
              </a:rPr>
              <a:t>   探索代謝功能障礙相關脂肪肝病（MASLD）與肝細胞癌之間的關聯機制，以促進早期診斷和干預。  </a:t>
            </a:r>
            <a:endParaRPr lang="en-US" sz="1200" dirty="0"/>
          </a:p>
          <a:p>
            <a:pPr indent="0" marL="0">
              <a:lnSpc>
                <a:spcPct val="150000"/>
              </a:lnSpc>
              <a:buNone/>
            </a:pPr>
            <a:r>
              <a:rPr lang="en-US" sz="1200" dirty="0">
                <a:solidFill>
                  <a:srgbClr val="FFFFFF"/>
                </a:solidFill>
              </a:rPr>
              <a:t>   Investigating the mechanistic links between metabolic dysfunction-associated steatotic liver disease (MASLD) and HCC to facilitate early diagnosis and intervention.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**改善腫瘤微環境的策略**  </a:t>
            </a:r>
            <a:endParaRPr lang="en-US" sz="1200" dirty="0"/>
          </a:p>
          <a:p>
            <a:pPr indent="0" marL="0">
              <a:lnSpc>
                <a:spcPct val="150000"/>
              </a:lnSpc>
              <a:buNone/>
            </a:pPr>
            <a:r>
              <a:rPr lang="en-US" sz="1200" dirty="0">
                <a:solidFill>
                  <a:srgbClr val="FFFFFF"/>
                </a:solidFill>
              </a:rPr>
              <a:t>   **Strategies to improve the tumor microenvironment**  </a:t>
            </a:r>
            <a:endParaRPr lang="en-US" sz="1200" dirty="0"/>
          </a:p>
          <a:p>
            <a:pPr indent="0" marL="0">
              <a:lnSpc>
                <a:spcPct val="150000"/>
              </a:lnSpc>
              <a:buNone/>
            </a:pPr>
            <a:r>
              <a:rPr lang="en-US" sz="1200" dirty="0">
                <a:solidFill>
                  <a:srgbClr val="FFFFFF"/>
                </a:solidFill>
              </a:rPr>
              <a:t>   開發改善腫瘤微環境的策略，以增強光療和放療在肝細胞癌中的療效。  </a:t>
            </a:r>
            <a:endParaRPr lang="en-US" sz="1200" dirty="0"/>
          </a:p>
          <a:p>
            <a:pPr indent="0" marL="0">
              <a:lnSpc>
                <a:spcPct val="150000"/>
              </a:lnSpc>
              <a:buNone/>
            </a:pPr>
            <a:r>
              <a:rPr lang="en-US" sz="1200" dirty="0">
                <a:solidFill>
                  <a:srgbClr val="FFFFFF"/>
                </a:solidFill>
              </a:rPr>
              <a:t>   Developing strategies to improve the tumor microenvironment to enhance the efficacy of photo- and radiotherapy in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**免疫相關不良事件的監測與管理**  </a:t>
            </a:r>
            <a:endParaRPr lang="en-US" sz="1200" dirty="0"/>
          </a:p>
          <a:p>
            <a:pPr indent="0" marL="0">
              <a:lnSpc>
                <a:spcPct val="150000"/>
              </a:lnSpc>
              <a:buNone/>
            </a:pPr>
            <a:r>
              <a:rPr lang="en-US" sz="1200" dirty="0">
                <a:solidFill>
                  <a:srgbClr val="FFFFFF"/>
                </a:solidFill>
              </a:rPr>
              <a:t>   **Monitoring and management of immune-related adverse events**  </a:t>
            </a:r>
            <a:endParaRPr lang="en-US" sz="1200" dirty="0"/>
          </a:p>
          <a:p>
            <a:pPr indent="0" marL="0">
              <a:lnSpc>
                <a:spcPct val="150000"/>
              </a:lnSpc>
              <a:buNone/>
            </a:pPr>
            <a:r>
              <a:rPr lang="en-US" sz="1200" dirty="0">
                <a:solidFill>
                  <a:srgbClr val="FFFFFF"/>
                </a:solidFill>
              </a:rPr>
              <a:t>   研究如何有效監測和管理接受免疫檢查點抑制劑的患者中出現的免疫相關不良事件。  </a:t>
            </a:r>
            <a:endParaRPr lang="en-US" sz="1200" dirty="0"/>
          </a:p>
          <a:p>
            <a:pPr indent="0" marL="0">
              <a:lnSpc>
                <a:spcPct val="150000"/>
              </a:lnSpc>
              <a:buNone/>
            </a:pPr>
            <a:r>
              <a:rPr lang="en-US" sz="1200" dirty="0">
                <a:solidFill>
                  <a:srgbClr val="FFFFFF"/>
                </a:solidFill>
              </a:rPr>
              <a:t>   Researching effective monitoring and management of immune-related adverse events in patients receiving immune checkpoint inhibitors.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**營養狀態與治療反應的關聯性**  </a:t>
            </a:r>
            <a:endParaRPr lang="en-US" sz="1200" dirty="0"/>
          </a:p>
          <a:p>
            <a:pPr indent="0" marL="0">
              <a:lnSpc>
                <a:spcPct val="150000"/>
              </a:lnSpc>
              <a:buNone/>
            </a:pPr>
            <a:r>
              <a:rPr lang="en-US" sz="1200" dirty="0">
                <a:solidFill>
                  <a:srgbClr val="FFFFFF"/>
                </a:solidFill>
              </a:rPr>
              <a:t>   **Correlation between nutritional status and treatment response**  </a:t>
            </a:r>
            <a:endParaRPr lang="en-US" sz="1200" dirty="0"/>
          </a:p>
          <a:p>
            <a:pPr indent="0" marL="0">
              <a:lnSpc>
                <a:spcPct val="150000"/>
              </a:lnSpc>
              <a:buNone/>
            </a:pPr>
            <a:r>
              <a:rPr lang="en-US" sz="1200" dirty="0">
                <a:solidFill>
                  <a:srgbClr val="FFFFFF"/>
                </a:solidFill>
              </a:rPr>
              <a:t>   進一步研究預後營養指數與肝細胞癌患者對免疫治療反應之間的關聯性，以優化治療方案。  </a:t>
            </a:r>
            <a:endParaRPr lang="en-US" sz="1200" dirty="0"/>
          </a:p>
          <a:p>
            <a:pPr indent="0" marL="0">
              <a:lnSpc>
                <a:spcPct val="150000"/>
              </a:lnSpc>
              <a:buNone/>
            </a:pPr>
            <a:r>
              <a:rPr lang="en-US" sz="1200" dirty="0">
                <a:solidFill>
                  <a:srgbClr val="FFFFFF"/>
                </a:solidFill>
              </a:rPr>
              <a:t>   Further investigating the correlation between prognostic nutritional index and treatment response in HCC patients to optimize therapeutic regimens.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2026-06-22T01:52:05Z</dcterms:created>
  <dcterms:modified xsi:type="dcterms:W3CDTF">2026-06-22T01:52:05Z</dcterms:modified>
</cp:coreProperties>
</file>