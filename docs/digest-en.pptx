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136/gutjnl-2025-336317" TargetMode="External"/><Relationship Id="rId2" Type="http://schemas.openxmlformats.org/officeDocument/2006/relationships/hyperlink" Target="https://doi.org/10.1136/gutjnl-2025-336317"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gut.bmj.com/content/75/8/1620.abstract" TargetMode="External"/><Relationship Id="rId2" Type="http://schemas.openxmlformats.org/officeDocument/2006/relationships/hyperlink" Target="https://gut.bmj.com/content/75/8/1620.abstract"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www.sciencedirect.com/science/article/pii/S2589555925003404" TargetMode="External"/><Relationship Id="rId2" Type="http://schemas.openxmlformats.org/officeDocument/2006/relationships/hyperlink" Target="https://www.sciencedirect.com/science/article/pii/S2589555925003404"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080/17474124.2026.2702585" TargetMode="External"/><Relationship Id="rId2" Type="http://schemas.openxmlformats.org/officeDocument/2006/relationships/hyperlink" Target="https://doi.org/10.1080/17474124.2026.2702585"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136/jitc-2025-013948" TargetMode="External"/><Relationship Id="rId2" Type="http://schemas.openxmlformats.org/officeDocument/2006/relationships/hyperlink" Target="https://doi.org/10.1136/jitc-2025-013948"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186/s13045-026-01818-2" TargetMode="External"/><Relationship Id="rId2" Type="http://schemas.openxmlformats.org/officeDocument/2006/relationships/hyperlink" Target="https://doi.org/10.1186/s13045-026-01818-2"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nature.com/articles/s41392-025-02498-z" TargetMode="External"/><Relationship Id="rId2" Type="http://schemas.openxmlformats.org/officeDocument/2006/relationships/hyperlink" Target="https://www.nature.com/articles/s41392-025-02498-z"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07/s10147-026-03091-2" TargetMode="External"/><Relationship Id="rId2" Type="http://schemas.openxmlformats.org/officeDocument/2006/relationships/hyperlink" Target="https://doi.org/10.1007/s10147-026-03091-2"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111/jgh.70555" TargetMode="External"/><Relationship Id="rId2" Type="http://schemas.openxmlformats.org/officeDocument/2006/relationships/hyperlink" Target="https://doi.org/10.1111/jgh.70555"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111/hepr.70240" TargetMode="External"/><Relationship Id="rId2" Type="http://schemas.openxmlformats.org/officeDocument/2006/relationships/hyperlink" Target="https://doi.org/10.1111/hepr.70240"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00000"/>
              </a:lnSpc>
              <a:buNone/>
            </a:pPr>
            <a:r>
              <a:rPr lang="en-US" sz="4800" b="1" dirty="0">
                <a:solidFill>
                  <a:srgbClr val="FFFFFF"/>
                </a:solidFill>
                <a:latin typeface="Arial" pitchFamily="34" charset="0"/>
                <a:ea typeface="Arial" pitchFamily="34" charset="-122"/>
                <a:cs typeface="Arial" pitchFamily="34" charset="-120"/>
              </a:rPr>
              <a:t>HCC</a:t>
            </a:r>
            <a:endParaRPr lang="en-US" sz="4800" dirty="0"/>
          </a:p>
          <a:p>
            <a:pPr indent="0" marL="0">
              <a:lnSpc>
                <a:spcPct val="100000"/>
              </a:lnSpc>
              <a:buNone/>
            </a:pPr>
            <a:r>
              <a:rPr lang="en-US" sz="4800" b="1" dirty="0">
                <a:solidFill>
                  <a:srgbClr val="FFFFFF"/>
                </a:solidFill>
                <a:latin typeface="Arial" pitchFamily="34" charset="0"/>
                <a:ea typeface="Arial" pitchFamily="34" charset="-122"/>
                <a:cs typeface="Arial" pitchFamily="34" charset="-120"/>
              </a:rPr>
              <a:t>Weekly Digest</a:t>
            </a:r>
            <a:endParaRPr lang="en-US" sz="4800" dirty="0"/>
          </a:p>
          <a:p>
            <a:pPr indent="0" marL="0">
              <a:lnSpc>
                <a:spcPct val="100000"/>
              </a:lnSpc>
              <a:buNone/>
            </a:pPr>
            <a:r>
              <a:rPr lang="en-US" sz="1800" dirty="0">
                <a:solidFill>
                  <a:srgbClr val="FCA5A5"/>
                </a:solidFill>
                <a:latin typeface="Arial" pitchFamily="34" charset="0"/>
                <a:ea typeface="Arial" pitchFamily="34" charset="-122"/>
                <a:cs typeface="Arial" pitchFamily="34" charset="-120"/>
              </a:rPr>
              <a:t>For Prof. Lu</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2026-07-06 — 2026-07-13</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DC2626"/>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Epigenetic therapies in hepatocellular carcinoma: emerging clinical tools and ap…</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Epigenetic therapies in hepatocellular carcinoma: emerging clinical tools and ap…</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Pembrolizumab and stereotactic body radiotherapy combined in advanced hepatocell…</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Hepatocellular carcinoma: new therapies on the horizon.</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UDP-glucuronate decarboxylase 1 promotes tumor immune evasion by accelerating KM…</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Long-term follow-up of a phase 1/2 trial of anti-GDF-15 antibody visugromab plus…</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plus transarterial chemoembolization and PD-1 inhibitors as conversion therapi…</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immunological paradox: immune checkpoint inhibitors in liver transplantation…</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Comparative Effectiveness and Safety of Atezolizumab-Bevacizumab and Durvalumab-…</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Survival Outcomes After Liver Resection for Barcelona Clinic Liver Cancer Stage …</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Epigenetic therapies in hepatocellular carcinoma: emerging clinical tools and applications.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  ·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HCC is a leading cause of cancer death.</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Current therapies show limited efficacy in advanced stages.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Epigenetic dysregulation drives tumor progression.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Emerging 'epidrugs' show promise in clinical trials.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Targeting epigenetics may enhance existing therapies.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Bueloni Barbara, G Fernandez-Barrena Maite, Fiore Esteban et al.. Gut. 2026-07-08 DOI: 10.1136/gutjnl-2025-336317</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Epigenetic therapies in hepatocellular carcinoma: emerging clinical tools and applications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Epigenetic therapies show promise in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with ICIs enhances treatment efficacy.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Emerging tools for personalized medicine in HCC.</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B Bueloni, MG Fernandez-Barrena, E Fiore. Gut.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Pembrolizumab and stereotactic body radiotherapy combined in advanced hepatocellular carcinoma post sorafenib–A phase II trial (PEMRAD)</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JHEP Reports  ·  IF 7.8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of pembrolizumab and SBRT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Phase II trial in advanced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Post-sorafenib treatment evaluation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to enhance immune response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Safety and efficacy assessment conducted</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GM O'Kane, A Mesci, RW Jang. JHEP Reports.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Hepatocellular carcinoma: new therapies on the horizon.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Expert review of gastroenterology &amp; hepatology  ·  Prospective Study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ICIs are frontline for advanced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Emerging therapies include new systemic agents.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Neoadjuvant ICI regimens show promising responses.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therapies improve progression-free survival.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Personalized approaches in locoregional treatments.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Yuza Kizuki, Akabane Miho, Kawashima Jun et al.. Expert review of gastroenterology &amp; hepatology. 2026-07-10 DOI: 10.1080/17474124.2026.2702585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UDP-glucuronate decarboxylase 1 promotes tumor immune evasion by accelerating KMT2D loss in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for immunotherapy of cancer  ·  IF 10.9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UXS1 identified as immune evasion driver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Promotes KMT2D degradation and PD-L1 upregulation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High UXS1 linked to poor CD8+ T-cell response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Knockout enhances anti-PD-1 therapy efficacy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Novel UXS1-KMT2D-CEBPB-PD-L1 signaling axis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Zhang Jiwei, Li Yuan, Chen Jiafeng et al.. Journal for immunotherapy of cancer. 2026-07-08 DOI: 10.1136/jitc-2025-013948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Long-term follow-up of a phase 1/2 trial of anti-GDF-15 antibody visugromab plus anti-PD-1 antibody nivolumab in anti-PD-1/-L1 relapsed/refractory solid tumors.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hematology &amp; oncology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Visugromab plus nivolumab evaluated in trial.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Objective response rates: 14.3% for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Median duration of response was 19.4 months.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GDF-15 blockade may overcome resistance.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Further randomized trials are warranted.</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Melero Ignacio, de Miguel Mar&amp;#xed;a, Cabanas Elena Garralda et al.. Journal of hematology &amp; oncology. 2026-07-10 DOI: 10.1186/s13045-026-01818-2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plus transarterial chemoembolization and PD-1 inhibitors as conversion therapies for unresectable intermediate-advanced hepatocellular carcinoma: a phase 2 trial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and Targeted Therapy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therapy for unresectable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Transarterial chemoembolization (TACE) used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PD-1 inhibitors enhance treatment efficacy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Zhang, H Cai, W Peng. … and Targeted Therapy.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immunological paradox: immune checkpoint inhibitors in liver transplantation.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International journal of clinical oncology  ·  Review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ICIs transform HCC treatment landscape.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LT requires immune tolerance for success.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ICIs disrupt tolerance, enhancing immunity.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Emerging biomarkers predict ICI rejection.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Ethical concerns in living donor LT.</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Ito Takashi, Okumura Shinya, Sakamoto Katsunori et al.. International journal of clinical oncology. 2026-07-11 DOI: 10.1007/s10147-026-03091-2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Comparative Effectiveness and Safety of Atezolizumab-Bevacizumab and Durvalumab-Tremelimumab as First-Line Systemic Therapy for Hepatocellular Carcinoma: A Real-World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gastroenterology and hepatology  ·  Retrospective Study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Atezo/Bev and Durva/Treme are first-line therapies.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Study included 3362 eligible HCC patients.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Overall survival similar: 14.6 vs. 17.3 months.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Atezo/Bev had fewer treatment-requiring irAEs.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Safety profiles were broadly comparable.</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Lin Shu Hsien, Wu Jia-Ling, Tsai Ying-Nan et al.. Journal of gastroenterology and hepatology. 2026-07-10 DOI: 10.1111/jgh.70555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Survival Outcomes After Liver Resection for Barcelona Clinic Liver Cancer Stage B Hepatocellular Carcinoma Have Improved in the Contemporary Era.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Hepatology research : the official journal of the Japan Society of Hepatology  ·  Retrospective Study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Liver resection outcomes improved for BCLC-B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5-year overall survival rose from 44% to 74%.</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Postrecurrence management shifted towards new therapies.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Yamamoto Yoichi, Asahi Yoh, Shichi Shunsuke et al.. Hepatology research : the official journal of the Japan Society of Hepatology. 2026-07-09 DOI: 10.1111/hepr.70240</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Overall Insights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**免疫療法的潛力與挑戰**  </a:t>
            </a:r>
            <a:endParaRPr lang="en-US" sz="1200" dirty="0"/>
          </a:p>
          <a:p>
            <a:pPr indent="0" marL="0">
              <a:lnSpc>
                <a:spcPct val="150000"/>
              </a:lnSpc>
              <a:buNone/>
            </a:pPr>
            <a:r>
              <a:rPr lang="en-US" sz="1200" dirty="0">
                <a:solidFill>
                  <a:srgbClr val="FFFFFF"/>
                </a:solidFill>
              </a:rPr>
              <a:t>   The integration of immune checkpoint inhibitors (ICIs) has revolutionized the treatment landscape for advanced hepatocellular carcinoma (HCC), yet challenges such as primary resistance and limited durability of responses remain significant hurdles.  </a:t>
            </a:r>
            <a:endParaRPr lang="en-US" sz="1200" dirty="0"/>
          </a:p>
          <a:p>
            <a:pPr indent="0" marL="0">
              <a:lnSpc>
                <a:spcPct val="150000"/>
              </a:lnSpc>
              <a:buNone/>
            </a:pPr>
            <a:r>
              <a:rPr lang="en-US" sz="1200" dirty="0">
                <a:solidFill>
                  <a:srgbClr val="FFFFFF"/>
                </a:solidFill>
              </a:rPr>
              <a:t>   免疫檢查點抑制劑（ICIs）的整合已徹底改變了晚期肝細胞癌（HCC）的治療格局，但初級耐藥性和反應持久性有限等挑戰仍然是重大障礙。</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**表觀遺傳療法的興起**  </a:t>
            </a:r>
            <a:endParaRPr lang="en-US" sz="1200" dirty="0"/>
          </a:p>
          <a:p>
            <a:pPr indent="0" marL="0">
              <a:lnSpc>
                <a:spcPct val="150000"/>
              </a:lnSpc>
              <a:buNone/>
            </a:pPr>
            <a:r>
              <a:rPr lang="en-US" sz="1200" dirty="0">
                <a:solidFill>
                  <a:srgbClr val="FFFFFF"/>
                </a:solidFill>
              </a:rPr>
              <a:t>   Emerging epigenetic therapies present new avenues for HCC treatment, particularly in overcoming resistance mechanisms associated with conventional therapies.  </a:t>
            </a:r>
            <a:endParaRPr lang="en-US" sz="1200" dirty="0"/>
          </a:p>
          <a:p>
            <a:pPr indent="0" marL="0">
              <a:lnSpc>
                <a:spcPct val="150000"/>
              </a:lnSpc>
              <a:buNone/>
            </a:pPr>
            <a:r>
              <a:rPr lang="en-US" sz="1200" dirty="0">
                <a:solidFill>
                  <a:srgbClr val="FFFFFF"/>
                </a:solidFill>
              </a:rPr>
              <a:t>   新興的表觀遺傳療法為HCC治療提供了新的途徑，特別是在克服與傳統療法相關的耐藥機制方面。</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**局部治療與全身療法的協同作用**  </a:t>
            </a:r>
            <a:endParaRPr lang="en-US" sz="1200" dirty="0"/>
          </a:p>
          <a:p>
            <a:pPr indent="0" marL="0">
              <a:lnSpc>
                <a:spcPct val="150000"/>
              </a:lnSpc>
              <a:buNone/>
            </a:pPr>
            <a:r>
              <a:rPr lang="en-US" sz="1200" dirty="0">
                <a:solidFill>
                  <a:srgbClr val="FFFFFF"/>
                </a:solidFill>
              </a:rPr>
              <a:t>   Combining locoregional therapies, such as transarterial chemoembolization (TACE) and stereotactic body radiotherapy, with systemic therapies like ICIs shows promise in improving patient outcomes.  </a:t>
            </a:r>
            <a:endParaRPr lang="en-US" sz="1200" dirty="0"/>
          </a:p>
          <a:p>
            <a:pPr indent="0" marL="0">
              <a:lnSpc>
                <a:spcPct val="150000"/>
              </a:lnSpc>
              <a:buNone/>
            </a:pPr>
            <a:r>
              <a:rPr lang="en-US" sz="1200" dirty="0">
                <a:solidFill>
                  <a:srgbClr val="FFFFFF"/>
                </a:solidFill>
              </a:rPr>
              <a:t>   將局部療法（如經動脈化療栓塞（TACE）和立體定向體放射治療）與全身療法（如ICIs）結合在一起，對改善患者預後顯示出希望。</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**生物標誌物的缺乏**  </a:t>
            </a:r>
            <a:endParaRPr lang="en-US" sz="1200" dirty="0"/>
          </a:p>
          <a:p>
            <a:pPr indent="0" marL="0">
              <a:lnSpc>
                <a:spcPct val="150000"/>
              </a:lnSpc>
              <a:buNone/>
            </a:pPr>
            <a:r>
              <a:rPr lang="en-US" sz="1200" dirty="0">
                <a:solidFill>
                  <a:srgbClr val="FFFFFF"/>
                </a:solidFill>
              </a:rPr>
              <a:t>   The absence of validated predictive biomarkers limits the ability to tailor treatments effectively, underscoring the need for further research in biomarker discovery for HCC.  </a:t>
            </a:r>
            <a:endParaRPr lang="en-US" sz="1200" dirty="0"/>
          </a:p>
          <a:p>
            <a:pPr indent="0" marL="0">
              <a:lnSpc>
                <a:spcPct val="150000"/>
              </a:lnSpc>
              <a:buNone/>
            </a:pPr>
            <a:r>
              <a:rPr lang="en-US" sz="1200" dirty="0">
                <a:solidFill>
                  <a:srgbClr val="FFFFFF"/>
                </a:solidFill>
              </a:rPr>
              <a:t>   缺乏經過驗證的預測生物標誌物限制了有效調整治療的能力，突顯了對HCC生物標誌物發現進一步研究的需求。</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**多學科合作的重要性**  </a:t>
            </a:r>
            <a:endParaRPr lang="en-US" sz="1200" dirty="0"/>
          </a:p>
          <a:p>
            <a:pPr indent="0" marL="0">
              <a:lnSpc>
                <a:spcPct val="150000"/>
              </a:lnSpc>
              <a:buNone/>
            </a:pPr>
            <a:r>
              <a:rPr lang="en-US" sz="1200" dirty="0">
                <a:solidFill>
                  <a:srgbClr val="FFFFFF"/>
                </a:solidFill>
              </a:rPr>
              <a:t>   Advances in imaging and multidisciplinary approaches are essential for improving surgical outcomes and overall survival in HCC patients.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Future Directions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成像技術的進步和多學科方法對改善HCC患者的手術結果和整體生存率至關重要。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**耐藥機制的深入研究**  </a:t>
            </a:r>
            <a:endParaRPr lang="en-US" sz="1200" dirty="0"/>
          </a:p>
          <a:p>
            <a:pPr indent="0" marL="0">
              <a:lnSpc>
                <a:spcPct val="150000"/>
              </a:lnSpc>
              <a:buNone/>
            </a:pPr>
            <a:r>
              <a:rPr lang="en-US" sz="1200" dirty="0">
                <a:solidFill>
                  <a:srgbClr val="FFFFFF"/>
                </a:solidFill>
              </a:rPr>
              <a:t>   Investigating the molecular mechanisms underlying resistance to ICIs and other therapies is critical for developing strategies to enhance treatment efficacy.  </a:t>
            </a:r>
            <a:endParaRPr lang="en-US" sz="1200" dirty="0"/>
          </a:p>
          <a:p>
            <a:pPr indent="0" marL="0">
              <a:lnSpc>
                <a:spcPct val="150000"/>
              </a:lnSpc>
              <a:buNone/>
            </a:pPr>
            <a:r>
              <a:rPr lang="en-US" sz="1200" dirty="0">
                <a:solidFill>
                  <a:srgbClr val="FFFFFF"/>
                </a:solidFill>
              </a:rPr>
              <a:t>   深入研究ICIs和其他療法耐藥的分子機制對於開發增強治療效果的策略至關重要。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**新型生物標誌物的探索**  </a:t>
            </a:r>
            <a:endParaRPr lang="en-US" sz="1200" dirty="0"/>
          </a:p>
          <a:p>
            <a:pPr indent="0" marL="0">
              <a:lnSpc>
                <a:spcPct val="150000"/>
              </a:lnSpc>
              <a:buNone/>
            </a:pPr>
            <a:r>
              <a:rPr lang="en-US" sz="1200" dirty="0">
                <a:solidFill>
                  <a:srgbClr val="FFFFFF"/>
                </a:solidFill>
              </a:rPr>
              <a:t>   Future studies should focus on identifying and validating biomarkers that can predict response to immunotherapy and guide personalized treatment approaches.  </a:t>
            </a:r>
            <a:endParaRPr lang="en-US" sz="1200" dirty="0"/>
          </a:p>
          <a:p>
            <a:pPr indent="0" marL="0">
              <a:lnSpc>
                <a:spcPct val="150000"/>
              </a:lnSpc>
              <a:buNone/>
            </a:pPr>
            <a:r>
              <a:rPr lang="en-US" sz="1200" dirty="0">
                <a:solidFill>
                  <a:srgbClr val="FFFFFF"/>
                </a:solidFill>
              </a:rPr>
              <a:t>   未來的研究應集中於識別和驗證能預測免疫療法反應的生物標誌物，並指導個性化治療方法。</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**表觀遺傳療法的臨床應用**  </a:t>
            </a:r>
            <a:endParaRPr lang="en-US" sz="1200" dirty="0"/>
          </a:p>
          <a:p>
            <a:pPr indent="0" marL="0">
              <a:lnSpc>
                <a:spcPct val="150000"/>
              </a:lnSpc>
              <a:buNone/>
            </a:pPr>
            <a:r>
              <a:rPr lang="en-US" sz="1200" dirty="0">
                <a:solidFill>
                  <a:srgbClr val="FFFFFF"/>
                </a:solidFill>
              </a:rPr>
              <a:t>   Clinical trials exploring the efficacy of epigenetic therapies in combination with existing treatments for HCC are necessary to establish their role in therapy.  </a:t>
            </a:r>
            <a:endParaRPr lang="en-US" sz="1200" dirty="0"/>
          </a:p>
          <a:p>
            <a:pPr indent="0" marL="0">
              <a:lnSpc>
                <a:spcPct val="150000"/>
              </a:lnSpc>
              <a:buNone/>
            </a:pPr>
            <a:r>
              <a:rPr lang="en-US" sz="1200" dirty="0">
                <a:solidFill>
                  <a:srgbClr val="FFFFFF"/>
                </a:solidFill>
              </a:rPr>
              <a:t>   探索表觀遺傳療法與現有HCC治療組合的臨床試驗是必要的，以確立其在治療中的角色。</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**多模態治療策略的發展**  </a:t>
            </a:r>
            <a:endParaRPr lang="en-US" sz="1200" dirty="0"/>
          </a:p>
          <a:p>
            <a:pPr indent="0" marL="0">
              <a:lnSpc>
                <a:spcPct val="150000"/>
              </a:lnSpc>
              <a:buNone/>
            </a:pPr>
            <a:r>
              <a:rPr lang="en-US" sz="1200" dirty="0">
                <a:solidFill>
                  <a:srgbClr val="FFFFFF"/>
                </a:solidFill>
              </a:rPr>
              <a:t>   Research should focus on developing multimodal treatment strategies that integrate systemic and locoregional therapies to optimize patient outcomes.  </a:t>
            </a:r>
            <a:endParaRPr lang="en-US" sz="1200" dirty="0"/>
          </a:p>
          <a:p>
            <a:pPr indent="0" marL="0">
              <a:lnSpc>
                <a:spcPct val="150000"/>
              </a:lnSpc>
              <a:buNone/>
            </a:pPr>
            <a:r>
              <a:rPr lang="en-US" sz="1200" dirty="0">
                <a:solidFill>
                  <a:srgbClr val="FFFFFF"/>
                </a:solidFill>
              </a:rPr>
              <a:t>   研究應集中於開發整合全身療法和局部療法的多模態治療策略，以優化患者預後。</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**長期隨訪與數據收集**  </a:t>
            </a:r>
            <a:endParaRPr lang="en-US" sz="1200" dirty="0"/>
          </a:p>
          <a:p>
            <a:pPr indent="0" marL="0">
              <a:lnSpc>
                <a:spcPct val="150000"/>
              </a:lnSpc>
              <a:buNone/>
            </a:pPr>
            <a:r>
              <a:rPr lang="en-US" sz="1200" dirty="0">
                <a:solidFill>
                  <a:srgbClr val="FFFFFF"/>
                </a:solidFill>
              </a:rPr>
              <a:t>   Long-term follow-up studies are essential to assess the durability of responses and overall survival in patients receiving novel therapies for HCC.  </a:t>
            </a:r>
            <a:endParaRPr lang="en-US" sz="1200" dirty="0"/>
          </a:p>
          <a:p>
            <a:pPr indent="0" marL="0">
              <a:lnSpc>
                <a:spcPct val="150000"/>
              </a:lnSpc>
              <a:buNone/>
            </a:pPr>
            <a:r>
              <a:rPr lang="en-US" sz="1200" dirty="0">
                <a:solidFill>
                  <a:srgbClr val="FFFFFF"/>
                </a:solidFill>
              </a:rPr>
              <a:t>   長期隨訪研究對於評估接受新療法的HCC患者的反應持久性和整體生存率至關重要。</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HCC Weekly Digest · 呂大教授 敬啟</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HCC Weekly Digest</dc:title>
  <dc:subject>PptxGenJS Presentation</dc:subject>
  <dc:creator>HCC Weekly Digest</dc:creator>
  <cp:lastModifiedBy>HCC Weekly Digest</cp:lastModifiedBy>
  <cp:revision>1</cp:revision>
  <dcterms:created xsi:type="dcterms:W3CDTF">2026-07-13T04:27:24Z</dcterms:created>
  <dcterms:modified xsi:type="dcterms:W3CDTF">2026-07-13T04:27:24Z</dcterms:modified>
</cp:coreProperties>
</file>