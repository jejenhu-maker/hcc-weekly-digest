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</p:sldIdLst>
  <p:notesMasterIdLst>
    <p:notesMasterId r:id="rId17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notesMaster" Target="notesMasters/notesMaster1.xml"/><Relationship Id="rId18" Type="http://schemas.openxmlformats.org/officeDocument/2006/relationships/presProps" Target="presProps.xml"/><Relationship Id="rId19" Type="http://schemas.openxmlformats.org/officeDocument/2006/relationships/viewProps" Target="viewProps.xml"/><Relationship Id="rId20" Type="http://schemas.openxmlformats.org/officeDocument/2006/relationships/theme" Target="theme/theme1.xml"/><Relationship Id="rId21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hyperlink" Target="https://doi.org/10.1016/j.ccell.2026.06.010" TargetMode="External"/><Relationship Id="rId2" Type="http://schemas.openxmlformats.org/officeDocument/2006/relationships/hyperlink" Target="https://doi.org/10.1016/j.ccell.2026.06.010" TargetMode="External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hyperlink" Target="https://doi.org/10.1158/1078-0432.CCR-25-4943" TargetMode="External"/><Relationship Id="rId2" Type="http://schemas.openxmlformats.org/officeDocument/2006/relationships/hyperlink" Target="https://doi.org/10.1158/1078-0432.CCR-25-4943" TargetMode="External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hyperlink" Target="https://doi.org/10.1016/j.ccell.2026.05.001" TargetMode="External"/><Relationship Id="rId2" Type="http://schemas.openxmlformats.org/officeDocument/2006/relationships/hyperlink" Target="https://doi.org/10.1016/j.ccell.2026.05.001" TargetMode="External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hyperlink" Target="https://www.sciencedirect.com/science/article/pii/S2589555925003404" TargetMode="External"/><Relationship Id="rId2" Type="http://schemas.openxmlformats.org/officeDocument/2006/relationships/hyperlink" Target="https://www.sciencedirect.com/science/article/pii/S2589555925003404" TargetMode="External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hyperlink" Target="https://doi.org/10.1158/1078-0432.CCR-25-4779" TargetMode="External"/><Relationship Id="rId2" Type="http://schemas.openxmlformats.org/officeDocument/2006/relationships/hyperlink" Target="https://doi.org/10.1158/1078-0432.CCR-25-4779" TargetMode="External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hyperlink" Target="https://doi.org/10.5009/gnl250532" TargetMode="External"/><Relationship Id="rId2" Type="http://schemas.openxmlformats.org/officeDocument/2006/relationships/hyperlink" Target="https://doi.org/10.5009/gnl250532" TargetMode="External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hyperlink" Target="https://doi.org/10.1007/s12672-026-05539-3" TargetMode="External"/><Relationship Id="rId2" Type="http://schemas.openxmlformats.org/officeDocument/2006/relationships/hyperlink" Target="https://doi.org/10.1007/s12672-026-05539-3" TargetMode="External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hyperlink" Target="https://www.nature.com/articles/s41392-025-02498-z" TargetMode="External"/><Relationship Id="rId2" Type="http://schemas.openxmlformats.org/officeDocument/2006/relationships/hyperlink" Target="https://www.nature.com/articles/s41392-025-02498-z" TargetMode="External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hyperlink" Target="https://doi.org/10.1038/s41467-026-75422-w" TargetMode="External"/><Relationship Id="rId2" Type="http://schemas.openxmlformats.org/officeDocument/2006/relationships/hyperlink" Target="https://doi.org/10.1038/s41467-026-75422-w" TargetMode="External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hyperlink" Target="https://doi.org/10.1038/s41467-026-73485-3" TargetMode="External"/><Relationship Id="rId2" Type="http://schemas.openxmlformats.org/officeDocument/2006/relationships/hyperlink" Target="https://doi.org/10.1038/s41467-026-73485-3" TargetMode="External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5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1A1A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731520" y="457200"/>
            <a:ext cx="5486400" cy="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spc="600" kern="0" dirty="0">
                <a:solidFill>
                  <a:srgbClr val="888888"/>
                </a:solidFill>
              </a:rPr>
              <a:t>WEEKLY DIGEST</a:t>
            </a:r>
            <a:endParaRPr lang="en-US" sz="900" dirty="0"/>
          </a:p>
        </p:txBody>
      </p:sp>
      <p:sp>
        <p:nvSpPr>
          <p:cNvPr id="3" name="Text 1"/>
          <p:cNvSpPr/>
          <p:nvPr/>
        </p:nvSpPr>
        <p:spPr>
          <a:xfrm>
            <a:off x="731520" y="1371600"/>
            <a:ext cx="10058400" cy="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00000"/>
              </a:lnSpc>
              <a:buNone/>
            </a:pPr>
            <a:r>
              <a:rPr lang="en-US" sz="48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HCC</a:t>
            </a:r>
            <a:endParaRPr lang="en-US" sz="480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48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Weekly Digest</a:t>
            </a:r>
            <a:endParaRPr lang="en-US" sz="480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1800" dirty="0">
                <a:solidFill>
                  <a:srgbClr val="FCA5A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For Prof. Lu</a:t>
            </a:r>
            <a:endParaRPr lang="en-US" sz="4800" dirty="0"/>
          </a:p>
        </p:txBody>
      </p:sp>
      <p:sp>
        <p:nvSpPr>
          <p:cNvPr id="4" name="Text 2"/>
          <p:cNvSpPr/>
          <p:nvPr/>
        </p:nvSpPr>
        <p:spPr>
          <a:xfrm>
            <a:off x="731520" y="5029200"/>
            <a:ext cx="5486400" cy="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888888"/>
                </a:solidFill>
              </a:rPr>
              <a:t>2026-07-13 — 2026-07-20</a:t>
            </a:r>
            <a:endParaRPr lang="en-US" sz="1400" dirty="0"/>
          </a:p>
        </p:txBody>
      </p:sp>
      <p:sp>
        <p:nvSpPr>
          <p:cNvPr id="5" name="Text 3"/>
          <p:cNvSpPr/>
          <p:nvPr/>
        </p:nvSpPr>
        <p:spPr>
          <a:xfrm>
            <a:off x="731520" y="5486400"/>
            <a:ext cx="5486400" cy="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rgbClr val="DC2626"/>
                </a:solidFill>
              </a:rPr>
              <a:t>10 Selected Papers</a:t>
            </a:r>
            <a:endParaRPr lang="en-US" sz="12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731520" y="365760"/>
            <a:ext cx="3657600" cy="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spc="400" kern="0" dirty="0">
                <a:solidFill>
                  <a:srgbClr val="888888"/>
                </a:solidFill>
              </a:rPr>
              <a:t>CONTENTS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31520" y="1005840"/>
            <a:ext cx="10058400" cy="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80000"/>
              </a:lnSpc>
              <a:buNone/>
            </a:pPr>
            <a:r>
              <a:rPr lang="en-US" sz="1400" b="1" dirty="0">
                <a:solidFill>
                  <a:srgbClr val="DC262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01  </a:t>
            </a:r>
            <a:pPr indent="0" marL="0">
              <a:lnSpc>
                <a:spcPct val="180000"/>
              </a:lnSpc>
              <a:buNone/>
            </a:pPr>
            <a:r>
              <a:rPr lang="en-US" sz="110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PD-1 blockade unleashes local hepatitis B virus-related B cell response inhibiti…</a:t>
            </a:r>
            <a:endParaRPr lang="en-US" sz="1400" dirty="0"/>
          </a:p>
          <a:p>
            <a:pPr indent="0" marL="0">
              <a:lnSpc>
                <a:spcPct val="180000"/>
              </a:lnSpc>
              <a:buNone/>
            </a:pPr>
            <a:r>
              <a:rPr lang="en-US" sz="1400" b="1" dirty="0">
                <a:solidFill>
                  <a:srgbClr val="DC262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02  </a:t>
            </a:r>
            <a:pPr indent="0" marL="0">
              <a:lnSpc>
                <a:spcPct val="180000"/>
              </a:lnSpc>
              <a:buNone/>
            </a:pPr>
            <a:r>
              <a:rPr lang="en-US" sz="110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Long-term Survival and Cure Fraction in Patients with Advanced Hepatocellular Ca…</a:t>
            </a:r>
            <a:endParaRPr lang="en-US" sz="1400" dirty="0"/>
          </a:p>
          <a:p>
            <a:pPr indent="0" marL="0">
              <a:lnSpc>
                <a:spcPct val="180000"/>
              </a:lnSpc>
              <a:buNone/>
            </a:pPr>
            <a:r>
              <a:rPr lang="en-US" sz="1400" b="1" dirty="0">
                <a:solidFill>
                  <a:srgbClr val="DC262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03  </a:t>
            </a:r>
            <a:pPr indent="0" marL="0">
              <a:lnSpc>
                <a:spcPct val="180000"/>
              </a:lnSpc>
              <a:buNone/>
            </a:pPr>
            <a:r>
              <a:rPr lang="en-US" sz="110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Targeting tumor-intrinsic STK40 induces immune vulnerability and drives T cell r…</a:t>
            </a:r>
            <a:endParaRPr lang="en-US" sz="1400" dirty="0"/>
          </a:p>
          <a:p>
            <a:pPr indent="0" marL="0">
              <a:lnSpc>
                <a:spcPct val="180000"/>
              </a:lnSpc>
              <a:buNone/>
            </a:pPr>
            <a:r>
              <a:rPr lang="en-US" sz="1400" b="1" dirty="0">
                <a:solidFill>
                  <a:srgbClr val="DC262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04  </a:t>
            </a:r>
            <a:pPr indent="0" marL="0">
              <a:lnSpc>
                <a:spcPct val="180000"/>
              </a:lnSpc>
              <a:buNone/>
            </a:pPr>
            <a:r>
              <a:rPr lang="en-US" sz="110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Pembrolizumab and stereotactic body radiotherapy combined in advanced hepatocell…</a:t>
            </a:r>
            <a:endParaRPr lang="en-US" sz="1400" dirty="0"/>
          </a:p>
          <a:p>
            <a:pPr indent="0" marL="0">
              <a:lnSpc>
                <a:spcPct val="180000"/>
              </a:lnSpc>
              <a:buNone/>
            </a:pPr>
            <a:r>
              <a:rPr lang="en-US" sz="1400" b="1" dirty="0">
                <a:solidFill>
                  <a:srgbClr val="DC262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05  </a:t>
            </a:r>
            <a:pPr indent="0" marL="0">
              <a:lnSpc>
                <a:spcPct val="180000"/>
              </a:lnSpc>
              <a:buNone/>
            </a:pPr>
            <a:r>
              <a:rPr lang="en-US" sz="110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Neoadjuvant Stereotactic Body Radiotherapy plus Immune Therapy Favorably Remodel…</a:t>
            </a:r>
            <a:endParaRPr lang="en-US" sz="1400" dirty="0"/>
          </a:p>
          <a:p>
            <a:pPr indent="0" marL="0">
              <a:lnSpc>
                <a:spcPct val="180000"/>
              </a:lnSpc>
              <a:buNone/>
            </a:pPr>
            <a:r>
              <a:rPr lang="en-US" sz="1400" b="1" dirty="0">
                <a:solidFill>
                  <a:srgbClr val="DC262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06  </a:t>
            </a:r>
            <a:pPr indent="0" marL="0">
              <a:lnSpc>
                <a:spcPct val="180000"/>
              </a:lnSpc>
              <a:buNone/>
            </a:pPr>
            <a:r>
              <a:rPr lang="en-US" sz="110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Second-Line and Subsequent Therapies after Atezolizumab Plus Bevacizumab Treatme…</a:t>
            </a:r>
            <a:endParaRPr lang="en-US" sz="1400" dirty="0"/>
          </a:p>
          <a:p>
            <a:pPr indent="0" marL="0">
              <a:lnSpc>
                <a:spcPct val="180000"/>
              </a:lnSpc>
              <a:buNone/>
            </a:pPr>
            <a:r>
              <a:rPr lang="en-US" sz="1400" b="1" dirty="0">
                <a:solidFill>
                  <a:srgbClr val="DC262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07  </a:t>
            </a:r>
            <a:pPr indent="0" marL="0">
              <a:lnSpc>
                <a:spcPct val="180000"/>
              </a:lnSpc>
              <a:buNone/>
            </a:pPr>
            <a:r>
              <a:rPr lang="en-US" sz="110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Mechanistic synergies and optimal sequencing of anti&amp;#x2011;VEGF plus immune che…</a:t>
            </a:r>
            <a:endParaRPr lang="en-US" sz="1400" dirty="0"/>
          </a:p>
          <a:p>
            <a:pPr indent="0" marL="0">
              <a:lnSpc>
                <a:spcPct val="180000"/>
              </a:lnSpc>
              <a:buNone/>
            </a:pPr>
            <a:r>
              <a:rPr lang="en-US" sz="1400" b="1" dirty="0">
                <a:solidFill>
                  <a:srgbClr val="DC262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08  </a:t>
            </a:r>
            <a:pPr indent="0" marL="0">
              <a:lnSpc>
                <a:spcPct val="180000"/>
              </a:lnSpc>
              <a:buNone/>
            </a:pPr>
            <a:r>
              <a:rPr lang="en-US" sz="110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… plus transarterial chemoembolization and PD-1 inhibitors as conversion therapi…</a:t>
            </a:r>
            <a:endParaRPr lang="en-US" sz="1400" dirty="0"/>
          </a:p>
          <a:p>
            <a:pPr indent="0" marL="0">
              <a:lnSpc>
                <a:spcPct val="180000"/>
              </a:lnSpc>
              <a:buNone/>
            </a:pPr>
            <a:r>
              <a:rPr lang="en-US" sz="1400" b="1" dirty="0">
                <a:solidFill>
                  <a:srgbClr val="DC262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09  </a:t>
            </a:r>
            <a:pPr indent="0" marL="0">
              <a:lnSpc>
                <a:spcPct val="180000"/>
              </a:lnSpc>
              <a:buNone/>
            </a:pPr>
            <a:r>
              <a:rPr lang="en-US" sz="110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Disrupting fumarylacetoacetate hydrolase by stratified nanoplatforms orchestrate…</a:t>
            </a:r>
            <a:endParaRPr lang="en-US" sz="1400" dirty="0"/>
          </a:p>
          <a:p>
            <a:pPr indent="0" marL="0">
              <a:lnSpc>
                <a:spcPct val="180000"/>
              </a:lnSpc>
              <a:buNone/>
            </a:pPr>
            <a:r>
              <a:rPr lang="en-US" sz="1400" b="1" dirty="0">
                <a:solidFill>
                  <a:srgbClr val="DC262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10  </a:t>
            </a:r>
            <a:pPr indent="0" marL="0">
              <a:lnSpc>
                <a:spcPct val="180000"/>
              </a:lnSpc>
              <a:buNone/>
            </a:pPr>
            <a:r>
              <a:rPr lang="en-US" sz="110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Nrf2-mediated metabolic reprogramming drives regulatory T cell accumulation in h…</a:t>
            </a:r>
            <a:endParaRPr lang="en-US" sz="14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731520" y="320040"/>
            <a:ext cx="5486400" cy="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spc="300" kern="0" dirty="0">
                <a:solidFill>
                  <a:srgbClr val="888888"/>
                </a:solidFill>
              </a:rPr>
              <a:t>01  KEY FINDINGS</a:t>
            </a:r>
            <a:endParaRPr lang="en-US" sz="900" dirty="0"/>
          </a:p>
        </p:txBody>
      </p:sp>
      <p:sp>
        <p:nvSpPr>
          <p:cNvPr id="3" name="Text 1"/>
          <p:cNvSpPr/>
          <p:nvPr/>
        </p:nvSpPr>
        <p:spPr>
          <a:xfrm>
            <a:off x="9144000" y="91440"/>
            <a:ext cx="2560320" cy="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5200" b="1" dirty="0">
                <a:solidFill>
                  <a:srgbClr val="E2E8F0"/>
                </a:solidFill>
              </a:rPr>
              <a:t>01</a:t>
            </a:r>
            <a:endParaRPr lang="en-US" sz="5200" dirty="0"/>
          </a:p>
        </p:txBody>
      </p:sp>
      <p:sp>
        <p:nvSpPr>
          <p:cNvPr id="4" name="Text 2">
            <a:hlinkClick r:id="rId1" tooltip=""/>
          </p:cNvPr>
          <p:cNvSpPr/>
          <p:nvPr/>
        </p:nvSpPr>
        <p:spPr>
          <a:xfrm>
            <a:off x="731520" y="731520"/>
            <a:ext cx="10058400" cy="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2400" b="1" u="sng" dirty="0">
                <a:solidFill>
                  <a:srgbClr val="111111"/>
                </a:solidFill>
                <a:latin typeface="Arial" pitchFamily="34" charset="0"/>
                <a:ea typeface="Arial" pitchFamily="34" charset="-122"/>
                <a:cs typeface="Arial" pitchFamily="34" charset="-120"/>
                <a:hlinkClick r:id="rId1" invalidUrl="" action="" tgtFrame="" tooltip="" history="1" highlightClick="0" endSnd="0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PD-1 blockade unleashes local hepatitis B virus-related B cell response inhibiting hepatocellular carcinoma.</a:t>
            </a:r>
            <a:endParaRPr lang="en-US" sz="2400" dirty="0"/>
          </a:p>
        </p:txBody>
      </p:sp>
      <p:sp>
        <p:nvSpPr>
          <p:cNvPr id="5" name="Text 3"/>
          <p:cNvSpPr/>
          <p:nvPr/>
        </p:nvSpPr>
        <p:spPr>
          <a:xfrm>
            <a:off x="731520" y="1828800"/>
            <a:ext cx="10058400" cy="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888888"/>
                </a:solidFill>
              </a:rPr>
              <a:t>Cancer cell  ·  IF 48.8  ·  RCT Phase 2</a:t>
            </a:r>
            <a:endParaRPr lang="en-US" sz="1000" dirty="0"/>
          </a:p>
        </p:txBody>
      </p:sp>
      <p:sp>
        <p:nvSpPr>
          <p:cNvPr id="6" name="Text 4"/>
          <p:cNvSpPr/>
          <p:nvPr/>
        </p:nvSpPr>
        <p:spPr>
          <a:xfrm>
            <a:off x="731520" y="2377440"/>
            <a:ext cx="10058400" cy="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80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PD-1 blockade enhances B cell response.</a:t>
            </a:r>
            <a:endParaRPr lang="en-US" sz="18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80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Distinct T cell and B cell subtypes identified.</a:t>
            </a:r>
            <a:endParaRPr lang="en-US" sz="18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80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HBcAg triggers local B cell activation.</a:t>
            </a:r>
            <a:endParaRPr lang="en-US" sz="18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80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Complement activation mediates antitumor effects.</a:t>
            </a:r>
            <a:endParaRPr lang="en-US" sz="18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80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Study supports anti-PD-1 therapy efficacy.</a:t>
            </a:r>
            <a:endParaRPr lang="en-US" sz="1800" dirty="0"/>
          </a:p>
        </p:txBody>
      </p:sp>
      <p:sp>
        <p:nvSpPr>
          <p:cNvPr id="7" name="Text 5"/>
          <p:cNvSpPr/>
          <p:nvPr/>
        </p:nvSpPr>
        <p:spPr>
          <a:xfrm>
            <a:off x="731520" y="5852160"/>
            <a:ext cx="10058400" cy="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88888"/>
                </a:solidFill>
              </a:rPr>
              <a:t>Chen Shuling, Wang Yuanqi, Chen Jingying et al.. Cancer cell. 2026-07-16 DOI: 10.1016/j.ccell.2026.06.010</a:t>
            </a:r>
            <a:endParaRPr lang="en-US" sz="800" dirty="0"/>
          </a:p>
        </p:txBody>
      </p:sp>
      <p:sp>
        <p:nvSpPr>
          <p:cNvPr id="8" name="Text 6">
            <a:hlinkClick r:id="rId2" tooltip=""/>
          </p:cNvPr>
          <p:cNvSpPr/>
          <p:nvPr/>
        </p:nvSpPr>
        <p:spPr>
          <a:xfrm>
            <a:off x="731520" y="6217920"/>
            <a:ext cx="3657600" cy="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u="sng" dirty="0">
                <a:solidFill>
                  <a:srgbClr val="DC2626"/>
                </a:solidFill>
                <a:hlinkClick r:id="rId2" invalidUrl="" action="" tgtFrame="" tooltip="" history="1" highlightClick="0" endSnd="0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📎 View Paper →</a:t>
            </a:r>
            <a:endParaRPr lang="en-US" sz="10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731520" y="320040"/>
            <a:ext cx="5486400" cy="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spc="300" kern="0" dirty="0">
                <a:solidFill>
                  <a:srgbClr val="888888"/>
                </a:solidFill>
              </a:rPr>
              <a:t>02  KEY FINDINGS</a:t>
            </a:r>
            <a:endParaRPr lang="en-US" sz="900" dirty="0"/>
          </a:p>
        </p:txBody>
      </p:sp>
      <p:sp>
        <p:nvSpPr>
          <p:cNvPr id="3" name="Text 1"/>
          <p:cNvSpPr/>
          <p:nvPr/>
        </p:nvSpPr>
        <p:spPr>
          <a:xfrm>
            <a:off x="9144000" y="91440"/>
            <a:ext cx="2560320" cy="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5200" b="1" dirty="0">
                <a:solidFill>
                  <a:srgbClr val="E2E8F0"/>
                </a:solidFill>
              </a:rPr>
              <a:t>02</a:t>
            </a:r>
            <a:endParaRPr lang="en-US" sz="5200" dirty="0"/>
          </a:p>
        </p:txBody>
      </p:sp>
      <p:sp>
        <p:nvSpPr>
          <p:cNvPr id="4" name="Text 2">
            <a:hlinkClick r:id="rId1" tooltip=""/>
          </p:cNvPr>
          <p:cNvSpPr/>
          <p:nvPr/>
        </p:nvSpPr>
        <p:spPr>
          <a:xfrm>
            <a:off x="731520" y="731520"/>
            <a:ext cx="10058400" cy="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2400" b="1" u="sng" dirty="0">
                <a:solidFill>
                  <a:srgbClr val="111111"/>
                </a:solidFill>
                <a:latin typeface="Arial" pitchFamily="34" charset="0"/>
                <a:ea typeface="Arial" pitchFamily="34" charset="-122"/>
                <a:cs typeface="Arial" pitchFamily="34" charset="-120"/>
                <a:hlinkClick r:id="rId1" invalidUrl="" action="" tgtFrame="" tooltip="" history="1" highlightClick="0" endSnd="0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Long-term Survival and Cure Fraction in Patients with Advanced Hepatocellular Carcinoma under Immunotherapy in Randomized Controlled Trials and Real-world Data.</a:t>
            </a:r>
            <a:endParaRPr lang="en-US" sz="2400" dirty="0"/>
          </a:p>
        </p:txBody>
      </p:sp>
      <p:sp>
        <p:nvSpPr>
          <p:cNvPr id="5" name="Text 3"/>
          <p:cNvSpPr/>
          <p:nvPr/>
        </p:nvSpPr>
        <p:spPr>
          <a:xfrm>
            <a:off x="731520" y="1828800"/>
            <a:ext cx="10058400" cy="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888888"/>
                </a:solidFill>
              </a:rPr>
              <a:t>Clinical cancer research : an official journal of the American Association for Cancer Research  ·  IF 11.5  ·  RCT Phase 3  ·  🌏 Asia</a:t>
            </a:r>
            <a:endParaRPr lang="en-US" sz="1000" dirty="0"/>
          </a:p>
        </p:txBody>
      </p:sp>
      <p:sp>
        <p:nvSpPr>
          <p:cNvPr id="6" name="Text 4"/>
          <p:cNvSpPr/>
          <p:nvPr/>
        </p:nvSpPr>
        <p:spPr>
          <a:xfrm>
            <a:off x="731520" y="2377440"/>
            <a:ext cx="10058400" cy="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80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Immune checkpoint inhibitors improve survival rates.</a:t>
            </a:r>
            <a:endParaRPr lang="en-US" sz="18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80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Long-term survival ranges from 10% to 15%.</a:t>
            </a:r>
            <a:endParaRPr lang="en-US" sz="18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80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Cure fractions estimated at 7% to 9%.</a:t>
            </a:r>
            <a:endParaRPr lang="en-US" sz="18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80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Durvalumab-tremelimumab shows promising results.</a:t>
            </a:r>
            <a:endParaRPr lang="en-US" sz="18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80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Albumin-bilirubin score predicts survival outcomes.</a:t>
            </a:r>
            <a:endParaRPr lang="en-US" sz="1800" dirty="0"/>
          </a:p>
        </p:txBody>
      </p:sp>
      <p:sp>
        <p:nvSpPr>
          <p:cNvPr id="7" name="Text 5"/>
          <p:cNvSpPr/>
          <p:nvPr/>
        </p:nvSpPr>
        <p:spPr>
          <a:xfrm>
            <a:off x="731520" y="5852160"/>
            <a:ext cx="10058400" cy="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88888"/>
                </a:solidFill>
              </a:rPr>
              <a:t>Campani Claudia, Shim Ju Hyun, Bouattour Mohamed et al.. Clinical cancer research : an official journal of the American Association for Cancer Research. 2026-07-17 DOI: 10.1158/1078-0432.CCR-25-4943</a:t>
            </a:r>
            <a:endParaRPr lang="en-US" sz="800" dirty="0"/>
          </a:p>
        </p:txBody>
      </p:sp>
      <p:sp>
        <p:nvSpPr>
          <p:cNvPr id="8" name="Text 6">
            <a:hlinkClick r:id="rId2" tooltip=""/>
          </p:cNvPr>
          <p:cNvSpPr/>
          <p:nvPr/>
        </p:nvSpPr>
        <p:spPr>
          <a:xfrm>
            <a:off x="731520" y="6217920"/>
            <a:ext cx="3657600" cy="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u="sng" dirty="0">
                <a:solidFill>
                  <a:srgbClr val="DC2626"/>
                </a:solidFill>
                <a:hlinkClick r:id="rId2" invalidUrl="" action="" tgtFrame="" tooltip="" history="1" highlightClick="0" endSnd="0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📎 View Paper →</a:t>
            </a:r>
            <a:endParaRPr lang="en-US" sz="10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731520" y="320040"/>
            <a:ext cx="5486400" cy="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spc="300" kern="0" dirty="0">
                <a:solidFill>
                  <a:srgbClr val="888888"/>
                </a:solidFill>
              </a:rPr>
              <a:t>03  KEY FINDINGS</a:t>
            </a:r>
            <a:endParaRPr lang="en-US" sz="900" dirty="0"/>
          </a:p>
        </p:txBody>
      </p:sp>
      <p:sp>
        <p:nvSpPr>
          <p:cNvPr id="3" name="Text 1"/>
          <p:cNvSpPr/>
          <p:nvPr/>
        </p:nvSpPr>
        <p:spPr>
          <a:xfrm>
            <a:off x="9144000" y="91440"/>
            <a:ext cx="2560320" cy="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5200" b="1" dirty="0">
                <a:solidFill>
                  <a:srgbClr val="E2E8F0"/>
                </a:solidFill>
              </a:rPr>
              <a:t>03</a:t>
            </a:r>
            <a:endParaRPr lang="en-US" sz="5200" dirty="0"/>
          </a:p>
        </p:txBody>
      </p:sp>
      <p:sp>
        <p:nvSpPr>
          <p:cNvPr id="4" name="Text 2">
            <a:hlinkClick r:id="rId1" tooltip=""/>
          </p:cNvPr>
          <p:cNvSpPr/>
          <p:nvPr/>
        </p:nvSpPr>
        <p:spPr>
          <a:xfrm>
            <a:off x="731520" y="731520"/>
            <a:ext cx="10058400" cy="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2400" b="1" u="sng" dirty="0">
                <a:solidFill>
                  <a:srgbClr val="111111"/>
                </a:solidFill>
                <a:latin typeface="Arial" pitchFamily="34" charset="0"/>
                <a:ea typeface="Arial" pitchFamily="34" charset="-122"/>
                <a:cs typeface="Arial" pitchFamily="34" charset="-120"/>
                <a:hlinkClick r:id="rId1" invalidUrl="" action="" tgtFrame="" tooltip="" history="1" highlightClick="0" endSnd="0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Targeting tumor-intrinsic STK40 induces immune vulnerability and drives T cell reinvigoration.</a:t>
            </a:r>
            <a:endParaRPr lang="en-US" sz="2400" dirty="0"/>
          </a:p>
        </p:txBody>
      </p:sp>
      <p:sp>
        <p:nvSpPr>
          <p:cNvPr id="5" name="Text 3"/>
          <p:cNvSpPr/>
          <p:nvPr/>
        </p:nvSpPr>
        <p:spPr>
          <a:xfrm>
            <a:off x="731520" y="1828800"/>
            <a:ext cx="10058400" cy="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888888"/>
                </a:solidFill>
              </a:rPr>
              <a:t>Cancer cell  ·  IF 48.8  ·  Basic Research</a:t>
            </a:r>
            <a:endParaRPr lang="en-US" sz="1000" dirty="0"/>
          </a:p>
        </p:txBody>
      </p:sp>
      <p:sp>
        <p:nvSpPr>
          <p:cNvPr id="6" name="Text 4"/>
          <p:cNvSpPr/>
          <p:nvPr/>
        </p:nvSpPr>
        <p:spPr>
          <a:xfrm>
            <a:off x="731520" y="2377440"/>
            <a:ext cx="10058400" cy="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80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STK40 identified as immune evasion regulator</a:t>
            </a:r>
            <a:endParaRPr lang="en-US" sz="18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80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Ablation enhances PD-1 blockade efficacy</a:t>
            </a:r>
            <a:endParaRPr lang="en-US" sz="18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80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STK40 deletion prevents tumorigenesis in HCC</a:t>
            </a:r>
            <a:endParaRPr lang="en-US" sz="18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80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Loss of STK40 stabilizes IFNGR1</a:t>
            </a:r>
            <a:endParaRPr lang="en-US" sz="18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80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Pharmacological inhibition shows potent anti-tumor effects</a:t>
            </a:r>
            <a:endParaRPr lang="en-US" sz="1800" dirty="0"/>
          </a:p>
        </p:txBody>
      </p:sp>
      <p:sp>
        <p:nvSpPr>
          <p:cNvPr id="7" name="Text 5"/>
          <p:cNvSpPr/>
          <p:nvPr/>
        </p:nvSpPr>
        <p:spPr>
          <a:xfrm>
            <a:off x="731520" y="5852160"/>
            <a:ext cx="10058400" cy="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88888"/>
                </a:solidFill>
              </a:rPr>
              <a:t>Zhu Lili, Zhang Sisi, Li Botai et al.. Cancer cell. 2026-07-14 DOI: 10.1016/j.ccell.2026.05.001</a:t>
            </a:r>
            <a:endParaRPr lang="en-US" sz="800" dirty="0"/>
          </a:p>
        </p:txBody>
      </p:sp>
      <p:sp>
        <p:nvSpPr>
          <p:cNvPr id="8" name="Text 6">
            <a:hlinkClick r:id="rId2" tooltip=""/>
          </p:cNvPr>
          <p:cNvSpPr/>
          <p:nvPr/>
        </p:nvSpPr>
        <p:spPr>
          <a:xfrm>
            <a:off x="731520" y="6217920"/>
            <a:ext cx="3657600" cy="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u="sng" dirty="0">
                <a:solidFill>
                  <a:srgbClr val="DC2626"/>
                </a:solidFill>
                <a:hlinkClick r:id="rId2" invalidUrl="" action="" tgtFrame="" tooltip="" history="1" highlightClick="0" endSnd="0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📎 View Paper →</a:t>
            </a:r>
            <a:endParaRPr lang="en-US" sz="10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731520" y="320040"/>
            <a:ext cx="5486400" cy="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spc="300" kern="0" dirty="0">
                <a:solidFill>
                  <a:srgbClr val="888888"/>
                </a:solidFill>
              </a:rPr>
              <a:t>04  KEY FINDINGS</a:t>
            </a:r>
            <a:endParaRPr lang="en-US" sz="900" dirty="0"/>
          </a:p>
        </p:txBody>
      </p:sp>
      <p:sp>
        <p:nvSpPr>
          <p:cNvPr id="3" name="Text 1"/>
          <p:cNvSpPr/>
          <p:nvPr/>
        </p:nvSpPr>
        <p:spPr>
          <a:xfrm>
            <a:off x="9144000" y="91440"/>
            <a:ext cx="2560320" cy="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5200" b="1" dirty="0">
                <a:solidFill>
                  <a:srgbClr val="E2E8F0"/>
                </a:solidFill>
              </a:rPr>
              <a:t>04</a:t>
            </a:r>
            <a:endParaRPr lang="en-US" sz="5200" dirty="0"/>
          </a:p>
        </p:txBody>
      </p:sp>
      <p:sp>
        <p:nvSpPr>
          <p:cNvPr id="4" name="Text 2">
            <a:hlinkClick r:id="rId1" tooltip=""/>
          </p:cNvPr>
          <p:cNvSpPr/>
          <p:nvPr/>
        </p:nvSpPr>
        <p:spPr>
          <a:xfrm>
            <a:off x="731520" y="731520"/>
            <a:ext cx="10058400" cy="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2400" b="1" u="sng" dirty="0">
                <a:solidFill>
                  <a:srgbClr val="111111"/>
                </a:solidFill>
                <a:latin typeface="Arial" pitchFamily="34" charset="0"/>
                <a:ea typeface="Arial" pitchFamily="34" charset="-122"/>
                <a:cs typeface="Arial" pitchFamily="34" charset="-120"/>
                <a:hlinkClick r:id="rId1" invalidUrl="" action="" tgtFrame="" tooltip="" history="1" highlightClick="0" endSnd="0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Pembrolizumab and stereotactic body radiotherapy combined in advanced hepatocellular carcinoma post sorafenib–A phase II trial (PEMRAD)</a:t>
            </a:r>
            <a:endParaRPr lang="en-US" sz="2400" dirty="0"/>
          </a:p>
        </p:txBody>
      </p:sp>
      <p:sp>
        <p:nvSpPr>
          <p:cNvPr id="5" name="Text 3"/>
          <p:cNvSpPr/>
          <p:nvPr/>
        </p:nvSpPr>
        <p:spPr>
          <a:xfrm>
            <a:off x="731520" y="1828800"/>
            <a:ext cx="10058400" cy="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888888"/>
                </a:solidFill>
              </a:rPr>
              <a:t>JHEP Reports  ·  IF 7.8  ·  RCT Phase 2</a:t>
            </a:r>
            <a:endParaRPr lang="en-US" sz="1000" dirty="0"/>
          </a:p>
        </p:txBody>
      </p:sp>
      <p:sp>
        <p:nvSpPr>
          <p:cNvPr id="6" name="Text 4"/>
          <p:cNvSpPr/>
          <p:nvPr/>
        </p:nvSpPr>
        <p:spPr>
          <a:xfrm>
            <a:off x="731520" y="2377440"/>
            <a:ext cx="10058400" cy="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80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Combination of pembrolizumab and SBRT</a:t>
            </a:r>
            <a:endParaRPr lang="en-US" sz="18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80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Phase II trial for advanced HCC</a:t>
            </a:r>
            <a:endParaRPr lang="en-US" sz="18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80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Post-sorafenib treatment evaluation</a:t>
            </a:r>
            <a:endParaRPr lang="en-US" sz="18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80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Improved patient outcomes observed</a:t>
            </a:r>
            <a:endParaRPr lang="en-US" sz="18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80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Potential for enhanced immune response</a:t>
            </a:r>
            <a:endParaRPr lang="en-US" sz="1800" dirty="0"/>
          </a:p>
        </p:txBody>
      </p:sp>
      <p:sp>
        <p:nvSpPr>
          <p:cNvPr id="7" name="Text 5"/>
          <p:cNvSpPr/>
          <p:nvPr/>
        </p:nvSpPr>
        <p:spPr>
          <a:xfrm>
            <a:off x="731520" y="5852160"/>
            <a:ext cx="10058400" cy="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88888"/>
                </a:solidFill>
              </a:rPr>
              <a:t>GM O'Kane, A Mesci, RW Jang. JHEP Reports. 2026</a:t>
            </a:r>
            <a:endParaRPr lang="en-US" sz="800" dirty="0"/>
          </a:p>
        </p:txBody>
      </p:sp>
      <p:sp>
        <p:nvSpPr>
          <p:cNvPr id="8" name="Text 6">
            <a:hlinkClick r:id="rId2" tooltip=""/>
          </p:cNvPr>
          <p:cNvSpPr/>
          <p:nvPr/>
        </p:nvSpPr>
        <p:spPr>
          <a:xfrm>
            <a:off x="731520" y="6217920"/>
            <a:ext cx="3657600" cy="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u="sng" dirty="0">
                <a:solidFill>
                  <a:srgbClr val="DC2626"/>
                </a:solidFill>
                <a:hlinkClick r:id="rId2" invalidUrl="" action="" tgtFrame="" tooltip="" history="1" highlightClick="0" endSnd="0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📎 View Paper →</a:t>
            </a:r>
            <a:endParaRPr lang="en-US" sz="10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731520" y="320040"/>
            <a:ext cx="5486400" cy="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spc="300" kern="0" dirty="0">
                <a:solidFill>
                  <a:srgbClr val="888888"/>
                </a:solidFill>
              </a:rPr>
              <a:t>05  KEY FINDINGS</a:t>
            </a:r>
            <a:endParaRPr lang="en-US" sz="900" dirty="0"/>
          </a:p>
        </p:txBody>
      </p:sp>
      <p:sp>
        <p:nvSpPr>
          <p:cNvPr id="3" name="Text 1"/>
          <p:cNvSpPr/>
          <p:nvPr/>
        </p:nvSpPr>
        <p:spPr>
          <a:xfrm>
            <a:off x="9144000" y="91440"/>
            <a:ext cx="2560320" cy="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5200" b="1" dirty="0">
                <a:solidFill>
                  <a:srgbClr val="E2E8F0"/>
                </a:solidFill>
              </a:rPr>
              <a:t>05</a:t>
            </a:r>
            <a:endParaRPr lang="en-US" sz="5200" dirty="0"/>
          </a:p>
        </p:txBody>
      </p:sp>
      <p:sp>
        <p:nvSpPr>
          <p:cNvPr id="4" name="Text 2">
            <a:hlinkClick r:id="rId1" tooltip=""/>
          </p:cNvPr>
          <p:cNvSpPr/>
          <p:nvPr/>
        </p:nvSpPr>
        <p:spPr>
          <a:xfrm>
            <a:off x="731520" y="731520"/>
            <a:ext cx="10058400" cy="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2400" b="1" u="sng" dirty="0">
                <a:solidFill>
                  <a:srgbClr val="111111"/>
                </a:solidFill>
                <a:latin typeface="Arial" pitchFamily="34" charset="0"/>
                <a:ea typeface="Arial" pitchFamily="34" charset="-122"/>
                <a:cs typeface="Arial" pitchFamily="34" charset="-120"/>
                <a:hlinkClick r:id="rId1" invalidUrl="" action="" tgtFrame="" tooltip="" history="1" highlightClick="0" endSnd="0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Neoadjuvant Stereotactic Body Radiotherapy plus Immune Therapy Favorably Remodels the Hepatocellular Carcinoma Tumor Microenvironment.</a:t>
            </a:r>
            <a:endParaRPr lang="en-US" sz="2400" dirty="0"/>
          </a:p>
        </p:txBody>
      </p:sp>
      <p:sp>
        <p:nvSpPr>
          <p:cNvPr id="5" name="Text 3"/>
          <p:cNvSpPr/>
          <p:nvPr/>
        </p:nvSpPr>
        <p:spPr>
          <a:xfrm>
            <a:off x="731520" y="1828800"/>
            <a:ext cx="10058400" cy="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888888"/>
                </a:solidFill>
              </a:rPr>
              <a:t>Clinical cancer research : an official journal of the American Association for Cancer Research  ·  IF 11.5  ·  Prospective Study</a:t>
            </a:r>
            <a:endParaRPr lang="en-US" sz="1000" dirty="0"/>
          </a:p>
        </p:txBody>
      </p:sp>
      <p:sp>
        <p:nvSpPr>
          <p:cNvPr id="6" name="Text 4"/>
          <p:cNvSpPr/>
          <p:nvPr/>
        </p:nvSpPr>
        <p:spPr>
          <a:xfrm>
            <a:off x="731520" y="2377440"/>
            <a:ext cx="10058400" cy="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80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Neoadjuvant SBRT plus immune therapy used.</a:t>
            </a:r>
            <a:endParaRPr lang="en-US" sz="18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80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Pilot study with 8 patients conducted.</a:t>
            </a:r>
            <a:endParaRPr lang="en-US" sz="18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80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Only 1 patient had grade 3 adverse event.</a:t>
            </a:r>
            <a:endParaRPr lang="en-US" sz="18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80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All patients achieved margin-negative resection.</a:t>
            </a:r>
            <a:endParaRPr lang="en-US" sz="18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80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Increased immune infiltration observed post-treatment.</a:t>
            </a:r>
            <a:endParaRPr lang="en-US" sz="1800" dirty="0"/>
          </a:p>
        </p:txBody>
      </p:sp>
      <p:sp>
        <p:nvSpPr>
          <p:cNvPr id="7" name="Text 5"/>
          <p:cNvSpPr/>
          <p:nvPr/>
        </p:nvSpPr>
        <p:spPr>
          <a:xfrm>
            <a:off x="731520" y="5852160"/>
            <a:ext cx="10058400" cy="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88888"/>
                </a:solidFill>
              </a:rPr>
              <a:t>Cosner Zoe, Guo Zhoubo, Nawrocki Cole et al.. Clinical cancer research : an official journal of the American Association for Cancer Research. 2026-07-17 DOI: 10.1158/1078-0432.CCR-25-4779</a:t>
            </a:r>
            <a:endParaRPr lang="en-US" sz="800" dirty="0"/>
          </a:p>
        </p:txBody>
      </p:sp>
      <p:sp>
        <p:nvSpPr>
          <p:cNvPr id="8" name="Text 6">
            <a:hlinkClick r:id="rId2" tooltip=""/>
          </p:cNvPr>
          <p:cNvSpPr/>
          <p:nvPr/>
        </p:nvSpPr>
        <p:spPr>
          <a:xfrm>
            <a:off x="731520" y="6217920"/>
            <a:ext cx="3657600" cy="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u="sng" dirty="0">
                <a:solidFill>
                  <a:srgbClr val="DC2626"/>
                </a:solidFill>
                <a:hlinkClick r:id="rId2" invalidUrl="" action="" tgtFrame="" tooltip="" history="1" highlightClick="0" endSnd="0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📎 View Paper →</a:t>
            </a:r>
            <a:endParaRPr lang="en-US" sz="10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731520" y="320040"/>
            <a:ext cx="5486400" cy="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spc="300" kern="0" dirty="0">
                <a:solidFill>
                  <a:srgbClr val="888888"/>
                </a:solidFill>
              </a:rPr>
              <a:t>06  KEY FINDINGS</a:t>
            </a:r>
            <a:endParaRPr lang="en-US" sz="900" dirty="0"/>
          </a:p>
        </p:txBody>
      </p:sp>
      <p:sp>
        <p:nvSpPr>
          <p:cNvPr id="3" name="Text 1"/>
          <p:cNvSpPr/>
          <p:nvPr/>
        </p:nvSpPr>
        <p:spPr>
          <a:xfrm>
            <a:off x="9144000" y="91440"/>
            <a:ext cx="2560320" cy="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5200" b="1" dirty="0">
                <a:solidFill>
                  <a:srgbClr val="E2E8F0"/>
                </a:solidFill>
              </a:rPr>
              <a:t>06</a:t>
            </a:r>
            <a:endParaRPr lang="en-US" sz="5200" dirty="0"/>
          </a:p>
        </p:txBody>
      </p:sp>
      <p:sp>
        <p:nvSpPr>
          <p:cNvPr id="4" name="Text 2">
            <a:hlinkClick r:id="rId1" tooltip=""/>
          </p:cNvPr>
          <p:cNvSpPr/>
          <p:nvPr/>
        </p:nvSpPr>
        <p:spPr>
          <a:xfrm>
            <a:off x="731520" y="731520"/>
            <a:ext cx="10058400" cy="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2400" b="1" u="sng" dirty="0">
                <a:solidFill>
                  <a:srgbClr val="111111"/>
                </a:solidFill>
                <a:latin typeface="Arial" pitchFamily="34" charset="0"/>
                <a:ea typeface="Arial" pitchFamily="34" charset="-122"/>
                <a:cs typeface="Arial" pitchFamily="34" charset="-120"/>
                <a:hlinkClick r:id="rId1" invalidUrl="" action="" tgtFrame="" tooltip="" history="1" highlightClick="0" endSnd="0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Second-Line and Subsequent Therapies after Atezolizumab Plus Bevacizumab Treatment in Hepatocellular Carcinoma: A Multicenter Prospective Cohort Study.</a:t>
            </a:r>
            <a:endParaRPr lang="en-US" sz="2400" dirty="0"/>
          </a:p>
        </p:txBody>
      </p:sp>
      <p:sp>
        <p:nvSpPr>
          <p:cNvPr id="5" name="Text 3"/>
          <p:cNvSpPr/>
          <p:nvPr/>
        </p:nvSpPr>
        <p:spPr>
          <a:xfrm>
            <a:off x="731520" y="1828800"/>
            <a:ext cx="10058400" cy="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888888"/>
                </a:solidFill>
              </a:rPr>
              <a:t>Gut and liver  ·  Prospective Study  ·  🌏 Asia</a:t>
            </a:r>
            <a:endParaRPr lang="en-US" sz="1000" dirty="0"/>
          </a:p>
        </p:txBody>
      </p:sp>
      <p:sp>
        <p:nvSpPr>
          <p:cNvPr id="6" name="Text 4"/>
          <p:cNvSpPr/>
          <p:nvPr/>
        </p:nvSpPr>
        <p:spPr>
          <a:xfrm>
            <a:off x="731520" y="2377440"/>
            <a:ext cx="10058400" cy="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80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Evaluated second-line and third-line therapies</a:t>
            </a:r>
            <a:endParaRPr lang="en-US" sz="18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80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Lenvatinib improved PFS over sorafenib</a:t>
            </a:r>
            <a:endParaRPr lang="en-US" sz="18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80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Regorafenib showed trend for better OS</a:t>
            </a:r>
            <a:endParaRPr lang="en-US" sz="18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80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Sequential therapy yielded better outcomes</a:t>
            </a:r>
            <a:endParaRPr lang="en-US" sz="18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80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Longer AtezoBev exposure linked to OS</a:t>
            </a:r>
            <a:endParaRPr lang="en-US" sz="1800" dirty="0"/>
          </a:p>
        </p:txBody>
      </p:sp>
      <p:sp>
        <p:nvSpPr>
          <p:cNvPr id="7" name="Text 5"/>
          <p:cNvSpPr/>
          <p:nvPr/>
        </p:nvSpPr>
        <p:spPr>
          <a:xfrm>
            <a:off x="731520" y="5852160"/>
            <a:ext cx="10058400" cy="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88888"/>
                </a:solidFill>
              </a:rPr>
              <a:t>Cho Yuri, Lee Jeong-Hoon, Ryoo Baek-Yeol et al.. Gut and liver. 2026-07-14 DOI: 10.5009/gnl250532</a:t>
            </a:r>
            <a:endParaRPr lang="en-US" sz="800" dirty="0"/>
          </a:p>
        </p:txBody>
      </p:sp>
      <p:sp>
        <p:nvSpPr>
          <p:cNvPr id="8" name="Text 6">
            <a:hlinkClick r:id="rId2" tooltip=""/>
          </p:cNvPr>
          <p:cNvSpPr/>
          <p:nvPr/>
        </p:nvSpPr>
        <p:spPr>
          <a:xfrm>
            <a:off x="731520" y="6217920"/>
            <a:ext cx="3657600" cy="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u="sng" dirty="0">
                <a:solidFill>
                  <a:srgbClr val="DC2626"/>
                </a:solidFill>
                <a:hlinkClick r:id="rId2" invalidUrl="" action="" tgtFrame="" tooltip="" history="1" highlightClick="0" endSnd="0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📎 View Paper →</a:t>
            </a:r>
            <a:endParaRPr lang="en-US" sz="10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731520" y="320040"/>
            <a:ext cx="5486400" cy="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spc="300" kern="0" dirty="0">
                <a:solidFill>
                  <a:srgbClr val="888888"/>
                </a:solidFill>
              </a:rPr>
              <a:t>07  KEY FINDINGS</a:t>
            </a:r>
            <a:endParaRPr lang="en-US" sz="900" dirty="0"/>
          </a:p>
        </p:txBody>
      </p:sp>
      <p:sp>
        <p:nvSpPr>
          <p:cNvPr id="3" name="Text 1"/>
          <p:cNvSpPr/>
          <p:nvPr/>
        </p:nvSpPr>
        <p:spPr>
          <a:xfrm>
            <a:off x="9144000" y="91440"/>
            <a:ext cx="2560320" cy="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5200" b="1" dirty="0">
                <a:solidFill>
                  <a:srgbClr val="E2E8F0"/>
                </a:solidFill>
              </a:rPr>
              <a:t>07</a:t>
            </a:r>
            <a:endParaRPr lang="en-US" sz="5200" dirty="0"/>
          </a:p>
        </p:txBody>
      </p:sp>
      <p:sp>
        <p:nvSpPr>
          <p:cNvPr id="4" name="Text 2">
            <a:hlinkClick r:id="rId1" tooltip=""/>
          </p:cNvPr>
          <p:cNvSpPr/>
          <p:nvPr/>
        </p:nvSpPr>
        <p:spPr>
          <a:xfrm>
            <a:off x="731520" y="731520"/>
            <a:ext cx="10058400" cy="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2400" b="1" u="sng" dirty="0">
                <a:solidFill>
                  <a:srgbClr val="111111"/>
                </a:solidFill>
                <a:latin typeface="Arial" pitchFamily="34" charset="0"/>
                <a:ea typeface="Arial" pitchFamily="34" charset="-122"/>
                <a:cs typeface="Arial" pitchFamily="34" charset="-120"/>
                <a:hlinkClick r:id="rId1" invalidUrl="" action="" tgtFrame="" tooltip="" history="1" highlightClick="0" endSnd="0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Mechanistic synergies and optimal sequencing of anti&amp;#x2011;VEGF plus immune checkpoint inhibition in gastrointestinal cancers.</a:t>
            </a:r>
            <a:endParaRPr lang="en-US" sz="2400" dirty="0"/>
          </a:p>
        </p:txBody>
      </p:sp>
      <p:sp>
        <p:nvSpPr>
          <p:cNvPr id="5" name="Text 3"/>
          <p:cNvSpPr/>
          <p:nvPr/>
        </p:nvSpPr>
        <p:spPr>
          <a:xfrm>
            <a:off x="731520" y="1828800"/>
            <a:ext cx="10058400" cy="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888888"/>
                </a:solidFill>
              </a:rPr>
              <a:t>Discover oncology  ·  RCT Phase 2</a:t>
            </a:r>
            <a:endParaRPr lang="en-US" sz="1000" dirty="0"/>
          </a:p>
        </p:txBody>
      </p:sp>
      <p:sp>
        <p:nvSpPr>
          <p:cNvPr id="6" name="Text 4"/>
          <p:cNvSpPr/>
          <p:nvPr/>
        </p:nvSpPr>
        <p:spPr>
          <a:xfrm>
            <a:off x="731520" y="2377440"/>
            <a:ext cx="10058400" cy="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80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Combination of anti-VEGF and ICIs enhances treatment efficacy.</a:t>
            </a:r>
            <a:endParaRPr lang="en-US" sz="18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80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Atezolizumab plus bevacizumab is effective in advanced HCC.</a:t>
            </a:r>
            <a:endParaRPr lang="en-US" sz="18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80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Optimal sequencing strategies are crucial for maximizing benefits.</a:t>
            </a:r>
            <a:endParaRPr lang="en-US" sz="1800" dirty="0"/>
          </a:p>
        </p:txBody>
      </p:sp>
      <p:sp>
        <p:nvSpPr>
          <p:cNvPr id="7" name="Text 5"/>
          <p:cNvSpPr/>
          <p:nvPr/>
        </p:nvSpPr>
        <p:spPr>
          <a:xfrm>
            <a:off x="731520" y="5852160"/>
            <a:ext cx="10058400" cy="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88888"/>
                </a:solidFill>
              </a:rPr>
              <a:t>Lorestani Parsa, Robat-Jazi Behrouz, Nejati Negar et al.. Discover oncology. 2026-07-17 DOI: 10.1007/s12672-026-05539-3</a:t>
            </a:r>
            <a:endParaRPr lang="en-US" sz="800" dirty="0"/>
          </a:p>
        </p:txBody>
      </p:sp>
      <p:sp>
        <p:nvSpPr>
          <p:cNvPr id="8" name="Text 6">
            <a:hlinkClick r:id="rId2" tooltip=""/>
          </p:cNvPr>
          <p:cNvSpPr/>
          <p:nvPr/>
        </p:nvSpPr>
        <p:spPr>
          <a:xfrm>
            <a:off x="731520" y="6217920"/>
            <a:ext cx="3657600" cy="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u="sng" dirty="0">
                <a:solidFill>
                  <a:srgbClr val="DC2626"/>
                </a:solidFill>
                <a:hlinkClick r:id="rId2" invalidUrl="" action="" tgtFrame="" tooltip="" history="1" highlightClick="0" endSnd="0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📎 View Paper →</a:t>
            </a:r>
            <a:endParaRPr lang="en-US" sz="10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731520" y="320040"/>
            <a:ext cx="5486400" cy="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spc="300" kern="0" dirty="0">
                <a:solidFill>
                  <a:srgbClr val="888888"/>
                </a:solidFill>
              </a:rPr>
              <a:t>08  KEY FINDINGS</a:t>
            </a:r>
            <a:endParaRPr lang="en-US" sz="900" dirty="0"/>
          </a:p>
        </p:txBody>
      </p:sp>
      <p:sp>
        <p:nvSpPr>
          <p:cNvPr id="3" name="Text 1"/>
          <p:cNvSpPr/>
          <p:nvPr/>
        </p:nvSpPr>
        <p:spPr>
          <a:xfrm>
            <a:off x="9144000" y="91440"/>
            <a:ext cx="2560320" cy="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5200" b="1" dirty="0">
                <a:solidFill>
                  <a:srgbClr val="E2E8F0"/>
                </a:solidFill>
              </a:rPr>
              <a:t>08</a:t>
            </a:r>
            <a:endParaRPr lang="en-US" sz="5200" dirty="0"/>
          </a:p>
        </p:txBody>
      </p:sp>
      <p:sp>
        <p:nvSpPr>
          <p:cNvPr id="4" name="Text 2">
            <a:hlinkClick r:id="rId1" tooltip=""/>
          </p:cNvPr>
          <p:cNvSpPr/>
          <p:nvPr/>
        </p:nvSpPr>
        <p:spPr>
          <a:xfrm>
            <a:off x="731520" y="731520"/>
            <a:ext cx="10058400" cy="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2400" b="1" u="sng" dirty="0">
                <a:solidFill>
                  <a:srgbClr val="111111"/>
                </a:solidFill>
                <a:latin typeface="Arial" pitchFamily="34" charset="0"/>
                <a:ea typeface="Arial" pitchFamily="34" charset="-122"/>
                <a:cs typeface="Arial" pitchFamily="34" charset="-120"/>
                <a:hlinkClick r:id="rId1" invalidUrl="" action="" tgtFrame="" tooltip="" history="1" highlightClick="0" endSnd="0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… plus transarterial chemoembolization and PD-1 inhibitors as conversion therapies for unresectable intermediate-advanced hepatocellular carcinoma: a phase 2 trial …</a:t>
            </a:r>
            <a:endParaRPr lang="en-US" sz="2400" dirty="0"/>
          </a:p>
        </p:txBody>
      </p:sp>
      <p:sp>
        <p:nvSpPr>
          <p:cNvPr id="5" name="Text 3"/>
          <p:cNvSpPr/>
          <p:nvPr/>
        </p:nvSpPr>
        <p:spPr>
          <a:xfrm>
            <a:off x="731520" y="1828800"/>
            <a:ext cx="10058400" cy="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888888"/>
                </a:solidFill>
              </a:rPr>
              <a:t>… and Targeted Therapy  ·  RCT Phase 2</a:t>
            </a:r>
            <a:endParaRPr lang="en-US" sz="1000" dirty="0"/>
          </a:p>
        </p:txBody>
      </p:sp>
      <p:sp>
        <p:nvSpPr>
          <p:cNvPr id="6" name="Text 4"/>
          <p:cNvSpPr/>
          <p:nvPr/>
        </p:nvSpPr>
        <p:spPr>
          <a:xfrm>
            <a:off x="731520" y="2377440"/>
            <a:ext cx="10058400" cy="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80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Combination therapy for unresectable HCC</a:t>
            </a:r>
            <a:endParaRPr lang="en-US" sz="18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80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Transarterial chemoembolization (TACE) used</a:t>
            </a:r>
            <a:endParaRPr lang="en-US" sz="18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80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PD-1 inhibitors enhance treatment efficacy</a:t>
            </a:r>
            <a:endParaRPr lang="en-US" sz="18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80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Phase 2 trial demonstrates promising results</a:t>
            </a:r>
            <a:endParaRPr lang="en-US" sz="18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80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Potential for conversion to resectable disease</a:t>
            </a:r>
            <a:endParaRPr lang="en-US" sz="1800" dirty="0"/>
          </a:p>
        </p:txBody>
      </p:sp>
      <p:sp>
        <p:nvSpPr>
          <p:cNvPr id="7" name="Text 5"/>
          <p:cNvSpPr/>
          <p:nvPr/>
        </p:nvSpPr>
        <p:spPr>
          <a:xfrm>
            <a:off x="731520" y="5852160"/>
            <a:ext cx="10058400" cy="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88888"/>
                </a:solidFill>
              </a:rPr>
              <a:t>X Zhang, H Cai, W Peng. … and Targeted Therapy. 2026</a:t>
            </a:r>
            <a:endParaRPr lang="en-US" sz="800" dirty="0"/>
          </a:p>
        </p:txBody>
      </p:sp>
      <p:sp>
        <p:nvSpPr>
          <p:cNvPr id="8" name="Text 6">
            <a:hlinkClick r:id="rId2" tooltip=""/>
          </p:cNvPr>
          <p:cNvSpPr/>
          <p:nvPr/>
        </p:nvSpPr>
        <p:spPr>
          <a:xfrm>
            <a:off x="731520" y="6217920"/>
            <a:ext cx="3657600" cy="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u="sng" dirty="0">
                <a:solidFill>
                  <a:srgbClr val="DC2626"/>
                </a:solidFill>
                <a:hlinkClick r:id="rId2" invalidUrl="" action="" tgtFrame="" tooltip="" history="1" highlightClick="0" endSnd="0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📎 View Paper →</a:t>
            </a:r>
            <a:endParaRPr lang="en-US" sz="100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731520" y="320040"/>
            <a:ext cx="5486400" cy="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spc="300" kern="0" dirty="0">
                <a:solidFill>
                  <a:srgbClr val="888888"/>
                </a:solidFill>
              </a:rPr>
              <a:t>09  KEY FINDINGS</a:t>
            </a:r>
            <a:endParaRPr lang="en-US" sz="900" dirty="0"/>
          </a:p>
        </p:txBody>
      </p:sp>
      <p:sp>
        <p:nvSpPr>
          <p:cNvPr id="3" name="Text 1"/>
          <p:cNvSpPr/>
          <p:nvPr/>
        </p:nvSpPr>
        <p:spPr>
          <a:xfrm>
            <a:off x="9144000" y="91440"/>
            <a:ext cx="2560320" cy="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5200" b="1" dirty="0">
                <a:solidFill>
                  <a:srgbClr val="E2E8F0"/>
                </a:solidFill>
              </a:rPr>
              <a:t>09</a:t>
            </a:r>
            <a:endParaRPr lang="en-US" sz="5200" dirty="0"/>
          </a:p>
        </p:txBody>
      </p:sp>
      <p:sp>
        <p:nvSpPr>
          <p:cNvPr id="4" name="Text 2">
            <a:hlinkClick r:id="rId1" tooltip=""/>
          </p:cNvPr>
          <p:cNvSpPr/>
          <p:nvPr/>
        </p:nvSpPr>
        <p:spPr>
          <a:xfrm>
            <a:off x="731520" y="731520"/>
            <a:ext cx="10058400" cy="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2400" b="1" u="sng" dirty="0">
                <a:solidFill>
                  <a:srgbClr val="111111"/>
                </a:solidFill>
                <a:latin typeface="Arial" pitchFamily="34" charset="0"/>
                <a:ea typeface="Arial" pitchFamily="34" charset="-122"/>
                <a:cs typeface="Arial" pitchFamily="34" charset="-120"/>
                <a:hlinkClick r:id="rId1" invalidUrl="" action="" tgtFrame="" tooltip="" history="1" highlightClick="0" endSnd="0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Disrupting fumarylacetoacetate hydrolase by stratified nanoplatforms orchestrates metabolic-immune reprogramming and prevents post-ablation HCC relapse.</a:t>
            </a:r>
            <a:endParaRPr lang="en-US" sz="2400" dirty="0"/>
          </a:p>
        </p:txBody>
      </p:sp>
      <p:sp>
        <p:nvSpPr>
          <p:cNvPr id="5" name="Text 3"/>
          <p:cNvSpPr/>
          <p:nvPr/>
        </p:nvSpPr>
        <p:spPr>
          <a:xfrm>
            <a:off x="731520" y="1828800"/>
            <a:ext cx="10058400" cy="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888888"/>
                </a:solidFill>
              </a:rPr>
              <a:t>Nature communications  ·  IF 14.7</a:t>
            </a:r>
            <a:endParaRPr lang="en-US" sz="1000" dirty="0"/>
          </a:p>
        </p:txBody>
      </p:sp>
      <p:sp>
        <p:nvSpPr>
          <p:cNvPr id="6" name="Text 4"/>
          <p:cNvSpPr/>
          <p:nvPr/>
        </p:nvSpPr>
        <p:spPr>
          <a:xfrm>
            <a:off x="731520" y="2377440"/>
            <a:ext cx="10058400" cy="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80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FAH upregulation promotes HCC relapse post-ablation.</a:t>
            </a:r>
            <a:endParaRPr lang="en-US" sz="18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80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Fumarate enhances energy metabolism and CD8+ T cell impairment.</a:t>
            </a:r>
            <a:endParaRPr lang="en-US" sz="18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80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Engineered nanoplatform disrupts FAH-fumarate-HSP70 axis.</a:t>
            </a:r>
            <a:endParaRPr lang="en-US" sz="18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80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Site-specific release of therapeutic agents improves outcomes.</a:t>
            </a:r>
            <a:endParaRPr lang="en-US" sz="18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80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Combines metabolic blockade with immunomodulation for HCC.</a:t>
            </a:r>
            <a:endParaRPr lang="en-US" sz="1800" dirty="0"/>
          </a:p>
        </p:txBody>
      </p:sp>
      <p:sp>
        <p:nvSpPr>
          <p:cNvPr id="7" name="Text 5"/>
          <p:cNvSpPr/>
          <p:nvPr/>
        </p:nvSpPr>
        <p:spPr>
          <a:xfrm>
            <a:off x="731520" y="5852160"/>
            <a:ext cx="10058400" cy="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88888"/>
                </a:solidFill>
              </a:rPr>
              <a:t>Hong Zhiwen, Liu Xiaolong, A Rouhan et al.. Nature communications. 2026-07-14 DOI: 10.1038/s41467-026-75422-w</a:t>
            </a:r>
            <a:endParaRPr lang="en-US" sz="800" dirty="0"/>
          </a:p>
        </p:txBody>
      </p:sp>
      <p:sp>
        <p:nvSpPr>
          <p:cNvPr id="8" name="Text 6">
            <a:hlinkClick r:id="rId2" tooltip=""/>
          </p:cNvPr>
          <p:cNvSpPr/>
          <p:nvPr/>
        </p:nvSpPr>
        <p:spPr>
          <a:xfrm>
            <a:off x="731520" y="6217920"/>
            <a:ext cx="3657600" cy="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u="sng" dirty="0">
                <a:solidFill>
                  <a:srgbClr val="DC2626"/>
                </a:solidFill>
                <a:hlinkClick r:id="rId2" invalidUrl="" action="" tgtFrame="" tooltip="" history="1" highlightClick="0" endSnd="0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📎 View Paper →</a:t>
            </a:r>
            <a:endParaRPr lang="en-US" sz="100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731520" y="320040"/>
            <a:ext cx="5486400" cy="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spc="300" kern="0" dirty="0">
                <a:solidFill>
                  <a:srgbClr val="888888"/>
                </a:solidFill>
              </a:rPr>
              <a:t>10  KEY FINDINGS</a:t>
            </a:r>
            <a:endParaRPr lang="en-US" sz="900" dirty="0"/>
          </a:p>
        </p:txBody>
      </p:sp>
      <p:sp>
        <p:nvSpPr>
          <p:cNvPr id="3" name="Text 1"/>
          <p:cNvSpPr/>
          <p:nvPr/>
        </p:nvSpPr>
        <p:spPr>
          <a:xfrm>
            <a:off x="9144000" y="91440"/>
            <a:ext cx="2560320" cy="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5200" b="1" dirty="0">
                <a:solidFill>
                  <a:srgbClr val="E2E8F0"/>
                </a:solidFill>
              </a:rPr>
              <a:t>10</a:t>
            </a:r>
            <a:endParaRPr lang="en-US" sz="5200" dirty="0"/>
          </a:p>
        </p:txBody>
      </p:sp>
      <p:sp>
        <p:nvSpPr>
          <p:cNvPr id="4" name="Text 2">
            <a:hlinkClick r:id="rId1" tooltip=""/>
          </p:cNvPr>
          <p:cNvSpPr/>
          <p:nvPr/>
        </p:nvSpPr>
        <p:spPr>
          <a:xfrm>
            <a:off x="731520" y="731520"/>
            <a:ext cx="10058400" cy="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2400" b="1" u="sng" dirty="0">
                <a:solidFill>
                  <a:srgbClr val="111111"/>
                </a:solidFill>
                <a:latin typeface="Arial" pitchFamily="34" charset="0"/>
                <a:ea typeface="Arial" pitchFamily="34" charset="-122"/>
                <a:cs typeface="Arial" pitchFamily="34" charset="-120"/>
                <a:hlinkClick r:id="rId1" invalidUrl="" action="" tgtFrame="" tooltip="" history="1" highlightClick="0" endSnd="0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Nrf2-mediated metabolic reprogramming drives regulatory T cell accumulation in hepatocellular carcinoma.</a:t>
            </a:r>
            <a:endParaRPr lang="en-US" sz="2400" dirty="0"/>
          </a:p>
        </p:txBody>
      </p:sp>
      <p:sp>
        <p:nvSpPr>
          <p:cNvPr id="5" name="Text 3"/>
          <p:cNvSpPr/>
          <p:nvPr/>
        </p:nvSpPr>
        <p:spPr>
          <a:xfrm>
            <a:off x="731520" y="1828800"/>
            <a:ext cx="10058400" cy="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888888"/>
                </a:solidFill>
              </a:rPr>
              <a:t>Nature communications  ·  IF 14.7</a:t>
            </a:r>
            <a:endParaRPr lang="en-US" sz="1000" dirty="0"/>
          </a:p>
        </p:txBody>
      </p:sp>
      <p:sp>
        <p:nvSpPr>
          <p:cNvPr id="6" name="Text 4"/>
          <p:cNvSpPr/>
          <p:nvPr/>
        </p:nvSpPr>
        <p:spPr>
          <a:xfrm>
            <a:off x="731520" y="2377440"/>
            <a:ext cx="10058400" cy="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80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Tregs in HCC activate Nrf2 pathway.</a:t>
            </a:r>
            <a:endParaRPr lang="en-US" sz="18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80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Nrf2 enhances Treg survival and function.</a:t>
            </a:r>
            <a:endParaRPr lang="en-US" sz="18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80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Targeting Nrf2 reduces Treg accumulation.</a:t>
            </a:r>
            <a:endParaRPr lang="en-US" sz="18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80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High Nrf2 in Tregs linked to poor survival.</a:t>
            </a:r>
            <a:endParaRPr lang="en-US" sz="18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80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Nrf2 modulation may improve immunotherapy outcomes.</a:t>
            </a:r>
            <a:endParaRPr lang="en-US" sz="1800" dirty="0"/>
          </a:p>
        </p:txBody>
      </p:sp>
      <p:sp>
        <p:nvSpPr>
          <p:cNvPr id="7" name="Text 5"/>
          <p:cNvSpPr/>
          <p:nvPr/>
        </p:nvSpPr>
        <p:spPr>
          <a:xfrm>
            <a:off x="731520" y="5852160"/>
            <a:ext cx="10058400" cy="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88888"/>
                </a:solidFill>
              </a:rPr>
              <a:t>Perpi&amp;#xf1;&amp;#xe1;n E, Sompairac N, Marin Correa D et al.. Nature communications. 2026-07-13 DOI: 10.1038/s41467-026-73485-3</a:t>
            </a:r>
            <a:endParaRPr lang="en-US" sz="800" dirty="0"/>
          </a:p>
        </p:txBody>
      </p:sp>
      <p:sp>
        <p:nvSpPr>
          <p:cNvPr id="8" name="Text 6">
            <a:hlinkClick r:id="rId2" tooltip=""/>
          </p:cNvPr>
          <p:cNvSpPr/>
          <p:nvPr/>
        </p:nvSpPr>
        <p:spPr>
          <a:xfrm>
            <a:off x="731520" y="6217920"/>
            <a:ext cx="3657600" cy="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u="sng" dirty="0">
                <a:solidFill>
                  <a:srgbClr val="DC2626"/>
                </a:solidFill>
                <a:hlinkClick r:id="rId2" invalidUrl="" action="" tgtFrame="" tooltip="" history="1" highlightClick="0" endSnd="0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📎 View Paper →</a:t>
            </a:r>
            <a:endParaRPr lang="en-US" sz="1000" dirty="0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solidFill>
          <a:srgbClr val="7F1D1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731520" y="365760"/>
            <a:ext cx="5486400" cy="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spc="600" kern="0" dirty="0">
                <a:solidFill>
                  <a:srgbClr val="888888"/>
                </a:solidFill>
              </a:rPr>
              <a:t>SYNTHESIS</a:t>
            </a:r>
            <a:endParaRPr lang="en-US" sz="900" dirty="0"/>
          </a:p>
        </p:txBody>
      </p:sp>
      <p:sp>
        <p:nvSpPr>
          <p:cNvPr id="3" name="Text 1"/>
          <p:cNvSpPr/>
          <p:nvPr/>
        </p:nvSpPr>
        <p:spPr>
          <a:xfrm>
            <a:off x="731520" y="822960"/>
            <a:ext cx="10058400" cy="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Overall Insights (1/2)</a:t>
            </a:r>
            <a:endParaRPr lang="en-US" sz="2400" dirty="0"/>
          </a:p>
        </p:txBody>
      </p:sp>
      <p:sp>
        <p:nvSpPr>
          <p:cNvPr id="4" name="Text 2"/>
          <p:cNvSpPr/>
          <p:nvPr/>
        </p:nvSpPr>
        <p:spPr>
          <a:xfrm>
            <a:off x="731520" y="1463040"/>
            <a:ext cx="10515600" cy="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50000"/>
              </a:lnSpc>
              <a:buNone/>
            </a:pPr>
            <a:r>
              <a:rPr lang="en-US" sz="1200" dirty="0">
                <a:solidFill>
                  <a:srgbClr val="FFFFFF"/>
                </a:solidFill>
              </a:rPr>
              <a:t>### 綜合啟示 (Overall Insights)</a:t>
            </a:r>
            <a:endParaRPr lang="en-US" sz="1200" dirty="0"/>
          </a:p>
          <a:p>
            <a:pPr indent="0" marL="0">
              <a:lnSpc>
                <a:spcPct val="150000"/>
              </a:lnSpc>
              <a:buNone/>
            </a:pPr>
            <a:endParaRPr lang="en-US" sz="1200" dirty="0"/>
          </a:p>
          <a:p>
            <a:pPr indent="0" marL="0">
              <a:lnSpc>
                <a:spcPct val="150000"/>
              </a:lnSpc>
              <a:buNone/>
            </a:pPr>
            <a:r>
              <a:rPr lang="en-US" sz="1200" dirty="0">
                <a:solidFill>
                  <a:srgbClr val="FFFFFF"/>
                </a:solidFill>
              </a:rPr>
              <a:t>1. **免疫療法的潛力**  </a:t>
            </a:r>
            <a:endParaRPr lang="en-US" sz="1200" dirty="0"/>
          </a:p>
          <a:p>
            <a:pPr indent="0" marL="0">
              <a:lnSpc>
                <a:spcPct val="150000"/>
              </a:lnSpc>
              <a:buNone/>
            </a:pPr>
            <a:r>
              <a:rPr lang="en-US" sz="1200" dirty="0">
                <a:solidFill>
                  <a:srgbClr val="FFFFFF"/>
                </a:solidFill>
              </a:rPr>
              <a:t>   Immunotherapy, particularly PD-1 blockade, shows significant promise in enhancing local immune responses against hepatocellular carcinoma (HCC), especially in patients with underlying hepatitis B virus infection.  </a:t>
            </a:r>
            <a:endParaRPr lang="en-US" sz="1200" dirty="0"/>
          </a:p>
          <a:p>
            <a:pPr indent="0" marL="0">
              <a:lnSpc>
                <a:spcPct val="150000"/>
              </a:lnSpc>
              <a:buNone/>
            </a:pPr>
            <a:r>
              <a:rPr lang="en-US" sz="1200" dirty="0">
                <a:solidFill>
                  <a:srgbClr val="FFFFFF"/>
                </a:solidFill>
              </a:rPr>
              <a:t>   免疫療法，特別是PD-1抑制劑，顯示出在增強對肝細胞癌（HCC）的局部免疫反應方面的顯著潛力，尤其是在有乙型肝炎病毒感染的患者中。</a:t>
            </a:r>
            <a:endParaRPr lang="en-US" sz="1200" dirty="0"/>
          </a:p>
          <a:p>
            <a:pPr indent="0" marL="0">
              <a:lnSpc>
                <a:spcPct val="150000"/>
              </a:lnSpc>
              <a:buNone/>
            </a:pPr>
            <a:endParaRPr lang="en-US" sz="1200" dirty="0"/>
          </a:p>
          <a:p>
            <a:pPr indent="0" marL="0">
              <a:lnSpc>
                <a:spcPct val="150000"/>
              </a:lnSpc>
              <a:buNone/>
            </a:pPr>
            <a:r>
              <a:rPr lang="en-US" sz="1200" dirty="0">
                <a:solidFill>
                  <a:srgbClr val="FFFFFF"/>
                </a:solidFill>
              </a:rPr>
              <a:t>2. **長期生存率的提升**  </a:t>
            </a:r>
            <a:endParaRPr lang="en-US" sz="1200" dirty="0"/>
          </a:p>
          <a:p>
            <a:pPr indent="0" marL="0">
              <a:lnSpc>
                <a:spcPct val="150000"/>
              </a:lnSpc>
              <a:buNone/>
            </a:pPr>
            <a:r>
              <a:rPr lang="en-US" sz="1200" dirty="0">
                <a:solidFill>
                  <a:srgbClr val="FFFFFF"/>
                </a:solidFill>
              </a:rPr>
              <a:t>   Immune checkpoint inhibitors (ICIs) can lead to long-term survival and potential cures in HCC, indicating the need for further exploration of their efficacy in various stages of the disease.  </a:t>
            </a:r>
            <a:endParaRPr lang="en-US" sz="1200" dirty="0"/>
          </a:p>
          <a:p>
            <a:pPr indent="0" marL="0">
              <a:lnSpc>
                <a:spcPct val="150000"/>
              </a:lnSpc>
              <a:buNone/>
            </a:pPr>
            <a:r>
              <a:rPr lang="en-US" sz="1200" dirty="0">
                <a:solidFill>
                  <a:srgbClr val="FFFFFF"/>
                </a:solidFill>
              </a:rPr>
              <a:t>   免疫檢查點抑制劑（ICIs）能夠提高HCC的長期生存率並有潛在治癒的可能，這表明需要進一步探索其在不同疾病階段的療效。</a:t>
            </a:r>
            <a:endParaRPr lang="en-US" sz="1200" dirty="0"/>
          </a:p>
          <a:p>
            <a:pPr indent="0" marL="0">
              <a:lnSpc>
                <a:spcPct val="150000"/>
              </a:lnSpc>
              <a:buNone/>
            </a:pPr>
            <a:endParaRPr lang="en-US" sz="1200" dirty="0"/>
          </a:p>
          <a:p>
            <a:pPr indent="0" marL="0">
              <a:lnSpc>
                <a:spcPct val="150000"/>
              </a:lnSpc>
              <a:buNone/>
            </a:pPr>
            <a:r>
              <a:rPr lang="en-US" sz="1200" dirty="0">
                <a:solidFill>
                  <a:srgbClr val="FFFFFF"/>
                </a:solidFill>
              </a:rPr>
              <a:t>3. **腫瘤微環境的重塑**  </a:t>
            </a:r>
            <a:endParaRPr lang="en-US" sz="1200" dirty="0"/>
          </a:p>
          <a:p>
            <a:pPr indent="0" marL="0">
              <a:lnSpc>
                <a:spcPct val="150000"/>
              </a:lnSpc>
              <a:buNone/>
            </a:pPr>
            <a:r>
              <a:rPr lang="en-US" sz="1200" dirty="0">
                <a:solidFill>
                  <a:srgbClr val="FFFFFF"/>
                </a:solidFill>
              </a:rPr>
              <a:t>   Combining immunotherapy with locoregional therapies, such as stereotactic body radiotherapy, can favorably remodel the tumor microenvironment, enhancing treatment outcomes.  </a:t>
            </a:r>
            <a:endParaRPr lang="en-US" sz="1200" dirty="0"/>
          </a:p>
          <a:p>
            <a:pPr indent="0" marL="0">
              <a:lnSpc>
                <a:spcPct val="150000"/>
              </a:lnSpc>
              <a:buNone/>
            </a:pPr>
            <a:r>
              <a:rPr lang="en-US" sz="1200" dirty="0">
                <a:solidFill>
                  <a:srgbClr val="FFFFFF"/>
                </a:solidFill>
              </a:rPr>
              <a:t>   將免疫療法與局部治療（如立體定向體放療）結合，可以有利於重塑腫瘤微環境，從而改善治療結果。</a:t>
            </a:r>
            <a:endParaRPr lang="en-US" sz="1200" dirty="0"/>
          </a:p>
          <a:p>
            <a:pPr indent="0" marL="0">
              <a:lnSpc>
                <a:spcPct val="150000"/>
              </a:lnSpc>
              <a:buNone/>
            </a:pPr>
            <a:endParaRPr lang="en-US" sz="1200" dirty="0"/>
          </a:p>
          <a:p>
            <a:pPr indent="0" marL="0">
              <a:lnSpc>
                <a:spcPct val="150000"/>
              </a:lnSpc>
              <a:buNone/>
            </a:pPr>
            <a:r>
              <a:rPr lang="en-US" sz="1200" dirty="0">
                <a:solidFill>
                  <a:srgbClr val="FFFFFF"/>
                </a:solidFill>
              </a:rPr>
              <a:t>4. **抵抗機制的探索**  </a:t>
            </a:r>
            <a:endParaRPr lang="en-US" sz="1200" dirty="0"/>
          </a:p>
          <a:p>
            <a:pPr indent="0" marL="0">
              <a:lnSpc>
                <a:spcPct val="150000"/>
              </a:lnSpc>
              <a:buNone/>
            </a:pPr>
            <a:r>
              <a:rPr lang="en-US" sz="1200" dirty="0">
                <a:solidFill>
                  <a:srgbClr val="FFFFFF"/>
                </a:solidFill>
              </a:rPr>
              <a:t>   Identifying novel regulators of immune responses, such as STK40, is crucial for understanding resistance mechanisms in HCC and developing more effective therapies.  </a:t>
            </a:r>
            <a:endParaRPr lang="en-US" sz="1200" dirty="0"/>
          </a:p>
          <a:p>
            <a:pPr indent="0" marL="0">
              <a:lnSpc>
                <a:spcPct val="150000"/>
              </a:lnSpc>
              <a:buNone/>
            </a:pPr>
            <a:r>
              <a:rPr lang="en-US" sz="1200" dirty="0">
                <a:solidFill>
                  <a:srgbClr val="FFFFFF"/>
                </a:solidFill>
              </a:rPr>
              <a:t>   確定免疫反應的新調節因子（如STK40）對於理解HCC中的抵抗機制和開發更有效的療法至關重要。</a:t>
            </a:r>
            <a:endParaRPr lang="en-US" sz="1200" dirty="0"/>
          </a:p>
          <a:p>
            <a:pPr indent="0" marL="0">
              <a:lnSpc>
                <a:spcPct val="150000"/>
              </a:lnSpc>
              <a:buNone/>
            </a:pPr>
            <a:endParaRPr lang="en-US" sz="1200" dirty="0"/>
          </a:p>
          <a:p>
            <a:pPr indent="0" marL="0">
              <a:lnSpc>
                <a:spcPct val="150000"/>
              </a:lnSpc>
              <a:buNone/>
            </a:pPr>
            <a:r>
              <a:rPr lang="en-US" sz="1200" dirty="0">
                <a:solidFill>
                  <a:srgbClr val="FFFFFF"/>
                </a:solidFill>
              </a:rPr>
              <a:t>5. **代謝和免疫重編程**  </a:t>
            </a:r>
            <a:endParaRPr lang="en-US" sz="1200" dirty="0"/>
          </a:p>
          <a:p>
            <a:pPr indent="0" marL="0">
              <a:lnSpc>
                <a:spcPct val="150000"/>
              </a:lnSpc>
              <a:buNone/>
            </a:pPr>
            <a:r>
              <a:rPr lang="en-US" sz="1200" dirty="0">
                <a:solidFill>
                  <a:srgbClr val="FFFFFF"/>
                </a:solidFill>
              </a:rPr>
              <a:t>   Targeting metabolic pathways in HCC can disrupt immunosuppressive environments and prevent recurrence post-ablation, highlighting the interplay between metabolism and immunity.</a:t>
            </a:r>
            <a:endParaRPr lang="en-US" sz="1200" dirty="0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bg>
      <p:bgPr>
        <a:solidFill>
          <a:srgbClr val="7F1D1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731520" y="365760"/>
            <a:ext cx="5486400" cy="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spc="600" kern="0" dirty="0">
                <a:solidFill>
                  <a:srgbClr val="888888"/>
                </a:solidFill>
              </a:rPr>
              <a:t>SYNTHESIS</a:t>
            </a:r>
            <a:endParaRPr lang="en-US" sz="900" dirty="0"/>
          </a:p>
        </p:txBody>
      </p:sp>
      <p:sp>
        <p:nvSpPr>
          <p:cNvPr id="3" name="Text 1"/>
          <p:cNvSpPr/>
          <p:nvPr/>
        </p:nvSpPr>
        <p:spPr>
          <a:xfrm>
            <a:off x="731520" y="822960"/>
            <a:ext cx="10058400" cy="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Future Directions (2/2)</a:t>
            </a:r>
            <a:endParaRPr lang="en-US" sz="2400" dirty="0"/>
          </a:p>
        </p:txBody>
      </p:sp>
      <p:sp>
        <p:nvSpPr>
          <p:cNvPr id="4" name="Text 2"/>
          <p:cNvSpPr/>
          <p:nvPr/>
        </p:nvSpPr>
        <p:spPr>
          <a:xfrm>
            <a:off x="731520" y="1463040"/>
            <a:ext cx="10515600" cy="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50000"/>
              </a:lnSpc>
              <a:buNone/>
            </a:pPr>
            <a:r>
              <a:rPr lang="en-US" sz="1200" dirty="0">
                <a:solidFill>
                  <a:srgbClr val="FFFFFF"/>
                </a:solidFill>
              </a:rPr>
              <a:t>針對HCC中的代謝途徑可以破壞免疫抑制環境並防止消融後的復發，突顯了代謝與免疫之間的相互作用。</a:t>
            </a:r>
            <a:endParaRPr lang="en-US" sz="1200" dirty="0"/>
          </a:p>
          <a:p>
            <a:pPr indent="0" marL="0">
              <a:lnSpc>
                <a:spcPct val="150000"/>
              </a:lnSpc>
              <a:buNone/>
            </a:pPr>
            <a:endParaRPr lang="en-US" sz="1200" dirty="0"/>
          </a:p>
          <a:p>
            <a:pPr indent="0" marL="0">
              <a:lnSpc>
                <a:spcPct val="150000"/>
              </a:lnSpc>
              <a:buNone/>
            </a:pPr>
            <a:r>
              <a:rPr lang="en-US" sz="1200" dirty="0">
                <a:solidFill>
                  <a:srgbClr val="FFFFFF"/>
                </a:solidFill>
              </a:rPr>
              <a:t>### 未來研究方向 (Future Research Directions)</a:t>
            </a:r>
            <a:endParaRPr lang="en-US" sz="1200" dirty="0"/>
          </a:p>
          <a:p>
            <a:pPr indent="0" marL="0">
              <a:lnSpc>
                <a:spcPct val="150000"/>
              </a:lnSpc>
              <a:buNone/>
            </a:pPr>
            <a:endParaRPr lang="en-US" sz="1200" dirty="0"/>
          </a:p>
          <a:p>
            <a:pPr indent="0" marL="0">
              <a:lnSpc>
                <a:spcPct val="150000"/>
              </a:lnSpc>
              <a:buNone/>
            </a:pPr>
            <a:r>
              <a:rPr lang="en-US" sz="1200" dirty="0">
                <a:solidFill>
                  <a:srgbClr val="FFFFFF"/>
                </a:solidFill>
              </a:rPr>
              <a:t>1. **個性化療法的發展**  </a:t>
            </a:r>
            <a:endParaRPr lang="en-US" sz="1200" dirty="0"/>
          </a:p>
          <a:p>
            <a:pPr indent="0" marL="0">
              <a:lnSpc>
                <a:spcPct val="150000"/>
              </a:lnSpc>
              <a:buNone/>
            </a:pPr>
            <a:r>
              <a:rPr lang="en-US" sz="1200" dirty="0">
                <a:solidFill>
                  <a:srgbClr val="FFFFFF"/>
                </a:solidFill>
              </a:rPr>
              <a:t>   Further studies should focus on personalized immunotherapy approaches that consider the unique tumor microenvironment and patient-specific factors in HCC.  </a:t>
            </a:r>
            <a:endParaRPr lang="en-US" sz="1200" dirty="0"/>
          </a:p>
          <a:p>
            <a:pPr indent="0" marL="0">
              <a:lnSpc>
                <a:spcPct val="150000"/>
              </a:lnSpc>
              <a:buNone/>
            </a:pPr>
            <a:r>
              <a:rPr lang="en-US" sz="1200" dirty="0">
                <a:solidFill>
                  <a:srgbClr val="FFFFFF"/>
                </a:solidFill>
              </a:rPr>
              <a:t>   未來的研究應集中於個性化免疫療法的發展，考慮HCC中獨特的腫瘤微環境和患者特定因素。</a:t>
            </a:r>
            <a:endParaRPr lang="en-US" sz="1200" dirty="0"/>
          </a:p>
          <a:p>
            <a:pPr indent="0" marL="0">
              <a:lnSpc>
                <a:spcPct val="150000"/>
              </a:lnSpc>
              <a:buNone/>
            </a:pPr>
            <a:endParaRPr lang="en-US" sz="1200" dirty="0"/>
          </a:p>
          <a:p>
            <a:pPr indent="0" marL="0">
              <a:lnSpc>
                <a:spcPct val="150000"/>
              </a:lnSpc>
              <a:buNone/>
            </a:pPr>
            <a:r>
              <a:rPr lang="en-US" sz="1200" dirty="0">
                <a:solidFill>
                  <a:srgbClr val="FFFFFF"/>
                </a:solidFill>
              </a:rPr>
              <a:t>2. **多重療法的組合**  </a:t>
            </a:r>
            <a:endParaRPr lang="en-US" sz="1200" dirty="0"/>
          </a:p>
          <a:p>
            <a:pPr indent="0" marL="0">
              <a:lnSpc>
                <a:spcPct val="150000"/>
              </a:lnSpc>
              <a:buNone/>
            </a:pPr>
            <a:r>
              <a:rPr lang="en-US" sz="1200" dirty="0">
                <a:solidFill>
                  <a:srgbClr val="FFFFFF"/>
                </a:solidFill>
              </a:rPr>
              <a:t>   Investigating the synergistic effects of combining immune checkpoint inhibitors with other treatments, such as targeted therapies and locoregional approaches, to improve patient outcomes.  </a:t>
            </a:r>
            <a:endParaRPr lang="en-US" sz="1200" dirty="0"/>
          </a:p>
          <a:p>
            <a:pPr indent="0" marL="0">
              <a:lnSpc>
                <a:spcPct val="150000"/>
              </a:lnSpc>
              <a:buNone/>
            </a:pPr>
            <a:r>
              <a:rPr lang="en-US" sz="1200" dirty="0">
                <a:solidFill>
                  <a:srgbClr val="FFFFFF"/>
                </a:solidFill>
              </a:rPr>
              <a:t>   探索將免疫檢查點抑制劑與其他治療（如靶向療法和局部療法）組合的協同效應，以改善患者預後。</a:t>
            </a:r>
            <a:endParaRPr lang="en-US" sz="1200" dirty="0"/>
          </a:p>
          <a:p>
            <a:pPr indent="0" marL="0">
              <a:lnSpc>
                <a:spcPct val="150000"/>
              </a:lnSpc>
              <a:buNone/>
            </a:pPr>
            <a:endParaRPr lang="en-US" sz="1200" dirty="0"/>
          </a:p>
          <a:p>
            <a:pPr indent="0" marL="0">
              <a:lnSpc>
                <a:spcPct val="150000"/>
              </a:lnSpc>
              <a:buNone/>
            </a:pPr>
            <a:r>
              <a:rPr lang="en-US" sz="1200" dirty="0">
                <a:solidFill>
                  <a:srgbClr val="FFFFFF"/>
                </a:solidFill>
              </a:rPr>
              <a:t>3. **抵抗機制的深入研究**  </a:t>
            </a:r>
            <a:endParaRPr lang="en-US" sz="1200" dirty="0"/>
          </a:p>
          <a:p>
            <a:pPr indent="0" marL="0">
              <a:lnSpc>
                <a:spcPct val="150000"/>
              </a:lnSpc>
              <a:buNone/>
            </a:pPr>
            <a:r>
              <a:rPr lang="en-US" sz="1200" dirty="0">
                <a:solidFill>
                  <a:srgbClr val="FFFFFF"/>
                </a:solidFill>
              </a:rPr>
              <a:t>   More research is needed to elucidate the mechanisms of resistance to immunotherapy in HCC, particularly focusing on metabolic adaptations and immune evasion strategies.  </a:t>
            </a:r>
            <a:endParaRPr lang="en-US" sz="1200" dirty="0"/>
          </a:p>
          <a:p>
            <a:pPr indent="0" marL="0">
              <a:lnSpc>
                <a:spcPct val="150000"/>
              </a:lnSpc>
              <a:buNone/>
            </a:pPr>
            <a:r>
              <a:rPr lang="en-US" sz="1200" dirty="0">
                <a:solidFill>
                  <a:srgbClr val="FFFFFF"/>
                </a:solidFill>
              </a:rPr>
              <a:t>   需要更多研究來闡明HCC中對免疫療法的抵抗機制，特別是集中於代謝適應和免疫逃逸策略。</a:t>
            </a:r>
            <a:endParaRPr lang="en-US" sz="1200" dirty="0"/>
          </a:p>
          <a:p>
            <a:pPr indent="0" marL="0">
              <a:lnSpc>
                <a:spcPct val="150000"/>
              </a:lnSpc>
              <a:buNone/>
            </a:pPr>
            <a:endParaRPr lang="en-US" sz="1200" dirty="0"/>
          </a:p>
          <a:p>
            <a:pPr indent="0" marL="0">
              <a:lnSpc>
                <a:spcPct val="150000"/>
              </a:lnSpc>
              <a:buNone/>
            </a:pPr>
            <a:r>
              <a:rPr lang="en-US" sz="1200" dirty="0">
                <a:solidFill>
                  <a:srgbClr val="FFFFFF"/>
                </a:solidFill>
              </a:rPr>
              <a:t>4. **早期介入的臨床試驗**  </a:t>
            </a:r>
            <a:endParaRPr lang="en-US" sz="1200" dirty="0"/>
          </a:p>
          <a:p>
            <a:pPr indent="0" marL="0">
              <a:lnSpc>
                <a:spcPct val="150000"/>
              </a:lnSpc>
              <a:buNone/>
            </a:pPr>
            <a:r>
              <a:rPr lang="en-US" sz="1200" dirty="0">
                <a:solidFill>
                  <a:srgbClr val="FFFFFF"/>
                </a:solidFill>
              </a:rPr>
              <a:t>   Conducting clinical trials on the efficacy of immunotherapy in earlier stages of HCC, to establish optimal treatment protocols and timing.  </a:t>
            </a:r>
            <a:endParaRPr lang="en-US" sz="1200" dirty="0"/>
          </a:p>
          <a:p>
            <a:pPr indent="0" marL="0">
              <a:lnSpc>
                <a:spcPct val="150000"/>
              </a:lnSpc>
              <a:buNone/>
            </a:pPr>
            <a:r>
              <a:rPr lang="en-US" sz="1200" dirty="0">
                <a:solidFill>
                  <a:srgbClr val="FFFFFF"/>
                </a:solidFill>
              </a:rPr>
              <a:t>   開展關於免疫療法在HCC早期階段療效的臨床試驗，以確立最佳治療方案和時機。</a:t>
            </a:r>
            <a:endParaRPr lang="en-US" sz="1200" dirty="0"/>
          </a:p>
          <a:p>
            <a:pPr indent="0" marL="0">
              <a:lnSpc>
                <a:spcPct val="150000"/>
              </a:lnSpc>
              <a:buNone/>
            </a:pPr>
            <a:endParaRPr lang="en-US" sz="1200" dirty="0"/>
          </a:p>
          <a:p>
            <a:pPr indent="0" marL="0">
              <a:lnSpc>
                <a:spcPct val="150000"/>
              </a:lnSpc>
              <a:buNone/>
            </a:pPr>
            <a:r>
              <a:rPr lang="en-US" sz="1200" dirty="0">
                <a:solidFill>
                  <a:srgbClr val="FFFFFF"/>
                </a:solidFill>
              </a:rPr>
              <a:t>5. **代謝與免疫的交互作用**  </a:t>
            </a:r>
            <a:endParaRPr lang="en-US" sz="1200" dirty="0"/>
          </a:p>
          <a:p>
            <a:pPr indent="0" marL="0">
              <a:lnSpc>
                <a:spcPct val="150000"/>
              </a:lnSpc>
              <a:buNone/>
            </a:pPr>
            <a:r>
              <a:rPr lang="en-US" sz="1200" dirty="0">
                <a:solidFill>
                  <a:srgbClr val="FFFFFF"/>
                </a:solidFill>
              </a:rPr>
              <a:t>   Investigating the metabolic reprogramming in HCC and its impact on immune cell function, aiming to develop strategies that can enhance anti-tumor immunity.  </a:t>
            </a:r>
            <a:endParaRPr lang="en-US" sz="1200" dirty="0"/>
          </a:p>
          <a:p>
            <a:pPr indent="0" marL="0">
              <a:lnSpc>
                <a:spcPct val="150000"/>
              </a:lnSpc>
              <a:buNone/>
            </a:pPr>
            <a:r>
              <a:rPr lang="en-US" sz="1200" dirty="0">
                <a:solidFill>
                  <a:srgbClr val="FFFFFF"/>
                </a:solidFill>
              </a:rPr>
              <a:t>   研究HCC中的代謝重編程及其對免疫細胞功能的影響，旨在開發可以增強抗腫瘤免疫的策略。</a:t>
            </a:r>
            <a:endParaRPr lang="en-US" sz="1200" dirty="0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bg>
      <p:bgPr>
        <a:solidFill>
          <a:srgbClr val="1A1A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731520" y="2286000"/>
            <a:ext cx="10058400" cy="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8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Thank You</a:t>
            </a:r>
            <a:endParaRPr lang="en-US" sz="4800" dirty="0"/>
          </a:p>
        </p:txBody>
      </p:sp>
      <p:sp>
        <p:nvSpPr>
          <p:cNvPr id="3" name="Text 1"/>
          <p:cNvSpPr/>
          <p:nvPr/>
        </p:nvSpPr>
        <p:spPr>
          <a:xfrm>
            <a:off x="731520" y="3931920"/>
            <a:ext cx="10058400" cy="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888888"/>
                </a:solidFill>
              </a:rPr>
              <a:t>HCC Weekly Digest · 呂大教授 敬啟</a:t>
            </a:r>
            <a:endParaRPr lang="en-US" sz="11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15</Slides>
  <Notes>15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15</vt:i4>
      </vt:variant>
    </vt:vector>
  </HeadingPairs>
  <TitlesOfParts>
    <vt:vector size="18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HCC Weekly Digest</dc:title>
  <dc:subject>PptxGenJS Presentation</dc:subject>
  <dc:creator>HCC Weekly Digest</dc:creator>
  <cp:lastModifiedBy>HCC Weekly Digest</cp:lastModifiedBy>
  <cp:revision>1</cp:revision>
  <dcterms:created xsi:type="dcterms:W3CDTF">2026-07-20T04:33:15Z</dcterms:created>
  <dcterms:modified xsi:type="dcterms:W3CDTF">2026-07-20T04:33:15Z</dcterms:modified>
</cp:coreProperties>
</file>